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
<Relationships xmlns="http://schemas.openxmlformats.org/package/2006/relationships"><Relationship Type="http://schemas.openxmlformats.org/package/2006/relationships/metadata/core-properties" Target="/docProps/core.xml" Id="R6918adaadd854f58"/><Relationship Type="http://schemas.openxmlformats.org/officeDocument/2006/relationships/extended-properties" Target="/docProps/app.xml" Id="R858b7335dd7c4930"/><Relationship Type="http://schemas.openxmlformats.org/officeDocument/2006/relationships/officeDocument" Target="/ppt/presentation.xml" Id="Re590deaab365466f"/></Relationships>
</file>

<file path=ppt/presentation.xml><?xml version="1.0" encoding="utf-8"?>
<p:presentation xmlns:p="http://schemas.openxmlformats.org/presentationml/2006/main">
  <p:sldMasterIdLst>
    <p:sldMasterId xmlns:r="http://schemas.openxmlformats.org/officeDocument/2006/relationships" id="2147483648" r:id="R0f78d91987ab4744"/>
  </p:sldMasterIdLst>
  <p:notesMasterIdLst>
    <p:notesMasterId xmlns:r="http://schemas.openxmlformats.org/officeDocument/2006/relationships" r:id="R67701b03eedd4467"/>
  </p:notesMasterIdLst>
  <p:sldIdLst>
    <p:sldId xmlns:r="http://schemas.openxmlformats.org/officeDocument/2006/relationships" id="256" r:id="R020f4b782dd04e1a"/>
    <p:sldId xmlns:r="http://schemas.openxmlformats.org/officeDocument/2006/relationships" id="257" r:id="R0627dc9ff8ae4302"/>
    <p:sldId xmlns:r="http://schemas.openxmlformats.org/officeDocument/2006/relationships" id="258" r:id="Ra5a425279f104e87"/>
    <p:sldId xmlns:r="http://schemas.openxmlformats.org/officeDocument/2006/relationships" id="259" r:id="R595ca7e1e5084d8d"/>
    <p:sldId xmlns:r="http://schemas.openxmlformats.org/officeDocument/2006/relationships" id="260" r:id="Re3db1ff116264378"/>
    <p:sldId xmlns:r="http://schemas.openxmlformats.org/officeDocument/2006/relationships" id="261" r:id="Rb0fb2395a48b4620"/>
    <p:sldId xmlns:r="http://schemas.openxmlformats.org/officeDocument/2006/relationships" id="262" r:id="Rbf49a971e98b4c90"/>
    <p:sldId xmlns:r="http://schemas.openxmlformats.org/officeDocument/2006/relationships" id="263" r:id="Rfb1e42385d6e4eb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317380c96c7847de"/><Relationship Type="http://schemas.openxmlformats.org/officeDocument/2006/relationships/slideMaster" Target="/ppt/slideMasters/slideMaster1.xml" Id="R0f78d91987ab4744"/><Relationship Type="http://schemas.openxmlformats.org/officeDocument/2006/relationships/notesMaster" Target="/ppt/notesMasters/notesMaster1.xml" Id="R67701b03eedd4467"/><Relationship Type="http://schemas.openxmlformats.org/officeDocument/2006/relationships/presProps" Target="/ppt/presProps.xml" Id="R89f65a30621e4dd6"/><Relationship Type="http://schemas.openxmlformats.org/officeDocument/2006/relationships/tableStyles" Target="/ppt/tableStyles.xml" Id="R1fb1fb3600f64eef"/><Relationship Type="http://schemas.openxmlformats.org/officeDocument/2006/relationships/slide" Target="/ppt/slides/slide1.xml" Id="R020f4b782dd04e1a"/><Relationship Type="http://schemas.openxmlformats.org/officeDocument/2006/relationships/slide" Target="/ppt/slides/slide2.xml" Id="R0627dc9ff8ae4302"/><Relationship Type="http://schemas.openxmlformats.org/officeDocument/2006/relationships/slide" Target="/ppt/slides/slide3.xml" Id="Ra5a425279f104e87"/><Relationship Type="http://schemas.openxmlformats.org/officeDocument/2006/relationships/slide" Target="/ppt/slides/slide4.xml" Id="R595ca7e1e5084d8d"/><Relationship Type="http://schemas.openxmlformats.org/officeDocument/2006/relationships/slide" Target="/ppt/slides/slide5.xml" Id="Re3db1ff116264378"/><Relationship Type="http://schemas.openxmlformats.org/officeDocument/2006/relationships/slide" Target="/ppt/slides/slide6.xml" Id="Rb0fb2395a48b4620"/><Relationship Type="http://schemas.openxmlformats.org/officeDocument/2006/relationships/slide" Target="/ppt/slides/slide7.xml" Id="Rbf49a971e98b4c90"/><Relationship Type="http://schemas.openxmlformats.org/officeDocument/2006/relationships/slide" Target="/ppt/slides/slide8.xml" Id="Rfb1e42385d6e4eba"/></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547c07e908834e78"/></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1958675044e74f5f"/><Relationship Type="http://schemas.openxmlformats.org/officeDocument/2006/relationships/notesMaster" Target="/ppt/notesMasters/notesMaster1.xml" Id="R9263eea80bff4155"/></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83e884ff78074d89"/><Relationship Type="http://schemas.openxmlformats.org/officeDocument/2006/relationships/notesMaster" Target="/ppt/notesMasters/notesMaster1.xml" Id="Rc78400314d3a4109"/></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875222373413444f"/><Relationship Type="http://schemas.openxmlformats.org/officeDocument/2006/relationships/notesMaster" Target="/ppt/notesMasters/notesMaster1.xml" Id="R7ee4d9b8580a4b46"/></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c2b4e1c202304f5a"/><Relationship Type="http://schemas.openxmlformats.org/officeDocument/2006/relationships/notesMaster" Target="/ppt/notesMasters/notesMaster1.xml" Id="R6cf85c8cafd248d7"/></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f1fe56c288ef4ddf"/><Relationship Type="http://schemas.openxmlformats.org/officeDocument/2006/relationships/notesMaster" Target="/ppt/notesMasters/notesMaster1.xml" Id="R72922e4dcf9d4568"/></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41948eba98ec439b"/><Relationship Type="http://schemas.openxmlformats.org/officeDocument/2006/relationships/notesMaster" Target="/ppt/notesMasters/notesMaster1.xml" Id="Rb028a290bee64c9f"/></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1e9d7ae45fae48ba"/><Relationship Type="http://schemas.openxmlformats.org/officeDocument/2006/relationships/notesMaster" Target="/ppt/notesMasters/notesMaster1.xml" Id="R4306ef603eac4c4c"/></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06bbea5b96744e82"/><Relationship Type="http://schemas.openxmlformats.org/officeDocument/2006/relationships/notesMaster" Target="/ppt/notesMasters/notesMaster1.xml" Id="R4588118934e24b59"/></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想定時間：25秒</a:t>
            </a:r>
          </a:p>
          <a:p xmlns:a="http://schemas.openxmlformats.org/drawingml/2006/main">
            <a:r>
              <a:t/>
            </a:r>
          </a:p>
          <a:p xmlns:a="http://schemas.openxmlformats.org/drawingml/2006/main">
            <a:r>
              <a:t>公開CPUであるWallyに、画面を描く回路を接続し、ブロック崩しを動かすゲーム機を作りました。目的は、Wallyに周辺機能を追加する学習者が、接続方法と確認方法を参照できる例を示すことです。今日は、基板の中に何を作り、どう画面を出し、何を確かめたかを説明します。</a:t>
            </a:r>
          </a:p>
          <a:p xmlns:a="http://schemas.openxmlformats.org/drawingml/2006/main">
            <a:r>
              <a:t>根拠：docs/thesis/本文.md 第6〜11章、第13章、第16章。実験記録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想定時間：35秒</a:t>
            </a:r>
          </a:p>
          <a:p xmlns:a="http://schemas.openxmlformats.org/drawingml/2006/main">
            <a:r>
              <a:t/>
            </a:r>
          </a:p>
          <a:p xmlns:a="http://schemas.openxmlformats.org/drawingml/2006/main">
            <a:r>
              <a:t>FPGAボードには、FPGAチップのほかにメモリやSDカードスロット、HDMI端子があります。FPGAには、論理ゲートや記憶素子の接続を設定して、目的に合った回路を実装できます。図のゲートはそのイメージです。周辺の部品そのものをFPGAの中に作るのではなく、その部品を操作する回路を中に作ります。</a:t>
            </a:r>
          </a:p>
          <a:p xmlns:a="http://schemas.openxmlformats.org/drawingml/2006/main">
            <a:r>
              <a:t>根拠：docs/thesis/本文.md 第6〜11章、第13章、第16章。実験記録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想定時間：50秒</a:t>
            </a:r>
          </a:p>
          <a:p xmlns:a="http://schemas.openxmlformats.org/drawingml/2006/main">
            <a:r>
              <a:t/>
            </a:r>
          </a:p>
          <a:p xmlns:a="http://schemas.openxmlformats.org/drawingml/2006/main">
            <a:r>
              <a:t>このFPGAの中に、WallyとRasterIXを配置しました。前の図と、部品とチップの位置は同じです。CPUのバスにはSDカード制御回路と、描画命令を渡す接続回路をつなぎます。CPUも描画側も外のDDR3メモリを使うため、メモリへのアクセスをまとめます。RasterIXが作った画像は、表示回路が読み、HDMI端子から出します。既存のCPUと描画回路を利用し、この接続と制御を設計した部分が本研究です。</a:t>
            </a:r>
          </a:p>
          <a:p xmlns:a="http://schemas.openxmlformats.org/drawingml/2006/main">
            <a:r>
              <a:t>根拠：docs/thesis/本文.md 第6〜11章、第13章、第16章。実験記録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想定時間：50秒</a:t>
            </a:r>
          </a:p>
          <a:p xmlns:a="http://schemas.openxmlformats.org/drawingml/2006/main">
            <a:r>
              <a:t/>
            </a:r>
          </a:p>
          <a:p xmlns:a="http://schemas.openxmlformats.org/drawingml/2006/main">
            <a:r>
              <a:t>CPUはSDカードから読み込んだゲームを実行します。一回の処理でボールの位置を更新し、位置や色を描画命令にしてメモリへ置きます。接続回路から命令を受けたRasterIXが画像を作り、表示回路が読み出します。これを繰り返すと動いて見えます。計測ではCPUの命令準備が大きな負担でした。そこで、同じ設定の図形をまとめ、変わった部分だけを描き直すようにしました。</a:t>
            </a:r>
          </a:p>
          <a:p xmlns:a="http://schemas.openxmlformats.org/drawingml/2006/main">
            <a:r>
              <a:t>根拠：docs/thesis/本文.md 第6〜11章、第13章、第16章。実験記録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想定時間：45秒</a:t>
            </a:r>
          </a:p>
          <a:p xmlns:a="http://schemas.openxmlformats.org/drawingml/2006/main">
            <a:r>
              <a:t/>
            </a:r>
          </a:p>
          <a:p xmlns:a="http://schemas.openxmlformats.org/drawingml/2006/main">
            <a:r>
              <a:t>CPUとRasterIXは異なるクロックで動きます。そのため、命令の値と順番を保って渡す接続が必要です。一つの方法は、一語を保持し、相手の受取確認が戻るたびに次を送る方法です。採用したFIFOは、命令を順番に預かる待ち行列です。空きがあれば、CPUは次の命令へ進めます。同じゲームで比べたところ、この図の三方式では512語FIFOの送信待ちが最も短くなりました。この数字はゲーム全体ではなく、書き込みを待たされた時間です。</a:t>
            </a:r>
          </a:p>
          <a:p xmlns:a="http://schemas.openxmlformats.org/drawingml/2006/main">
            <a:r>
              <a:t>根拠：E6、第13.10〜13.13節。1語方式は4相ハンドシェイク。初期状態、全体描画、180フレームを3回、各試行平均の中央値。CPU 20 MHz、RasterIX 100 MHz。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想定時間：40秒</a:t>
            </a:r>
          </a:p>
          <a:p xmlns:a="http://schemas.openxmlformats.org/drawingml/2006/main">
            <a:r>
              <a:t/>
            </a:r>
          </a:p>
          <a:p xmlns:a="http://schemas.openxmlformats.org/drawingml/2006/main">
            <a:r>
              <a:t>もう一つの接続設計が、表示する画像の切り替えです。表示回路は画像を読み続けます。その同じ画像を途中で描き換えると、新旧の画面が混ざるおそれがあります。そこで画像を二枚分用意し、一方を表示している間に、もう一方に描きます。完成後、表示の区切りで役割を交代します。また、古い画像の読み出しが残っている間は、そこへの描き直しを始めないよう、切り替え完了を確認します。</a:t>
            </a:r>
          </a:p>
          <a:p xmlns:a="http://schemas.openxmlformats.org/drawingml/2006/main">
            <a:r>
              <a:t>根拠：docs/thesis/本文.md 第6〜11章、第13章、第16章。実験記録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想定時間：40秒</a:t>
            </a:r>
          </a:p>
          <a:p xmlns:a="http://schemas.openxmlformats.org/drawingml/2006/main">
            <a:r>
              <a:t/>
            </a:r>
          </a:p>
          <a:p xmlns:a="http://schemas.openxmlformats.org/drawingml/2006/main">
            <a:r>
              <a:t>640×480画素で、通常版の5分間の自動プレイと、別に30秒の実機映像を確認しました。接続を比較した三方式では、選んだ27条件の最終画像が全画素で期待画像と一致しました。すべての途中画像まで確認したわけではありません。大きなテクスチャの描画と映像認識には未解決の条件が残っています。専用コントローラーは今回の成果に含めず、最終発表に向けて接続と操作を検証します。</a:t>
            </a:r>
          </a:p>
          <a:p xmlns:a="http://schemas.openxmlformats.org/drawingml/2006/main">
            <a:r>
              <a:t>根拠：E6、第13.11節と13.15〜13.16節。画像：docs/thesis/figs/fifo-study-game.png。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想定時間：45秒</a:t>
            </a:r>
          </a:p>
          <a:p xmlns:a="http://schemas.openxmlformats.org/drawingml/2006/main">
            <a:r>
              <a:t/>
            </a:r>
          </a:p>
          <a:p xmlns:a="http://schemas.openxmlformats.org/drawingml/2006/main">
            <a:r>
              <a:t>Wallyへ描画・表示機能を追加し、二次元ゲームを動かす接続設計を示しました。命令を専用回路で転送する方式と、描画用メモリを増やす方式も実機で比較しました。試した条件では、前者はコピー処理を含めると速くならず、後者の改善も小さい結果でした。設計と試験条件を公開し、学習者が同様の拡張を検討するための参照例とします。最終発表では、専用コントローラーを接続し、ボタンによるゲーム操作を検証します。</a:t>
            </a:r>
          </a:p>
          <a:p xmlns:a="http://schemas.openxmlformats.org/drawingml/2006/main">
            <a:r>
              <a:t>根拠：docs/thesis/本文.md 第6〜11章、第13章、第16章。実験記録 E6、E7。製品 https://github.com/SoshiroFujimori/wally-game-console/tree/261832d48832dd6e26c4971ab8893ce61200688b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a7775e4c42834421"/></Relationships>
</file>

<file path=ppt/slideLayouts/_rels/slideLayout2.xml.rels><?xml version='1.0' encoding='UTF-8' standalone='yes'?>
<Relationships xmlns="http://schemas.openxmlformats.org/package/2006/relationships"><Relationship Type="http://schemas.openxmlformats.org/officeDocument/2006/relationships/slideMaster" Target="/ppt/slideMasters/slideMaster1.xml" Id="Rb3a77601f6fb4a07"/></Relationships>
</file>

<file path=ppt/slideLayouts/_rels/slideLayout3.xml.rels><?xml version='1.0' encoding='UTF-8' standalone='yes'?>
<Relationships xmlns="http://schemas.openxmlformats.org/package/2006/relationships"><Relationship Type="http://schemas.openxmlformats.org/officeDocument/2006/relationships/slideMaster" Target="/ppt/slideMasters/slideMaster1.xml" Id="Ra41eeb75d61944cb"/></Relationships>
</file>

<file path=ppt/slideLayouts/_rels/slideLayout4.xml.rels><?xml version='1.0' encoding='UTF-8' standalone='yes'?>
<Relationships xmlns="http://schemas.openxmlformats.org/package/2006/relationships"><Relationship Type="http://schemas.openxmlformats.org/officeDocument/2006/relationships/slideMaster" Target="/ppt/slideMasters/slideMaster1.xml" Id="R6ca23718914946a9"/></Relationships>
</file>

<file path=ppt/slideLayouts/_rels/slideLayout5.xml.rels><?xml version='1.0' encoding='UTF-8' standalone='yes'?>
<Relationships xmlns="http://schemas.openxmlformats.org/package/2006/relationships"><Relationship Type="http://schemas.openxmlformats.org/officeDocument/2006/relationships/slideMaster" Target="/ppt/slideMasters/slideMaster1.xml" Id="Rc6816385836843cf"/></Relationships>
</file>

<file path=ppt/slideLayouts/_rels/slideLayout6.xml.rels><?xml version='1.0' encoding='UTF-8' standalone='yes'?>
<Relationships xmlns="http://schemas.openxmlformats.org/package/2006/relationships"><Relationship Type="http://schemas.openxmlformats.org/officeDocument/2006/relationships/slideMaster" Target="/ppt/slideMasters/slideMaster1.xml" Id="Rf6512f1bd8ad4a65"/></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4C62657-22C4-4594-BEF0-8453C76EA30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E774234-3A9B-444D-91A5-FC5C6B6289E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B6749E0-95DA-4EC3-877D-432CC94BCB6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399E3C0-3116-49BE-B28C-D8B17C174A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6D73D6E-5551-46AE-8583-2D6A93A261E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6CFC281-07C0-445A-9916-147D6CD3C3D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28266EF-2A34-4BFC-BD3E-D7C8CE43CCC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2B16F02-8AD4-4C53-A6D1-60B90DF4D73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65F3A4-EA9E-42D0-AF75-9701D10EBF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451818-910F-4335-863B-C19DBD1F80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b67094ffb4724426"/><Relationship Type="http://schemas.openxmlformats.org/officeDocument/2006/relationships/slideLayout" Target="/ppt/slideLayouts/slideLayout1.xml" Id="R816e691821794932"/><Relationship Type="http://schemas.openxmlformats.org/officeDocument/2006/relationships/slideLayout" Target="/ppt/slideLayouts/slideLayout2.xml" Id="Re16e8c83ecad4c3f"/><Relationship Type="http://schemas.openxmlformats.org/officeDocument/2006/relationships/slideLayout" Target="/ppt/slideLayouts/slideLayout3.xml" Id="R22aa12cb15a24406"/><Relationship Type="http://schemas.openxmlformats.org/officeDocument/2006/relationships/slideLayout" Target="/ppt/slideLayouts/slideLayout4.xml" Id="Rbb0be728faf24d05"/><Relationship Type="http://schemas.openxmlformats.org/officeDocument/2006/relationships/slideLayout" Target="/ppt/slideLayouts/slideLayout5.xml" Id="Rdd135fd5973e4ade"/><Relationship Type="http://schemas.openxmlformats.org/officeDocument/2006/relationships/slideLayout" Target="/ppt/slideLayouts/slideLayout6.xml" Id="R2ce53f2a01564967"/></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6e691821794932"/>
    <p:sldLayoutId xmlns:r="http://schemas.openxmlformats.org/officeDocument/2006/relationships" id="2147483650" r:id="Re16e8c83ecad4c3f"/>
    <p:sldLayoutId xmlns:r="http://schemas.openxmlformats.org/officeDocument/2006/relationships" id="2147483651" r:id="R22aa12cb15a24406"/>
    <p:sldLayoutId xmlns:r="http://schemas.openxmlformats.org/officeDocument/2006/relationships" id="2147483652" r:id="Rbb0be728faf24d05"/>
    <p:sldLayoutId xmlns:r="http://schemas.openxmlformats.org/officeDocument/2006/relationships" id="2147483653" r:id="Rdd135fd5973e4ade"/>
    <p:sldLayoutId xmlns:r="http://schemas.openxmlformats.org/officeDocument/2006/relationships" id="2147483654" r:id="R2ce53f2a015649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6.xml" Id="Ree09b55782b24a4b"/><Relationship Type="http://schemas.openxmlformats.org/officeDocument/2006/relationships/notesSlide" Target="/ppt/notesSlides/notesSlide1.xml" Id="R8a496ef930d340f0"/></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ae8bb6dc692f4b93"/><Relationship Type="http://schemas.openxmlformats.org/officeDocument/2006/relationships/notesSlide" Target="/ppt/notesSlides/notesSlide2.xml" Id="Rfef7c09490d54b42"/></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d2f36a5f856f44a4"/><Relationship Type="http://schemas.openxmlformats.org/officeDocument/2006/relationships/notesSlide" Target="/ppt/notesSlides/notesSlide3.xml" Id="R00788a10b8ef4fb6"/></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7b2c95a421774edd"/><Relationship Type="http://schemas.openxmlformats.org/officeDocument/2006/relationships/notesSlide" Target="/ppt/notesSlides/notesSlide4.xml" Id="R2ddd080c19614bfa"/></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73e35dd0a6af43a7"/><Relationship Type="http://schemas.openxmlformats.org/officeDocument/2006/relationships/notesSlide" Target="/ppt/notesSlides/notesSlide5.xml" Id="Rc2609e1e55ad4be2"/></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d7a17d8be8954586"/><Relationship Type="http://schemas.openxmlformats.org/officeDocument/2006/relationships/notesSlide" Target="/ppt/notesSlides/notesSlide6.xml" Id="Re2c605f1e2a2426c"/></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7396a1d09e0b4389"/><Relationship Type="http://schemas.openxmlformats.org/officeDocument/2006/relationships/image" Target="/ppt/media/image.png" Id="R8d83fa87adb74853"/><Relationship Type="http://schemas.openxmlformats.org/officeDocument/2006/relationships/notesSlide" Target="/ppt/notesSlides/notesSlide7.xml" Id="Rb745ad318f794b35"/></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7547b08b1d3347dc"/><Relationship Type="http://schemas.openxmlformats.org/officeDocument/2006/relationships/notesSlide" Target="/ppt/notesSlides/notesSlide8.xml" Id="R4af8f1b8da904a91"/></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1">
            <a:extLst xmlns:a="http://schemas.openxmlformats.org/drawingml/2006/main">
              <a:ext uri="{FF2B5EF4-FFF2-40B4-BE49-F238E27FC236}">
                <a16:creationId xmlns:a16="http://schemas.microsoft.com/office/drawing/2014/main" id="{3B53737B-9B56-49BC-959F-7D7FEC493565}"/>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FPGAを用いた二次元ゲーム機の設計と実装</a:t>
            </a:r>
          </a:p>
        </p:txBody>
      </p:sp>
      <p:sp>
        <p:nvSpPr>
          <p:cNvPr id="2" name="text-2">
            <a:extLst xmlns:a="http://schemas.openxmlformats.org/drawingml/2006/main">
              <a:ext uri="{FF2B5EF4-FFF2-40B4-BE49-F238E27FC236}">
                <a16:creationId xmlns:a16="http://schemas.microsoft.com/office/drawing/2014/main" id="{F477BF8E-16E1-4598-BC94-D5939BC1F334}"/>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1</a:t>
            </a:r>
          </a:p>
        </p:txBody>
      </p:sp>
      <p:sp>
        <p:nvSpPr>
          <p:cNvPr id="3" name="text-3">
            <a:extLst xmlns:a="http://schemas.openxmlformats.org/drawingml/2006/main">
              <a:ext uri="{FF2B5EF4-FFF2-40B4-BE49-F238E27FC236}">
                <a16:creationId xmlns:a16="http://schemas.microsoft.com/office/drawing/2014/main" id="{3451ADF5-5011-4DB5-AEB9-66F67470427D}"/>
              </a:ext>
            </a:extLst>
          </p:cNvPr>
          <p:cNvSpPr>
            <a:spLocks xmlns:a="http://schemas.openxmlformats.org/drawingml/2006/main" noGrp="1"/>
          </p:cNvSpPr>
          <p:nvPr/>
        </p:nvSpPr>
        <p:spPr>
          <a:xfrm xmlns:a="http://schemas.openxmlformats.org/drawingml/2006/main">
            <a:off x="819150" y="1952625"/>
            <a:ext cx="10096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675" b="1">
                <a:solidFill>
                  <a:srgbClr val="231F20"/>
                </a:solidFill>
                <a:latin typeface="Meiryo"/>
                <a:ea typeface="Meiryo"/>
                <a:cs typeface="Meiryo"/>
              </a:defRPr>
            </a:defPPr>
          </a:lstStyle>
          <a:p xmlns:a="http://schemas.openxmlformats.org/drawingml/2006/main">
            <a:pPr algn="l">
              <a:defRPr sz="3675" b="1">
                <a:solidFill>
                  <a:srgbClr val="231F20"/>
                </a:solidFill>
                <a:latin typeface="Meiryo"/>
                <a:ea typeface="Meiryo"/>
                <a:cs typeface="Meiryo"/>
              </a:defRPr>
            </a:pPr>
            <a:r>
              <a:rPr sz="3675" b="1">
                <a:solidFill>
                  <a:srgbClr val="231F20"/>
                </a:solidFill>
                <a:latin typeface="Meiryo"/>
                <a:ea typeface="Meiryo"/>
                <a:cs typeface="Meiryo"/>
              </a:rPr>
              <a:t>公開CPUに描画機能を追加し、</a:t>
            </a:r>
          </a:p>
          <a:p xmlns:a="http://schemas.openxmlformats.org/drawingml/2006/main">
            <a:pPr algn="l">
              <a:defRPr sz="3675" b="1">
                <a:solidFill>
                  <a:srgbClr val="231F20"/>
                </a:solidFill>
                <a:latin typeface="Meiryo"/>
                <a:ea typeface="Meiryo"/>
                <a:cs typeface="Meiryo"/>
              </a:defRPr>
            </a:pPr>
            <a:r>
              <a:rPr sz="3675" b="1">
                <a:solidFill>
                  <a:srgbClr val="231F20"/>
                </a:solidFill>
                <a:latin typeface="Meiryo"/>
                <a:ea typeface="Meiryo"/>
                <a:cs typeface="Meiryo"/>
              </a:rPr>
              <a:t>ブロック崩しを動かす</a:t>
            </a:r>
          </a:p>
        </p:txBody>
      </p:sp>
      <p:sp>
        <p:nvSpPr>
          <p:cNvPr id="4" name="text-4">
            <a:extLst xmlns:a="http://schemas.openxmlformats.org/drawingml/2006/main">
              <a:ext uri="{FF2B5EF4-FFF2-40B4-BE49-F238E27FC236}">
                <a16:creationId xmlns:a16="http://schemas.microsoft.com/office/drawing/2014/main" id="{555120D7-A3FC-4BD3-B99B-03C5D1E35703}"/>
              </a:ext>
            </a:extLst>
          </p:cNvPr>
          <p:cNvSpPr>
            <a:spLocks xmlns:a="http://schemas.openxmlformats.org/drawingml/2006/main" noGrp="1"/>
          </p:cNvSpPr>
          <p:nvPr/>
        </p:nvSpPr>
        <p:spPr>
          <a:xfrm xmlns:a="http://schemas.openxmlformats.org/drawingml/2006/main">
            <a:off x="819150" y="4210050"/>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0">
                <a:solidFill>
                  <a:srgbClr val="231F20"/>
                </a:solidFill>
                <a:latin typeface="Meiryo"/>
                <a:ea typeface="Meiryo"/>
                <a:cs typeface="Meiryo"/>
              </a:defRPr>
            </a:defPPr>
          </a:lstStyle>
          <a:p xmlns:a="http://schemas.openxmlformats.org/drawingml/2006/main">
            <a:pPr algn="l">
              <a:defRPr sz="2325" b="0">
                <a:solidFill>
                  <a:srgbClr val="231F20"/>
                </a:solidFill>
                <a:latin typeface="Meiryo"/>
                <a:ea typeface="Meiryo"/>
                <a:cs typeface="Meiryo"/>
              </a:defRPr>
            </a:pPr>
            <a:r>
              <a:rPr sz="2325" b="0">
                <a:solidFill>
                  <a:srgbClr val="231F20"/>
                </a:solidFill>
                <a:latin typeface="Meiryo"/>
                <a:ea typeface="Meiryo"/>
                <a:cs typeface="Meiryo"/>
              </a:rPr>
              <a:t>Wallyの学習者が参照できる接続設計と動作例</a:t>
            </a:r>
          </a:p>
        </p:txBody>
      </p:sp>
      <p:sp>
        <p:nvSpPr>
          <p:cNvPr id="5" name="text-5">
            <a:extLst xmlns:a="http://schemas.openxmlformats.org/drawingml/2006/main">
              <a:ext uri="{FF2B5EF4-FFF2-40B4-BE49-F238E27FC236}">
                <a16:creationId xmlns:a16="http://schemas.microsoft.com/office/drawing/2014/main" id="{721FCF5E-B5C1-4CE5-BC0C-19AFBF25FFE4}"/>
              </a:ext>
            </a:extLst>
          </p:cNvPr>
          <p:cNvSpPr>
            <a:spLocks xmlns:a="http://schemas.openxmlformats.org/drawingml/2006/main" noGrp="1"/>
          </p:cNvSpPr>
          <p:nvPr/>
        </p:nvSpPr>
        <p:spPr>
          <a:xfrm xmlns:a="http://schemas.openxmlformats.org/drawingml/2006/main">
            <a:off x="819150" y="55816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Meiryo"/>
                <a:ea typeface="Meiryo"/>
                <a:cs typeface="Meiryo"/>
              </a:defRPr>
            </a:defPPr>
          </a:lstStyle>
          <a:p xmlns:a="http://schemas.openxmlformats.org/drawingml/2006/main">
            <a:pPr algn="l">
              <a:defRPr sz="1875" b="0">
                <a:solidFill>
                  <a:srgbClr val="231F20"/>
                </a:solidFill>
                <a:latin typeface="Meiryo"/>
                <a:ea typeface="Meiryo"/>
                <a:cs typeface="Meiryo"/>
              </a:defRPr>
            </a:pPr>
            <a:r>
              <a:rPr sz="1875" b="0">
                <a:solidFill>
                  <a:srgbClr val="231F20"/>
                </a:solidFill>
                <a:latin typeface="Meiryo"/>
                <a:ea typeface="Meiryo"/>
                <a:cs typeface="Meiryo"/>
              </a:rPr>
              <a:t>Wally：CPUの公開設計　　RasterIX：描画回路の公開設計</a:t>
            </a:r>
          </a:p>
        </p:txBody>
      </p:sp>
    </p:spTree>
    <p:extLst>
      <p:ext uri="{BB962C8B-B14F-4D97-AF65-F5344CB8AC3E}">
        <p14:creationId xmlns:p14="http://schemas.microsoft.com/office/powerpoint/2010/main" val="178909092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text-6">
            <a:extLst xmlns:a="http://schemas.openxmlformats.org/drawingml/2006/main">
              <a:ext uri="{FF2B5EF4-FFF2-40B4-BE49-F238E27FC236}">
                <a16:creationId xmlns:a16="http://schemas.microsoft.com/office/drawing/2014/main" id="{59893F04-BEB1-4DF0-A2D4-5525F93CD33D}"/>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FPGAボードに回路を実装する</a:t>
            </a:r>
          </a:p>
        </p:txBody>
      </p:sp>
      <p:sp>
        <p:nvSpPr>
          <p:cNvPr id="2" name="text-7">
            <a:extLst xmlns:a="http://schemas.openxmlformats.org/drawingml/2006/main">
              <a:ext uri="{FF2B5EF4-FFF2-40B4-BE49-F238E27FC236}">
                <a16:creationId xmlns:a16="http://schemas.microsoft.com/office/drawing/2014/main" id="{0481EEEC-4FAB-46A9-BAE7-516FB4F503C6}"/>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2</a:t>
            </a:r>
          </a:p>
        </p:txBody>
      </p:sp>
      <p:sp>
        <p:nvSpPr>
          <p:cNvPr id="3" name="circuit-8">
            <a:extLst xmlns:a="http://schemas.openxmlformats.org/drawingml/2006/main">
              <a:ext uri="{FF2B5EF4-FFF2-40B4-BE49-F238E27FC236}">
                <a16:creationId xmlns:a16="http://schemas.microsoft.com/office/drawing/2014/main" id="{19CB58CB-3699-4B8C-B6D8-E58BD2FBF8FC}"/>
              </a:ext>
            </a:extLst>
          </p:cNvPr>
          <p:cNvSpPr>
            <a:spLocks xmlns:a="http://schemas.openxmlformats.org/drawingml/2006/main" noGrp="1"/>
          </p:cNvSpPr>
          <p:nvPr/>
        </p:nvSpPr>
        <p:spPr>
          <a:xfrm xmlns:a="http://schemas.openxmlformats.org/drawingml/2006/main">
            <a:off x="876300" y="1762125"/>
            <a:ext cx="10439400" cy="3905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4" name="text-9">
            <a:extLst xmlns:a="http://schemas.openxmlformats.org/drawingml/2006/main">
              <a:ext uri="{FF2B5EF4-FFF2-40B4-BE49-F238E27FC236}">
                <a16:creationId xmlns:a16="http://schemas.microsoft.com/office/drawing/2014/main" id="{C8D4E9C4-3B31-4496-85B8-E65FEE34D11D}"/>
              </a:ext>
            </a:extLst>
          </p:cNvPr>
          <p:cNvSpPr>
            <a:spLocks xmlns:a="http://schemas.openxmlformats.org/drawingml/2006/main" noGrp="1"/>
          </p:cNvSpPr>
          <p:nvPr/>
        </p:nvSpPr>
        <p:spPr>
          <a:xfrm xmlns:a="http://schemas.openxmlformats.org/drawingml/2006/main">
            <a:off x="1066800" y="525780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Meiryo"/>
                <a:ea typeface="Meiryo"/>
                <a:cs typeface="Meiryo"/>
              </a:defRPr>
            </a:defPPr>
          </a:lstStyle>
          <a:p xmlns:a="http://schemas.openxmlformats.org/drawingml/2006/main">
            <a:pPr algn="l">
              <a:defRPr sz="1800" b="0">
                <a:solidFill>
                  <a:srgbClr val="231F20"/>
                </a:solidFill>
                <a:latin typeface="Meiryo"/>
                <a:ea typeface="Meiryo"/>
                <a:cs typeface="Meiryo"/>
              </a:defRPr>
            </a:pPr>
            <a:r>
              <a:rPr sz="1800" b="0">
                <a:solidFill>
                  <a:srgbClr val="231F20"/>
                </a:solidFill>
                <a:latin typeface="Meiryo"/>
                <a:ea typeface="Meiryo"/>
                <a:cs typeface="Meiryo"/>
              </a:rPr>
              <a:t>Nexys Video ボード</a:t>
            </a:r>
          </a:p>
        </p:txBody>
      </p:sp>
      <p:sp>
        <p:nvSpPr>
          <p:cNvPr id="5" name="circuit-10">
            <a:extLst xmlns:a="http://schemas.openxmlformats.org/drawingml/2006/main">
              <a:ext uri="{FF2B5EF4-FFF2-40B4-BE49-F238E27FC236}">
                <a16:creationId xmlns:a16="http://schemas.microsoft.com/office/drawing/2014/main" id="{19982CAF-B93F-4C1B-9DD4-CC338ED61A12}"/>
              </a:ext>
            </a:extLst>
          </p:cNvPr>
          <p:cNvSpPr>
            <a:spLocks xmlns:a="http://schemas.openxmlformats.org/drawingml/2006/main" noGrp="1"/>
          </p:cNvSpPr>
          <p:nvPr/>
        </p:nvSpPr>
        <p:spPr>
          <a:xfrm xmlns:a="http://schemas.openxmlformats.org/drawingml/2006/main">
            <a:off x="1314450" y="1962150"/>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6" name="text-11">
            <a:extLst xmlns:a="http://schemas.openxmlformats.org/drawingml/2006/main">
              <a:ext uri="{FF2B5EF4-FFF2-40B4-BE49-F238E27FC236}">
                <a16:creationId xmlns:a16="http://schemas.microsoft.com/office/drawing/2014/main" id="{AD8981ED-D48F-4446-B890-D6538EAFADC9}"/>
              </a:ext>
            </a:extLst>
          </p:cNvPr>
          <p:cNvSpPr>
            <a:spLocks xmlns:a="http://schemas.openxmlformats.org/drawingml/2006/main" noGrp="1"/>
          </p:cNvSpPr>
          <p:nvPr/>
        </p:nvSpPr>
        <p:spPr>
          <a:xfrm xmlns:a="http://schemas.openxmlformats.org/drawingml/2006/main">
            <a:off x="1428750" y="2019300"/>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SDカード</a:t>
            </a:r>
          </a:p>
        </p:txBody>
      </p:sp>
      <p:sp>
        <p:nvSpPr>
          <p:cNvPr id="7" name="wire-12">
            <a:extLst xmlns:a="http://schemas.openxmlformats.org/drawingml/2006/main">
              <a:ext uri="{FF2B5EF4-FFF2-40B4-BE49-F238E27FC236}">
                <a16:creationId xmlns:a16="http://schemas.microsoft.com/office/drawing/2014/main" id="{34668B9E-1A4C-4746-BFF0-E4B1D093D9C1}"/>
              </a:ext>
            </a:extLst>
          </p:cNvPr>
          <p:cNvSpPr>
            <a:spLocks xmlns:a="http://schemas.openxmlformats.org/drawingml/2006/main" noGrp="1"/>
          </p:cNvSpPr>
          <p:nvPr/>
        </p:nvSpPr>
        <p:spPr>
          <a:xfrm xmlns:a="http://schemas.openxmlformats.org/drawingml/2006/main">
            <a:off x="2657475" y="25527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0955">
            <a:solidFill>
              <a:srgbClr val="231F20"/>
            </a:solidFill>
          </a:ln>
        </p:spPr>
      </p:sp>
      <p:sp>
        <p:nvSpPr>
          <p:cNvPr id="8" name="circuit-13">
            <a:extLst xmlns:a="http://schemas.openxmlformats.org/drawingml/2006/main">
              <a:ext uri="{FF2B5EF4-FFF2-40B4-BE49-F238E27FC236}">
                <a16:creationId xmlns:a16="http://schemas.microsoft.com/office/drawing/2014/main" id="{CD5075E7-D07A-4506-BFB1-004D6C8C9FA9}"/>
              </a:ext>
            </a:extLst>
          </p:cNvPr>
          <p:cNvSpPr>
            <a:spLocks xmlns:a="http://schemas.openxmlformats.org/drawingml/2006/main" noGrp="1"/>
          </p:cNvSpPr>
          <p:nvPr/>
        </p:nvSpPr>
        <p:spPr>
          <a:xfrm xmlns:a="http://schemas.openxmlformats.org/drawingml/2006/main">
            <a:off x="4733925" y="1962150"/>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9" name="text-14">
            <a:extLst xmlns:a="http://schemas.openxmlformats.org/drawingml/2006/main">
              <a:ext uri="{FF2B5EF4-FFF2-40B4-BE49-F238E27FC236}">
                <a16:creationId xmlns:a16="http://schemas.microsoft.com/office/drawing/2014/main" id="{3F9F91B9-3B5D-4A9F-A190-525E2453CE26}"/>
              </a:ext>
            </a:extLst>
          </p:cNvPr>
          <p:cNvSpPr>
            <a:spLocks xmlns:a="http://schemas.openxmlformats.org/drawingml/2006/main" noGrp="1"/>
          </p:cNvSpPr>
          <p:nvPr/>
        </p:nvSpPr>
        <p:spPr>
          <a:xfrm xmlns:a="http://schemas.openxmlformats.org/drawingml/2006/main">
            <a:off x="4848225" y="2019300"/>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DDR3メモリ</a:t>
            </a:r>
          </a:p>
        </p:txBody>
      </p:sp>
      <p:sp>
        <p:nvSpPr>
          <p:cNvPr id="10" name="wire-15">
            <a:extLst xmlns:a="http://schemas.openxmlformats.org/drawingml/2006/main">
              <a:ext uri="{FF2B5EF4-FFF2-40B4-BE49-F238E27FC236}">
                <a16:creationId xmlns:a16="http://schemas.microsoft.com/office/drawing/2014/main" id="{4A81F6E9-54CD-4436-993C-D967FD2B7336}"/>
              </a:ext>
            </a:extLst>
          </p:cNvPr>
          <p:cNvSpPr>
            <a:spLocks xmlns:a="http://schemas.openxmlformats.org/drawingml/2006/main" noGrp="1"/>
          </p:cNvSpPr>
          <p:nvPr/>
        </p:nvSpPr>
        <p:spPr>
          <a:xfrm xmlns:a="http://schemas.openxmlformats.org/drawingml/2006/main">
            <a:off x="6076950" y="25527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0955">
            <a:solidFill>
              <a:srgbClr val="231F20"/>
            </a:solidFill>
          </a:ln>
        </p:spPr>
      </p:sp>
      <p:sp>
        <p:nvSpPr>
          <p:cNvPr id="11" name="circuit-16">
            <a:extLst xmlns:a="http://schemas.openxmlformats.org/drawingml/2006/main">
              <a:ext uri="{FF2B5EF4-FFF2-40B4-BE49-F238E27FC236}">
                <a16:creationId xmlns:a16="http://schemas.microsoft.com/office/drawing/2014/main" id="{D1B61E4B-7E55-4A60-9A47-0711AA2888EF}"/>
              </a:ext>
            </a:extLst>
          </p:cNvPr>
          <p:cNvSpPr>
            <a:spLocks xmlns:a="http://schemas.openxmlformats.org/drawingml/2006/main" noGrp="1"/>
          </p:cNvSpPr>
          <p:nvPr/>
        </p:nvSpPr>
        <p:spPr>
          <a:xfrm xmlns:a="http://schemas.openxmlformats.org/drawingml/2006/main">
            <a:off x="8153400" y="1962150"/>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2" name="text-17">
            <a:extLst xmlns:a="http://schemas.openxmlformats.org/drawingml/2006/main">
              <a:ext uri="{FF2B5EF4-FFF2-40B4-BE49-F238E27FC236}">
                <a16:creationId xmlns:a16="http://schemas.microsoft.com/office/drawing/2014/main" id="{6F665B3D-5AFA-46F4-8831-92D74AABA530}"/>
              </a:ext>
            </a:extLst>
          </p:cNvPr>
          <p:cNvSpPr>
            <a:spLocks xmlns:a="http://schemas.openxmlformats.org/drawingml/2006/main" noGrp="1"/>
          </p:cNvSpPr>
          <p:nvPr/>
        </p:nvSpPr>
        <p:spPr>
          <a:xfrm xmlns:a="http://schemas.openxmlformats.org/drawingml/2006/main">
            <a:off x="8267700" y="2019300"/>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HDMI端子</a:t>
            </a:r>
          </a:p>
        </p:txBody>
      </p:sp>
      <p:sp>
        <p:nvSpPr>
          <p:cNvPr id="13" name="wire-18">
            <a:extLst xmlns:a="http://schemas.openxmlformats.org/drawingml/2006/main">
              <a:ext uri="{FF2B5EF4-FFF2-40B4-BE49-F238E27FC236}">
                <a16:creationId xmlns:a16="http://schemas.microsoft.com/office/drawing/2014/main" id="{0FE6B6FE-BDB4-4C96-8064-748BE3423561}"/>
              </a:ext>
            </a:extLst>
          </p:cNvPr>
          <p:cNvSpPr>
            <a:spLocks xmlns:a="http://schemas.openxmlformats.org/drawingml/2006/main" noGrp="1"/>
          </p:cNvSpPr>
          <p:nvPr/>
        </p:nvSpPr>
        <p:spPr>
          <a:xfrm xmlns:a="http://schemas.openxmlformats.org/drawingml/2006/main">
            <a:off x="9496425" y="255270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0955">
            <a:solidFill>
              <a:srgbClr val="231F20"/>
            </a:solidFill>
          </a:ln>
        </p:spPr>
      </p:sp>
      <p:sp>
        <p:nvSpPr>
          <p:cNvPr id="14" name="circuit-19">
            <a:extLst xmlns:a="http://schemas.openxmlformats.org/drawingml/2006/main">
              <a:ext uri="{FF2B5EF4-FFF2-40B4-BE49-F238E27FC236}">
                <a16:creationId xmlns:a16="http://schemas.microsoft.com/office/drawing/2014/main" id="{4ED8C7BB-2649-4A86-99DA-7F3BB0AECDC6}"/>
              </a:ext>
            </a:extLst>
          </p:cNvPr>
          <p:cNvSpPr>
            <a:spLocks xmlns:a="http://schemas.openxmlformats.org/drawingml/2006/main" noGrp="1"/>
          </p:cNvSpPr>
          <p:nvPr/>
        </p:nvSpPr>
        <p:spPr>
          <a:xfrm xmlns:a="http://schemas.openxmlformats.org/drawingml/2006/main">
            <a:off x="1733550" y="3143250"/>
            <a:ext cx="8724900" cy="190500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5" name="text-20">
            <a:extLst xmlns:a="http://schemas.openxmlformats.org/drawingml/2006/main">
              <a:ext uri="{FF2B5EF4-FFF2-40B4-BE49-F238E27FC236}">
                <a16:creationId xmlns:a16="http://schemas.microsoft.com/office/drawing/2014/main" id="{84D9EFD0-C0D7-4EA8-ACED-3EC8D6BD7DDA}"/>
              </a:ext>
            </a:extLst>
          </p:cNvPr>
          <p:cNvSpPr>
            <a:spLocks xmlns:a="http://schemas.openxmlformats.org/drawingml/2006/main" noGrp="1"/>
          </p:cNvSpPr>
          <p:nvPr/>
        </p:nvSpPr>
        <p:spPr>
          <a:xfrm xmlns:a="http://schemas.openxmlformats.org/drawingml/2006/main">
            <a:off x="2000250" y="33337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Meiryo"/>
                <a:ea typeface="Meiryo"/>
                <a:cs typeface="Meiryo"/>
              </a:defRPr>
            </a:defPPr>
          </a:lstStyle>
          <a:p xmlns:a="http://schemas.openxmlformats.org/drawingml/2006/main">
            <a:pPr algn="l">
              <a:defRPr sz="2100" b="1">
                <a:solidFill>
                  <a:srgbClr val="231F20"/>
                </a:solidFill>
                <a:latin typeface="Meiryo"/>
                <a:ea typeface="Meiryo"/>
                <a:cs typeface="Meiryo"/>
              </a:defRPr>
            </a:pPr>
            <a:r>
              <a:rPr sz="2100" b="1">
                <a:solidFill>
                  <a:srgbClr val="231F20"/>
                </a:solidFill>
                <a:latin typeface="Meiryo"/>
                <a:ea typeface="Meiryo"/>
                <a:cs typeface="Meiryo"/>
              </a:rPr>
              <a:t>FPGAチップ</a:t>
            </a:r>
          </a:p>
        </p:txBody>
      </p:sp>
      <p:sp>
        <p:nvSpPr>
          <p:cNvPr id="16" name="and-gate-21">
            <a:extLst xmlns:a="http://schemas.openxmlformats.org/drawingml/2006/main">
              <a:ext uri="{FF2B5EF4-FFF2-40B4-BE49-F238E27FC236}">
                <a16:creationId xmlns:a16="http://schemas.microsoft.com/office/drawing/2014/main" id="{F6A9D9EE-6847-4DC2-974A-060F3C0FF73D}"/>
              </a:ext>
            </a:extLst>
          </p:cNvPr>
          <p:cNvSpPr>
            <a:spLocks xmlns:a="http://schemas.openxmlformats.org/drawingml/2006/main" noGrp="1"/>
          </p:cNvSpPr>
          <p:nvPr/>
        </p:nvSpPr>
        <p:spPr>
          <a:xfrm xmlns:a="http://schemas.openxmlformats.org/drawingml/2006/main">
            <a:off x="3333750" y="4019550"/>
            <a:ext cx="628650" cy="609600"/>
          </a:xfrm>
          <a:custGeom xmlns:a="http://schemas.openxmlformats.org/drawingml/2006/main">
            <a:pathLst>
              <a:path w="628650" h="609600">
                <a:moveTo>
                  <a:pt x="0" y="0"/>
                </a:moveTo>
                <a:lnTo>
                  <a:pt x="304800" y="0"/>
                </a:lnTo>
                <a:cubicBezTo>
                  <a:pt x="723900" y="0"/>
                  <a:pt x="723900" y="609600"/>
                  <a:pt x="304800" y="609600"/>
                </a:cubicBezTo>
                <a:lnTo>
                  <a:pt x="0" y="609600"/>
                </a:lnTo>
                <a:close/>
              </a:path>
            </a:pathLst>
          </a:custGeom>
          <a:solidFill xmlns:a="http://schemas.openxmlformats.org/drawingml/2006/main">
            <a:srgbClr val="FFFFFF"/>
          </a:solidFill>
          <a:ln xmlns:a="http://schemas.openxmlformats.org/drawingml/2006/main" w="19050">
            <a:solidFill>
              <a:srgbClr val="231F20"/>
            </a:solidFill>
          </a:ln>
        </p:spPr>
      </p:sp>
      <p:sp>
        <p:nvSpPr>
          <p:cNvPr id="17" name="wire-22">
            <a:extLst xmlns:a="http://schemas.openxmlformats.org/drawingml/2006/main">
              <a:ext uri="{FF2B5EF4-FFF2-40B4-BE49-F238E27FC236}">
                <a16:creationId xmlns:a16="http://schemas.microsoft.com/office/drawing/2014/main" id="{897CD172-30CE-45A7-845F-27093E936404}"/>
              </a:ext>
            </a:extLst>
          </p:cNvPr>
          <p:cNvSpPr>
            <a:spLocks xmlns:a="http://schemas.openxmlformats.org/drawingml/2006/main" noGrp="1"/>
          </p:cNvSpPr>
          <p:nvPr/>
        </p:nvSpPr>
        <p:spPr>
          <a:xfrm xmlns:a="http://schemas.openxmlformats.org/drawingml/2006/main">
            <a:off x="3048000" y="41624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18" name="wire-23">
            <a:extLst xmlns:a="http://schemas.openxmlformats.org/drawingml/2006/main">
              <a:ext uri="{FF2B5EF4-FFF2-40B4-BE49-F238E27FC236}">
                <a16:creationId xmlns:a16="http://schemas.microsoft.com/office/drawing/2014/main" id="{5388F295-91D4-4507-B009-660142958717}"/>
              </a:ext>
            </a:extLst>
          </p:cNvPr>
          <p:cNvSpPr>
            <a:spLocks xmlns:a="http://schemas.openxmlformats.org/drawingml/2006/main" noGrp="1"/>
          </p:cNvSpPr>
          <p:nvPr/>
        </p:nvSpPr>
        <p:spPr>
          <a:xfrm xmlns:a="http://schemas.openxmlformats.org/drawingml/2006/main">
            <a:off x="3048000" y="448627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19" name="wire-24">
            <a:extLst xmlns:a="http://schemas.openxmlformats.org/drawingml/2006/main">
              <a:ext uri="{FF2B5EF4-FFF2-40B4-BE49-F238E27FC236}">
                <a16:creationId xmlns:a16="http://schemas.microsoft.com/office/drawing/2014/main" id="{3F0B3275-3A1A-4C33-AD2C-23270C718A08}"/>
              </a:ext>
            </a:extLst>
          </p:cNvPr>
          <p:cNvSpPr>
            <a:spLocks xmlns:a="http://schemas.openxmlformats.org/drawingml/2006/main" noGrp="1"/>
          </p:cNvSpPr>
          <p:nvPr/>
        </p:nvSpPr>
        <p:spPr>
          <a:xfrm xmlns:a="http://schemas.openxmlformats.org/drawingml/2006/main">
            <a:off x="3962400" y="432435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0955">
            <a:solidFill>
              <a:srgbClr val="231F20"/>
            </a:solidFill>
          </a:ln>
        </p:spPr>
      </p:sp>
      <p:sp>
        <p:nvSpPr>
          <p:cNvPr id="20" name="and-gate-25">
            <a:extLst xmlns:a="http://schemas.openxmlformats.org/drawingml/2006/main">
              <a:ext uri="{FF2B5EF4-FFF2-40B4-BE49-F238E27FC236}">
                <a16:creationId xmlns:a16="http://schemas.microsoft.com/office/drawing/2014/main" id="{52201803-95A0-4D80-9DB5-91CC2F33AF8C}"/>
              </a:ext>
            </a:extLst>
          </p:cNvPr>
          <p:cNvSpPr>
            <a:spLocks xmlns:a="http://schemas.openxmlformats.org/drawingml/2006/main" noGrp="1"/>
          </p:cNvSpPr>
          <p:nvPr/>
        </p:nvSpPr>
        <p:spPr>
          <a:xfrm xmlns:a="http://schemas.openxmlformats.org/drawingml/2006/main">
            <a:off x="4953000" y="4019550"/>
            <a:ext cx="628650" cy="609600"/>
          </a:xfrm>
          <a:custGeom xmlns:a="http://schemas.openxmlformats.org/drawingml/2006/main">
            <a:pathLst>
              <a:path w="628650" h="609600">
                <a:moveTo>
                  <a:pt x="0" y="0"/>
                </a:moveTo>
                <a:lnTo>
                  <a:pt x="304800" y="0"/>
                </a:lnTo>
                <a:cubicBezTo>
                  <a:pt x="723900" y="0"/>
                  <a:pt x="723900" y="609600"/>
                  <a:pt x="304800" y="609600"/>
                </a:cubicBezTo>
                <a:lnTo>
                  <a:pt x="0" y="609600"/>
                </a:lnTo>
                <a:close/>
              </a:path>
            </a:pathLst>
          </a:custGeom>
          <a:solidFill xmlns:a="http://schemas.openxmlformats.org/drawingml/2006/main">
            <a:srgbClr val="FFFFFF"/>
          </a:solidFill>
          <a:ln xmlns:a="http://schemas.openxmlformats.org/drawingml/2006/main" w="19050">
            <a:solidFill>
              <a:srgbClr val="231F20"/>
            </a:solidFill>
          </a:ln>
        </p:spPr>
      </p:sp>
      <p:sp>
        <p:nvSpPr>
          <p:cNvPr id="21" name="wire-26">
            <a:extLst xmlns:a="http://schemas.openxmlformats.org/drawingml/2006/main">
              <a:ext uri="{FF2B5EF4-FFF2-40B4-BE49-F238E27FC236}">
                <a16:creationId xmlns:a16="http://schemas.microsoft.com/office/drawing/2014/main" id="{B797C2C2-3451-49A9-A5A5-A4043589116C}"/>
              </a:ext>
            </a:extLst>
          </p:cNvPr>
          <p:cNvSpPr>
            <a:spLocks xmlns:a="http://schemas.openxmlformats.org/drawingml/2006/main" noGrp="1"/>
          </p:cNvSpPr>
          <p:nvPr/>
        </p:nvSpPr>
        <p:spPr>
          <a:xfrm xmlns:a="http://schemas.openxmlformats.org/drawingml/2006/main">
            <a:off x="4667250" y="416242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22" name="wire-27">
            <a:extLst xmlns:a="http://schemas.openxmlformats.org/drawingml/2006/main">
              <a:ext uri="{FF2B5EF4-FFF2-40B4-BE49-F238E27FC236}">
                <a16:creationId xmlns:a16="http://schemas.microsoft.com/office/drawing/2014/main" id="{DD612E14-A908-4685-94F4-25E45C34AC21}"/>
              </a:ext>
            </a:extLst>
          </p:cNvPr>
          <p:cNvSpPr>
            <a:spLocks xmlns:a="http://schemas.openxmlformats.org/drawingml/2006/main" noGrp="1"/>
          </p:cNvSpPr>
          <p:nvPr/>
        </p:nvSpPr>
        <p:spPr>
          <a:xfrm xmlns:a="http://schemas.openxmlformats.org/drawingml/2006/main">
            <a:off x="4667250" y="4486275"/>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0955">
            <a:solidFill>
              <a:srgbClr val="231F20"/>
            </a:solidFill>
          </a:ln>
        </p:spPr>
      </p:sp>
      <p:sp>
        <p:nvSpPr>
          <p:cNvPr id="23" name="wire-28">
            <a:extLst xmlns:a="http://schemas.openxmlformats.org/drawingml/2006/main">
              <a:ext uri="{FF2B5EF4-FFF2-40B4-BE49-F238E27FC236}">
                <a16:creationId xmlns:a16="http://schemas.microsoft.com/office/drawing/2014/main" id="{EFD76EAD-5AE4-481F-B5FD-28AF94DC5C95}"/>
              </a:ext>
            </a:extLst>
          </p:cNvPr>
          <p:cNvSpPr>
            <a:spLocks xmlns:a="http://schemas.openxmlformats.org/drawingml/2006/main" noGrp="1"/>
          </p:cNvSpPr>
          <p:nvPr/>
        </p:nvSpPr>
        <p:spPr>
          <a:xfrm xmlns:a="http://schemas.openxmlformats.org/drawingml/2006/main">
            <a:off x="5581650" y="432435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0955">
            <a:solidFill>
              <a:srgbClr val="231F20"/>
            </a:solidFill>
          </a:ln>
        </p:spPr>
      </p:sp>
      <p:sp>
        <p:nvSpPr>
          <p:cNvPr id="24" name="logic-29">
            <a:extLst xmlns:a="http://schemas.openxmlformats.org/drawingml/2006/main">
              <a:ext uri="{FF2B5EF4-FFF2-40B4-BE49-F238E27FC236}">
                <a16:creationId xmlns:a16="http://schemas.microsoft.com/office/drawing/2014/main" id="{DA49DA04-46B7-4C77-B48C-01CF74AA64E0}"/>
              </a:ext>
            </a:extLst>
          </p:cNvPr>
          <p:cNvSpPr>
            <a:spLocks xmlns:a="http://schemas.openxmlformats.org/drawingml/2006/main" noGrp="1"/>
          </p:cNvSpPr>
          <p:nvPr/>
        </p:nvSpPr>
        <p:spPr>
          <a:xfrm xmlns:a="http://schemas.openxmlformats.org/drawingml/2006/main">
            <a:off x="7162800" y="4019550"/>
            <a:ext cx="552450" cy="609600"/>
          </a:xfrm>
          <a:custGeom xmlns:a="http://schemas.openxmlformats.org/drawingml/2006/main">
            <a:pathLst>
              <a:path w="552450" h="609600">
                <a:moveTo>
                  <a:pt x="0" y="0"/>
                </a:moveTo>
                <a:lnTo>
                  <a:pt x="0" y="609600"/>
                </a:lnTo>
                <a:lnTo>
                  <a:pt x="552450" y="304800"/>
                </a:lnTo>
                <a:close/>
              </a:path>
            </a:pathLst>
          </a:custGeom>
          <a:solidFill xmlns:a="http://schemas.openxmlformats.org/drawingml/2006/main">
            <a:srgbClr val="FFFFFF"/>
          </a:solidFill>
          <a:ln xmlns:a="http://schemas.openxmlformats.org/drawingml/2006/main" w="19050">
            <a:solidFill>
              <a:srgbClr val="231F20"/>
            </a:solidFill>
          </a:ln>
        </p:spPr>
      </p:sp>
      <p:sp>
        <p:nvSpPr>
          <p:cNvPr id="25" name="wire-30">
            <a:extLst xmlns:a="http://schemas.openxmlformats.org/drawingml/2006/main">
              <a:ext uri="{FF2B5EF4-FFF2-40B4-BE49-F238E27FC236}">
                <a16:creationId xmlns:a16="http://schemas.microsoft.com/office/drawing/2014/main" id="{860A11BC-1CE0-4BA0-9590-5506B55CA34A}"/>
              </a:ext>
            </a:extLst>
          </p:cNvPr>
          <p:cNvSpPr>
            <a:spLocks xmlns:a="http://schemas.openxmlformats.org/drawingml/2006/main" noGrp="1"/>
          </p:cNvSpPr>
          <p:nvPr/>
        </p:nvSpPr>
        <p:spPr>
          <a:xfrm xmlns:a="http://schemas.openxmlformats.org/drawingml/2006/main">
            <a:off x="5905500" y="4324350"/>
            <a:ext cx="1257300" cy="9525"/>
          </a:xfrm>
          <a:custGeom xmlns:a="http://schemas.openxmlformats.org/drawingml/2006/main">
            <a:pathLst>
              <a:path w="1257300" h="9525">
                <a:moveTo>
                  <a:pt x="0" y="0"/>
                </a:moveTo>
                <a:lnTo>
                  <a:pt x="1257300" y="0"/>
                </a:lnTo>
              </a:path>
            </a:pathLst>
          </a:custGeom>
          <a:noFill xmlns:a="http://schemas.openxmlformats.org/drawingml/2006/main"/>
          <a:ln xmlns:a="http://schemas.openxmlformats.org/drawingml/2006/main" w="20955">
            <a:solidFill>
              <a:srgbClr val="231F20"/>
            </a:solidFill>
          </a:ln>
        </p:spPr>
      </p:sp>
      <p:sp>
        <p:nvSpPr>
          <p:cNvPr id="26" name="wire-31">
            <a:extLst xmlns:a="http://schemas.openxmlformats.org/drawingml/2006/main">
              <a:ext uri="{FF2B5EF4-FFF2-40B4-BE49-F238E27FC236}">
                <a16:creationId xmlns:a16="http://schemas.microsoft.com/office/drawing/2014/main" id="{8A9FCD2F-87D3-4B24-8C80-B042834F2F00}"/>
              </a:ext>
            </a:extLst>
          </p:cNvPr>
          <p:cNvSpPr>
            <a:spLocks xmlns:a="http://schemas.openxmlformats.org/drawingml/2006/main" noGrp="1"/>
          </p:cNvSpPr>
          <p:nvPr/>
        </p:nvSpPr>
        <p:spPr>
          <a:xfrm xmlns:a="http://schemas.openxmlformats.org/drawingml/2006/main">
            <a:off x="7715250" y="4324350"/>
            <a:ext cx="990600" cy="9525"/>
          </a:xfrm>
          <a:custGeom xmlns:a="http://schemas.openxmlformats.org/drawingml/2006/main">
            <a:pathLst>
              <a:path w="990600" h="9525">
                <a:moveTo>
                  <a:pt x="0" y="0"/>
                </a:moveTo>
                <a:lnTo>
                  <a:pt x="990600" y="0"/>
                </a:lnTo>
              </a:path>
            </a:pathLst>
          </a:custGeom>
          <a:noFill xmlns:a="http://schemas.openxmlformats.org/drawingml/2006/main"/>
          <a:ln xmlns:a="http://schemas.openxmlformats.org/drawingml/2006/main" w="20955">
            <a:solidFill>
              <a:srgbClr val="231F20"/>
            </a:solidFill>
          </a:ln>
        </p:spPr>
      </p:sp>
      <p:sp>
        <p:nvSpPr>
          <p:cNvPr id="27" name="text-32">
            <a:extLst xmlns:a="http://schemas.openxmlformats.org/drawingml/2006/main">
              <a:ext uri="{FF2B5EF4-FFF2-40B4-BE49-F238E27FC236}">
                <a16:creationId xmlns:a16="http://schemas.microsoft.com/office/drawing/2014/main" id="{1127BD84-AA22-43F1-AD15-47B65A49EB62}"/>
              </a:ext>
            </a:extLst>
          </p:cNvPr>
          <p:cNvSpPr>
            <a:spLocks xmlns:a="http://schemas.openxmlformats.org/drawingml/2006/main" noGrp="1"/>
          </p:cNvSpPr>
          <p:nvPr/>
        </p:nvSpPr>
        <p:spPr>
          <a:xfrm xmlns:a="http://schemas.openxmlformats.org/drawingml/2006/main">
            <a:off x="3095625" y="57721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設定に応じて論理ゲートなどを接続</a:t>
            </a:r>
          </a:p>
        </p:txBody>
      </p:sp>
    </p:spTree>
    <p:extLst>
      <p:ext uri="{BB962C8B-B14F-4D97-AF65-F5344CB8AC3E}">
        <p14:creationId xmlns:p14="http://schemas.microsoft.com/office/powerpoint/2010/main" val="20687510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text-33">
            <a:extLst xmlns:a="http://schemas.openxmlformats.org/drawingml/2006/main">
              <a:ext uri="{FF2B5EF4-FFF2-40B4-BE49-F238E27FC236}">
                <a16:creationId xmlns:a16="http://schemas.microsoft.com/office/drawing/2014/main" id="{EF3A2FEB-7689-4707-9414-6B44E6BF10EB}"/>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CPUと描画回路を一つのチップに接続する</a:t>
            </a:r>
          </a:p>
        </p:txBody>
      </p:sp>
      <p:sp>
        <p:nvSpPr>
          <p:cNvPr id="2" name="text-34">
            <a:extLst xmlns:a="http://schemas.openxmlformats.org/drawingml/2006/main">
              <a:ext uri="{FF2B5EF4-FFF2-40B4-BE49-F238E27FC236}">
                <a16:creationId xmlns:a16="http://schemas.microsoft.com/office/drawing/2014/main" id="{14D40230-DFE5-420C-9BB9-F1ED0FDD2467}"/>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3</a:t>
            </a:r>
          </a:p>
        </p:txBody>
      </p:sp>
      <p:sp>
        <p:nvSpPr>
          <p:cNvPr id="3" name="circuit-35">
            <a:extLst xmlns:a="http://schemas.openxmlformats.org/drawingml/2006/main">
              <a:ext uri="{FF2B5EF4-FFF2-40B4-BE49-F238E27FC236}">
                <a16:creationId xmlns:a16="http://schemas.microsoft.com/office/drawing/2014/main" id="{81509C60-7078-4DE6-8111-6C23DDA2FBAB}"/>
              </a:ext>
            </a:extLst>
          </p:cNvPr>
          <p:cNvSpPr>
            <a:spLocks xmlns:a="http://schemas.openxmlformats.org/drawingml/2006/main" noGrp="1"/>
          </p:cNvSpPr>
          <p:nvPr/>
        </p:nvSpPr>
        <p:spPr>
          <a:xfrm xmlns:a="http://schemas.openxmlformats.org/drawingml/2006/main">
            <a:off x="781050" y="1466850"/>
            <a:ext cx="10629900" cy="46863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4" name="circuit-36">
            <a:extLst xmlns:a="http://schemas.openxmlformats.org/drawingml/2006/main">
              <a:ext uri="{FF2B5EF4-FFF2-40B4-BE49-F238E27FC236}">
                <a16:creationId xmlns:a16="http://schemas.microsoft.com/office/drawing/2014/main" id="{6BF73041-F4A5-4B2E-8F3C-3C02508315BC}"/>
              </a:ext>
            </a:extLst>
          </p:cNvPr>
          <p:cNvSpPr>
            <a:spLocks xmlns:a="http://schemas.openxmlformats.org/drawingml/2006/main" noGrp="1"/>
          </p:cNvSpPr>
          <p:nvPr/>
        </p:nvSpPr>
        <p:spPr>
          <a:xfrm xmlns:a="http://schemas.openxmlformats.org/drawingml/2006/main">
            <a:off x="1085850" y="1628775"/>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5" name="text-37">
            <a:extLst xmlns:a="http://schemas.openxmlformats.org/drawingml/2006/main">
              <a:ext uri="{FF2B5EF4-FFF2-40B4-BE49-F238E27FC236}">
                <a16:creationId xmlns:a16="http://schemas.microsoft.com/office/drawing/2014/main" id="{9841C403-4D62-4259-A628-EFA9C9BFBD46}"/>
              </a:ext>
            </a:extLst>
          </p:cNvPr>
          <p:cNvSpPr>
            <a:spLocks xmlns:a="http://schemas.openxmlformats.org/drawingml/2006/main" noGrp="1"/>
          </p:cNvSpPr>
          <p:nvPr/>
        </p:nvSpPr>
        <p:spPr>
          <a:xfrm xmlns:a="http://schemas.openxmlformats.org/drawingml/2006/main">
            <a:off x="1200150" y="1685925"/>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SDカード</a:t>
            </a:r>
          </a:p>
        </p:txBody>
      </p:sp>
      <p:sp>
        <p:nvSpPr>
          <p:cNvPr id="6" name="circuit-38">
            <a:extLst xmlns:a="http://schemas.openxmlformats.org/drawingml/2006/main">
              <a:ext uri="{FF2B5EF4-FFF2-40B4-BE49-F238E27FC236}">
                <a16:creationId xmlns:a16="http://schemas.microsoft.com/office/drawing/2014/main" id="{C924D272-8E77-4167-870B-D17A3955CA10}"/>
              </a:ext>
            </a:extLst>
          </p:cNvPr>
          <p:cNvSpPr>
            <a:spLocks xmlns:a="http://schemas.openxmlformats.org/drawingml/2006/main" noGrp="1"/>
          </p:cNvSpPr>
          <p:nvPr/>
        </p:nvSpPr>
        <p:spPr>
          <a:xfrm xmlns:a="http://schemas.openxmlformats.org/drawingml/2006/main">
            <a:off x="4752975" y="1628775"/>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7" name="text-39">
            <a:extLst xmlns:a="http://schemas.openxmlformats.org/drawingml/2006/main">
              <a:ext uri="{FF2B5EF4-FFF2-40B4-BE49-F238E27FC236}">
                <a16:creationId xmlns:a16="http://schemas.microsoft.com/office/drawing/2014/main" id="{ECB9D904-4ACB-481D-92EF-8319414AEB63}"/>
              </a:ext>
            </a:extLst>
          </p:cNvPr>
          <p:cNvSpPr>
            <a:spLocks xmlns:a="http://schemas.openxmlformats.org/drawingml/2006/main" noGrp="1"/>
          </p:cNvSpPr>
          <p:nvPr/>
        </p:nvSpPr>
        <p:spPr>
          <a:xfrm xmlns:a="http://schemas.openxmlformats.org/drawingml/2006/main">
            <a:off x="4867275" y="1685925"/>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DDR3メモリ</a:t>
            </a:r>
          </a:p>
        </p:txBody>
      </p:sp>
      <p:sp>
        <p:nvSpPr>
          <p:cNvPr id="8" name="circuit-40">
            <a:extLst xmlns:a="http://schemas.openxmlformats.org/drawingml/2006/main">
              <a:ext uri="{FF2B5EF4-FFF2-40B4-BE49-F238E27FC236}">
                <a16:creationId xmlns:a16="http://schemas.microsoft.com/office/drawing/2014/main" id="{DF95BA53-9BEF-4244-AA6F-A575C47ABA5A}"/>
              </a:ext>
            </a:extLst>
          </p:cNvPr>
          <p:cNvSpPr>
            <a:spLocks xmlns:a="http://schemas.openxmlformats.org/drawingml/2006/main" noGrp="1"/>
          </p:cNvSpPr>
          <p:nvPr/>
        </p:nvSpPr>
        <p:spPr>
          <a:xfrm xmlns:a="http://schemas.openxmlformats.org/drawingml/2006/main">
            <a:off x="8420100" y="1628775"/>
            <a:ext cx="2686050" cy="5905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9" name="text-41">
            <a:extLst xmlns:a="http://schemas.openxmlformats.org/drawingml/2006/main">
              <a:ext uri="{FF2B5EF4-FFF2-40B4-BE49-F238E27FC236}">
                <a16:creationId xmlns:a16="http://schemas.microsoft.com/office/drawing/2014/main" id="{0A8FBAB8-503D-47BC-A875-AF86AF14117D}"/>
              </a:ext>
            </a:extLst>
          </p:cNvPr>
          <p:cNvSpPr>
            <a:spLocks xmlns:a="http://schemas.openxmlformats.org/drawingml/2006/main" noGrp="1"/>
          </p:cNvSpPr>
          <p:nvPr/>
        </p:nvSpPr>
        <p:spPr>
          <a:xfrm xmlns:a="http://schemas.openxmlformats.org/drawingml/2006/main">
            <a:off x="8534400" y="1685925"/>
            <a:ext cx="2457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HDMI端子</a:t>
            </a:r>
          </a:p>
        </p:txBody>
      </p:sp>
      <p:sp>
        <p:nvSpPr>
          <p:cNvPr id="10" name="circuit-42">
            <a:extLst xmlns:a="http://schemas.openxmlformats.org/drawingml/2006/main">
              <a:ext uri="{FF2B5EF4-FFF2-40B4-BE49-F238E27FC236}">
                <a16:creationId xmlns:a16="http://schemas.microsoft.com/office/drawing/2014/main" id="{F51D2C75-80CE-4413-BA20-BD66D1841A27}"/>
              </a:ext>
            </a:extLst>
          </p:cNvPr>
          <p:cNvSpPr>
            <a:spLocks xmlns:a="http://schemas.openxmlformats.org/drawingml/2006/main" noGrp="1"/>
          </p:cNvSpPr>
          <p:nvPr/>
        </p:nvSpPr>
        <p:spPr>
          <a:xfrm xmlns:a="http://schemas.openxmlformats.org/drawingml/2006/main">
            <a:off x="1009650" y="2581275"/>
            <a:ext cx="10172700" cy="335280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1" name="text-43">
            <a:extLst xmlns:a="http://schemas.openxmlformats.org/drawingml/2006/main">
              <a:ext uri="{FF2B5EF4-FFF2-40B4-BE49-F238E27FC236}">
                <a16:creationId xmlns:a16="http://schemas.microsoft.com/office/drawing/2014/main" id="{5093F561-DADF-4EED-8B71-BDDBFA284A9E}"/>
              </a:ext>
            </a:extLst>
          </p:cNvPr>
          <p:cNvSpPr>
            <a:spLocks xmlns:a="http://schemas.openxmlformats.org/drawingml/2006/main" noGrp="1"/>
          </p:cNvSpPr>
          <p:nvPr/>
        </p:nvSpPr>
        <p:spPr>
          <a:xfrm xmlns:a="http://schemas.openxmlformats.org/drawingml/2006/main">
            <a:off x="1200150" y="2667000"/>
            <a:ext cx="23336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231F20"/>
                </a:solidFill>
                <a:latin typeface="Meiryo"/>
                <a:ea typeface="Meiryo"/>
                <a:cs typeface="Meiryo"/>
              </a:defRPr>
            </a:defPPr>
          </a:lstStyle>
          <a:p xmlns:a="http://schemas.openxmlformats.org/drawingml/2006/main">
            <a:pPr algn="l">
              <a:defRPr sz="1725" b="1">
                <a:solidFill>
                  <a:srgbClr val="231F20"/>
                </a:solidFill>
                <a:latin typeface="Meiryo"/>
                <a:ea typeface="Meiryo"/>
                <a:cs typeface="Meiryo"/>
              </a:defRPr>
            </a:pPr>
            <a:r>
              <a:rPr sz="1725" b="1">
                <a:solidFill>
                  <a:srgbClr val="231F20"/>
                </a:solidFill>
                <a:latin typeface="Meiryo"/>
                <a:ea typeface="Meiryo"/>
                <a:cs typeface="Meiryo"/>
              </a:rPr>
              <a:t>FPGAチップ</a:t>
            </a:r>
          </a:p>
        </p:txBody>
      </p:sp>
      <p:sp>
        <p:nvSpPr>
          <p:cNvPr id="12" name="circuit-44">
            <a:extLst xmlns:a="http://schemas.openxmlformats.org/drawingml/2006/main">
              <a:ext uri="{FF2B5EF4-FFF2-40B4-BE49-F238E27FC236}">
                <a16:creationId xmlns:a16="http://schemas.microsoft.com/office/drawing/2014/main" id="{66C9E6B6-7C3B-4098-BF86-69470A4BDE77}"/>
              </a:ext>
            </a:extLst>
          </p:cNvPr>
          <p:cNvSpPr>
            <a:spLocks xmlns:a="http://schemas.openxmlformats.org/drawingml/2006/main" noGrp="1"/>
          </p:cNvSpPr>
          <p:nvPr/>
        </p:nvSpPr>
        <p:spPr>
          <a:xfrm xmlns:a="http://schemas.openxmlformats.org/drawingml/2006/main">
            <a:off x="1304925" y="3143250"/>
            <a:ext cx="1695450" cy="5715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3" name="text-45">
            <a:extLst xmlns:a="http://schemas.openxmlformats.org/drawingml/2006/main">
              <a:ext uri="{FF2B5EF4-FFF2-40B4-BE49-F238E27FC236}">
                <a16:creationId xmlns:a16="http://schemas.microsoft.com/office/drawing/2014/main" id="{3238DF3E-61D3-43C2-BB13-6FEFD3003929}"/>
              </a:ext>
            </a:extLst>
          </p:cNvPr>
          <p:cNvSpPr>
            <a:spLocks xmlns:a="http://schemas.openxmlformats.org/drawingml/2006/main" noGrp="1"/>
          </p:cNvSpPr>
          <p:nvPr/>
        </p:nvSpPr>
        <p:spPr>
          <a:xfrm xmlns:a="http://schemas.openxmlformats.org/drawingml/2006/main">
            <a:off x="1419225" y="3200400"/>
            <a:ext cx="1466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Meiryo"/>
                <a:ea typeface="Meiryo"/>
                <a:cs typeface="Meiryo"/>
              </a:defRPr>
            </a:defPPr>
          </a:lstStyle>
          <a:p xmlns:a="http://schemas.openxmlformats.org/drawingml/2006/main">
            <a:pPr algn="ctr">
              <a:defRPr sz="2025" b="0">
                <a:solidFill>
                  <a:srgbClr val="231F20"/>
                </a:solidFill>
                <a:latin typeface="Meiryo"/>
                <a:ea typeface="Meiryo"/>
                <a:cs typeface="Meiryo"/>
              </a:defRPr>
            </a:pPr>
            <a:r>
              <a:rPr sz="2025" b="0">
                <a:solidFill>
                  <a:srgbClr val="231F20"/>
                </a:solidFill>
                <a:latin typeface="Meiryo"/>
                <a:ea typeface="Meiryo"/>
                <a:cs typeface="Meiryo"/>
              </a:rPr>
              <a:t>SD制御</a:t>
            </a:r>
          </a:p>
        </p:txBody>
      </p:sp>
      <p:sp>
        <p:nvSpPr>
          <p:cNvPr id="14" name="wire-46">
            <a:extLst xmlns:a="http://schemas.openxmlformats.org/drawingml/2006/main">
              <a:ext uri="{FF2B5EF4-FFF2-40B4-BE49-F238E27FC236}">
                <a16:creationId xmlns:a16="http://schemas.microsoft.com/office/drawing/2014/main" id="{AFD0873E-C1F3-4C3B-B528-F3D2811D6D8D}"/>
              </a:ext>
            </a:extLst>
          </p:cNvPr>
          <p:cNvSpPr>
            <a:spLocks xmlns:a="http://schemas.openxmlformats.org/drawingml/2006/main" noGrp="1"/>
          </p:cNvSpPr>
          <p:nvPr/>
        </p:nvSpPr>
        <p:spPr>
          <a:xfrm xmlns:a="http://schemas.openxmlformats.org/drawingml/2006/main">
            <a:off x="2428875" y="2219325"/>
            <a:ext cx="9525" cy="923925"/>
          </a:xfrm>
          <a:custGeom xmlns:a="http://schemas.openxmlformats.org/drawingml/2006/main">
            <a:pathLst>
              <a:path w="9525" h="923925">
                <a:moveTo>
                  <a:pt x="0" y="0"/>
                </a:moveTo>
                <a:lnTo>
                  <a:pt x="0" y="923925"/>
                </a:lnTo>
              </a:path>
            </a:pathLst>
          </a:custGeom>
          <a:noFill xmlns:a="http://schemas.openxmlformats.org/drawingml/2006/main"/>
          <a:ln xmlns:a="http://schemas.openxmlformats.org/drawingml/2006/main" w="20955">
            <a:solidFill>
              <a:srgbClr val="231F20"/>
            </a:solidFill>
          </a:ln>
        </p:spPr>
      </p:sp>
      <p:sp>
        <p:nvSpPr>
          <p:cNvPr id="15" name="circuit-47">
            <a:extLst xmlns:a="http://schemas.openxmlformats.org/drawingml/2006/main">
              <a:ext uri="{FF2B5EF4-FFF2-40B4-BE49-F238E27FC236}">
                <a16:creationId xmlns:a16="http://schemas.microsoft.com/office/drawing/2014/main" id="{33C87545-FF41-43A6-8514-39E408404125}"/>
              </a:ext>
            </a:extLst>
          </p:cNvPr>
          <p:cNvSpPr>
            <a:spLocks xmlns:a="http://schemas.openxmlformats.org/drawingml/2006/main" noGrp="1"/>
          </p:cNvSpPr>
          <p:nvPr/>
        </p:nvSpPr>
        <p:spPr>
          <a:xfrm xmlns:a="http://schemas.openxmlformats.org/drawingml/2006/main">
            <a:off x="4962525" y="3143250"/>
            <a:ext cx="2266950" cy="5715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6" name="text-48">
            <a:extLst xmlns:a="http://schemas.openxmlformats.org/drawingml/2006/main">
              <a:ext uri="{FF2B5EF4-FFF2-40B4-BE49-F238E27FC236}">
                <a16:creationId xmlns:a16="http://schemas.microsoft.com/office/drawing/2014/main" id="{1FC04B89-D019-4118-80B5-A9D7E91E4ED7}"/>
              </a:ext>
            </a:extLst>
          </p:cNvPr>
          <p:cNvSpPr>
            <a:spLocks xmlns:a="http://schemas.openxmlformats.org/drawingml/2006/main" noGrp="1"/>
          </p:cNvSpPr>
          <p:nvPr/>
        </p:nvSpPr>
        <p:spPr>
          <a:xfrm xmlns:a="http://schemas.openxmlformats.org/drawingml/2006/main">
            <a:off x="5076825" y="3200400"/>
            <a:ext cx="2038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Meiryo"/>
                <a:ea typeface="Meiryo"/>
                <a:cs typeface="Meiryo"/>
              </a:defRPr>
            </a:defPPr>
          </a:lstStyle>
          <a:p xmlns:a="http://schemas.openxmlformats.org/drawingml/2006/main">
            <a:pPr algn="ctr">
              <a:defRPr sz="2025" b="0">
                <a:solidFill>
                  <a:srgbClr val="231F20"/>
                </a:solidFill>
                <a:latin typeface="Meiryo"/>
                <a:ea typeface="Meiryo"/>
                <a:cs typeface="Meiryo"/>
              </a:defRPr>
            </a:pPr>
            <a:r>
              <a:rPr sz="2025" b="0">
                <a:solidFill>
                  <a:srgbClr val="231F20"/>
                </a:solidFill>
                <a:latin typeface="Meiryo"/>
                <a:ea typeface="Meiryo"/>
                <a:cs typeface="Meiryo"/>
              </a:rPr>
              <a:t>メモリ制御</a:t>
            </a:r>
          </a:p>
        </p:txBody>
      </p:sp>
      <p:sp>
        <p:nvSpPr>
          <p:cNvPr id="17" name="wire-49">
            <a:extLst xmlns:a="http://schemas.openxmlformats.org/drawingml/2006/main">
              <a:ext uri="{FF2B5EF4-FFF2-40B4-BE49-F238E27FC236}">
                <a16:creationId xmlns:a16="http://schemas.microsoft.com/office/drawing/2014/main" id="{CD58AA67-4DC0-4996-A9D1-55EAD51BC7BA}"/>
              </a:ext>
            </a:extLst>
          </p:cNvPr>
          <p:cNvSpPr>
            <a:spLocks xmlns:a="http://schemas.openxmlformats.org/drawingml/2006/main" noGrp="1"/>
          </p:cNvSpPr>
          <p:nvPr/>
        </p:nvSpPr>
        <p:spPr>
          <a:xfrm xmlns:a="http://schemas.openxmlformats.org/drawingml/2006/main">
            <a:off x="6096000" y="2219325"/>
            <a:ext cx="9525" cy="923925"/>
          </a:xfrm>
          <a:custGeom xmlns:a="http://schemas.openxmlformats.org/drawingml/2006/main">
            <a:pathLst>
              <a:path w="9525" h="923925">
                <a:moveTo>
                  <a:pt x="0" y="0"/>
                </a:moveTo>
                <a:lnTo>
                  <a:pt x="0" y="923925"/>
                </a:lnTo>
              </a:path>
            </a:pathLst>
          </a:custGeom>
          <a:noFill xmlns:a="http://schemas.openxmlformats.org/drawingml/2006/main"/>
          <a:ln xmlns:a="http://schemas.openxmlformats.org/drawingml/2006/main" w="20955">
            <a:solidFill>
              <a:srgbClr val="231F20"/>
            </a:solidFill>
          </a:ln>
        </p:spPr>
      </p:sp>
      <p:sp>
        <p:nvSpPr>
          <p:cNvPr id="18" name="circuit-50">
            <a:extLst xmlns:a="http://schemas.openxmlformats.org/drawingml/2006/main">
              <a:ext uri="{FF2B5EF4-FFF2-40B4-BE49-F238E27FC236}">
                <a16:creationId xmlns:a16="http://schemas.microsoft.com/office/drawing/2014/main" id="{C539C608-CD8E-4631-B00A-AB6411AB1994}"/>
              </a:ext>
            </a:extLst>
          </p:cNvPr>
          <p:cNvSpPr>
            <a:spLocks xmlns:a="http://schemas.openxmlformats.org/drawingml/2006/main" noGrp="1"/>
          </p:cNvSpPr>
          <p:nvPr/>
        </p:nvSpPr>
        <p:spPr>
          <a:xfrm xmlns:a="http://schemas.openxmlformats.org/drawingml/2006/main">
            <a:off x="9163050" y="3143250"/>
            <a:ext cx="1733550" cy="5715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9" name="text-51">
            <a:extLst xmlns:a="http://schemas.openxmlformats.org/drawingml/2006/main">
              <a:ext uri="{FF2B5EF4-FFF2-40B4-BE49-F238E27FC236}">
                <a16:creationId xmlns:a16="http://schemas.microsoft.com/office/drawing/2014/main" id="{69F06A67-A2F0-459B-B053-8E1096269F80}"/>
              </a:ext>
            </a:extLst>
          </p:cNvPr>
          <p:cNvSpPr>
            <a:spLocks xmlns:a="http://schemas.openxmlformats.org/drawingml/2006/main" noGrp="1"/>
          </p:cNvSpPr>
          <p:nvPr/>
        </p:nvSpPr>
        <p:spPr>
          <a:xfrm xmlns:a="http://schemas.openxmlformats.org/drawingml/2006/main">
            <a:off x="9277350" y="3200400"/>
            <a:ext cx="1504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Meiryo"/>
                <a:ea typeface="Meiryo"/>
                <a:cs typeface="Meiryo"/>
              </a:defRPr>
            </a:defPPr>
          </a:lstStyle>
          <a:p xmlns:a="http://schemas.openxmlformats.org/drawingml/2006/main">
            <a:pPr algn="ctr">
              <a:defRPr sz="2025" b="0">
                <a:solidFill>
                  <a:srgbClr val="231F20"/>
                </a:solidFill>
                <a:latin typeface="Meiryo"/>
                <a:ea typeface="Meiryo"/>
                <a:cs typeface="Meiryo"/>
              </a:defRPr>
            </a:pPr>
            <a:r>
              <a:rPr sz="2025" b="0">
                <a:solidFill>
                  <a:srgbClr val="231F20"/>
                </a:solidFill>
                <a:latin typeface="Meiryo"/>
                <a:ea typeface="Meiryo"/>
                <a:cs typeface="Meiryo"/>
              </a:rPr>
              <a:t>表示回路</a:t>
            </a:r>
          </a:p>
        </p:txBody>
      </p:sp>
      <p:sp>
        <p:nvSpPr>
          <p:cNvPr id="20" name="wire-52">
            <a:extLst xmlns:a="http://schemas.openxmlformats.org/drawingml/2006/main">
              <a:ext uri="{FF2B5EF4-FFF2-40B4-BE49-F238E27FC236}">
                <a16:creationId xmlns:a16="http://schemas.microsoft.com/office/drawing/2014/main" id="{20887AEB-06F6-4621-A1F9-4A260E745386}"/>
              </a:ext>
            </a:extLst>
          </p:cNvPr>
          <p:cNvSpPr>
            <a:spLocks xmlns:a="http://schemas.openxmlformats.org/drawingml/2006/main" noGrp="1"/>
          </p:cNvSpPr>
          <p:nvPr/>
        </p:nvSpPr>
        <p:spPr>
          <a:xfrm xmlns:a="http://schemas.openxmlformats.org/drawingml/2006/main">
            <a:off x="10029825" y="2219325"/>
            <a:ext cx="9525" cy="923925"/>
          </a:xfrm>
          <a:custGeom xmlns:a="http://schemas.openxmlformats.org/drawingml/2006/main">
            <a:pathLst>
              <a:path w="9525" h="923925">
                <a:moveTo>
                  <a:pt x="0" y="923925"/>
                </a:moveTo>
                <a:lnTo>
                  <a:pt x="0" y="0"/>
                </a:lnTo>
              </a:path>
            </a:pathLst>
          </a:custGeom>
          <a:noFill xmlns:a="http://schemas.openxmlformats.org/drawingml/2006/main"/>
          <a:ln xmlns:a="http://schemas.openxmlformats.org/drawingml/2006/main" w="20955">
            <a:solidFill>
              <a:srgbClr val="231F20"/>
            </a:solidFill>
          </a:ln>
        </p:spPr>
      </p:sp>
      <p:sp>
        <p:nvSpPr>
          <p:cNvPr id="21" name="logic-53">
            <a:extLst xmlns:a="http://schemas.openxmlformats.org/drawingml/2006/main">
              <a:ext uri="{FF2B5EF4-FFF2-40B4-BE49-F238E27FC236}">
                <a16:creationId xmlns:a16="http://schemas.microsoft.com/office/drawing/2014/main" id="{5428709B-E16E-4753-AF5F-F66FF8F3F0C7}"/>
              </a:ext>
            </a:extLst>
          </p:cNvPr>
          <p:cNvSpPr>
            <a:spLocks xmlns:a="http://schemas.openxmlformats.org/drawingml/2006/main" noGrp="1"/>
          </p:cNvSpPr>
          <p:nvPr/>
        </p:nvSpPr>
        <p:spPr>
          <a:xfrm xmlns:a="http://schemas.openxmlformats.org/drawingml/2006/main">
            <a:off x="9982200" y="2219325"/>
            <a:ext cx="95250" cy="114300"/>
          </a:xfrm>
          <a:custGeom xmlns:a="http://schemas.openxmlformats.org/drawingml/2006/main">
            <a:pathLst>
              <a:path w="95250" h="114300">
                <a:moveTo>
                  <a:pt x="47625" y="0"/>
                </a:moveTo>
                <a:lnTo>
                  <a:pt x="0" y="114300"/>
                </a:lnTo>
                <a:lnTo>
                  <a:pt x="95250" y="114300"/>
                </a:lnTo>
                <a:close/>
              </a:path>
            </a:pathLst>
          </a:custGeom>
          <a:solidFill xmlns:a="http://schemas.openxmlformats.org/drawingml/2006/main">
            <a:srgbClr val="231F20"/>
          </a:solidFill>
          <a:ln xmlns:a="http://schemas.openxmlformats.org/drawingml/2006/main" w="19050">
            <a:solidFill>
              <a:srgbClr val="231F20"/>
            </a:solidFill>
          </a:ln>
        </p:spPr>
      </p:sp>
      <p:sp>
        <p:nvSpPr>
          <p:cNvPr id="22" name="circuit-54">
            <a:extLst xmlns:a="http://schemas.openxmlformats.org/drawingml/2006/main">
              <a:ext uri="{FF2B5EF4-FFF2-40B4-BE49-F238E27FC236}">
                <a16:creationId xmlns:a16="http://schemas.microsoft.com/office/drawing/2014/main" id="{96A09CD1-3722-494B-85E9-2247E064A17C}"/>
              </a:ext>
            </a:extLst>
          </p:cNvPr>
          <p:cNvSpPr>
            <a:spLocks xmlns:a="http://schemas.openxmlformats.org/drawingml/2006/main" noGrp="1"/>
          </p:cNvSpPr>
          <p:nvPr/>
        </p:nvSpPr>
        <p:spPr>
          <a:xfrm xmlns:a="http://schemas.openxmlformats.org/drawingml/2006/main">
            <a:off x="1409700" y="4181475"/>
            <a:ext cx="5705475" cy="438150"/>
          </a:xfrm>
          <a:prstGeom xmlns:a="http://schemas.openxmlformats.org/drawingml/2006/main" prst="rect">
            <a:avLst/>
          </a:prstGeom>
          <a:solidFill xmlns:a="http://schemas.openxmlformats.org/drawingml/2006/main">
            <a:srgbClr val="CCD9F1"/>
          </a:solidFill>
          <a:ln xmlns:a="http://schemas.openxmlformats.org/drawingml/2006/main" w="19050">
            <a:solidFill>
              <a:srgbClr val="231F20"/>
            </a:solidFill>
          </a:ln>
        </p:spPr>
      </p:sp>
      <p:sp>
        <p:nvSpPr>
          <p:cNvPr id="23" name="text-55">
            <a:extLst xmlns:a="http://schemas.openxmlformats.org/drawingml/2006/main">
              <a:ext uri="{FF2B5EF4-FFF2-40B4-BE49-F238E27FC236}">
                <a16:creationId xmlns:a16="http://schemas.microsoft.com/office/drawing/2014/main" id="{3BCE5604-085D-4409-9B6D-A67B769CB48C}"/>
              </a:ext>
            </a:extLst>
          </p:cNvPr>
          <p:cNvSpPr>
            <a:spLocks xmlns:a="http://schemas.openxmlformats.org/drawingml/2006/main" noGrp="1"/>
          </p:cNvSpPr>
          <p:nvPr/>
        </p:nvSpPr>
        <p:spPr>
          <a:xfrm xmlns:a="http://schemas.openxmlformats.org/drawingml/2006/main">
            <a:off x="1524000" y="4238625"/>
            <a:ext cx="5476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Meiryo"/>
                <a:ea typeface="Meiryo"/>
                <a:cs typeface="Meiryo"/>
              </a:defRPr>
            </a:defPPr>
          </a:lstStyle>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CPUのバス</a:t>
            </a:r>
          </a:p>
        </p:txBody>
      </p:sp>
      <p:sp>
        <p:nvSpPr>
          <p:cNvPr id="24" name="wire-56">
            <a:extLst xmlns:a="http://schemas.openxmlformats.org/drawingml/2006/main">
              <a:ext uri="{FF2B5EF4-FFF2-40B4-BE49-F238E27FC236}">
                <a16:creationId xmlns:a16="http://schemas.microsoft.com/office/drawing/2014/main" id="{BFFD0E4E-F170-408F-ADDD-15EAD0B22902}"/>
              </a:ext>
            </a:extLst>
          </p:cNvPr>
          <p:cNvSpPr>
            <a:spLocks xmlns:a="http://schemas.openxmlformats.org/drawingml/2006/main" noGrp="1"/>
          </p:cNvSpPr>
          <p:nvPr/>
        </p:nvSpPr>
        <p:spPr>
          <a:xfrm xmlns:a="http://schemas.openxmlformats.org/drawingml/2006/main">
            <a:off x="2152650" y="3714750"/>
            <a:ext cx="9525" cy="466725"/>
          </a:xfrm>
          <a:custGeom xmlns:a="http://schemas.openxmlformats.org/drawingml/2006/main">
            <a:pathLst>
              <a:path w="9525" h="466725">
                <a:moveTo>
                  <a:pt x="0" y="0"/>
                </a:moveTo>
                <a:lnTo>
                  <a:pt x="0" y="466725"/>
                </a:lnTo>
              </a:path>
            </a:pathLst>
          </a:custGeom>
          <a:noFill xmlns:a="http://schemas.openxmlformats.org/drawingml/2006/main"/>
          <a:ln xmlns:a="http://schemas.openxmlformats.org/drawingml/2006/main" w="20955">
            <a:solidFill>
              <a:srgbClr val="231F20"/>
            </a:solidFill>
          </a:ln>
        </p:spPr>
      </p:sp>
      <p:sp>
        <p:nvSpPr>
          <p:cNvPr id="25" name="wire-57">
            <a:extLst xmlns:a="http://schemas.openxmlformats.org/drawingml/2006/main">
              <a:ext uri="{FF2B5EF4-FFF2-40B4-BE49-F238E27FC236}">
                <a16:creationId xmlns:a16="http://schemas.microsoft.com/office/drawing/2014/main" id="{ACA6E9C7-CA2F-478C-9A54-80A127B763A5}"/>
              </a:ext>
            </a:extLst>
          </p:cNvPr>
          <p:cNvSpPr>
            <a:spLocks xmlns:a="http://schemas.openxmlformats.org/drawingml/2006/main" noGrp="1"/>
          </p:cNvSpPr>
          <p:nvPr/>
        </p:nvSpPr>
        <p:spPr>
          <a:xfrm xmlns:a="http://schemas.openxmlformats.org/drawingml/2006/main">
            <a:off x="6096000" y="3714750"/>
            <a:ext cx="9525" cy="466725"/>
          </a:xfrm>
          <a:custGeom xmlns:a="http://schemas.openxmlformats.org/drawingml/2006/main">
            <a:pathLst>
              <a:path w="9525" h="466725">
                <a:moveTo>
                  <a:pt x="0" y="0"/>
                </a:moveTo>
                <a:lnTo>
                  <a:pt x="0" y="466725"/>
                </a:lnTo>
              </a:path>
            </a:pathLst>
          </a:custGeom>
          <a:noFill xmlns:a="http://schemas.openxmlformats.org/drawingml/2006/main"/>
          <a:ln xmlns:a="http://schemas.openxmlformats.org/drawingml/2006/main" w="20955">
            <a:solidFill>
              <a:srgbClr val="231F20"/>
            </a:solidFill>
          </a:ln>
        </p:spPr>
      </p:sp>
      <p:sp>
        <p:nvSpPr>
          <p:cNvPr id="26" name="circuit-58">
            <a:extLst xmlns:a="http://schemas.openxmlformats.org/drawingml/2006/main">
              <a:ext uri="{FF2B5EF4-FFF2-40B4-BE49-F238E27FC236}">
                <a16:creationId xmlns:a16="http://schemas.microsoft.com/office/drawing/2014/main" id="{C47F49CC-1234-4E5E-B584-254123E89ABE}"/>
              </a:ext>
            </a:extLst>
          </p:cNvPr>
          <p:cNvSpPr>
            <a:spLocks xmlns:a="http://schemas.openxmlformats.org/drawingml/2006/main" noGrp="1"/>
          </p:cNvSpPr>
          <p:nvPr/>
        </p:nvSpPr>
        <p:spPr>
          <a:xfrm xmlns:a="http://schemas.openxmlformats.org/drawingml/2006/main">
            <a:off x="2543175" y="4943475"/>
            <a:ext cx="2952750" cy="7239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27" name="text-59">
            <a:extLst xmlns:a="http://schemas.openxmlformats.org/drawingml/2006/main">
              <a:ext uri="{FF2B5EF4-FFF2-40B4-BE49-F238E27FC236}">
                <a16:creationId xmlns:a16="http://schemas.microsoft.com/office/drawing/2014/main" id="{B7BD1F35-A5B2-48A2-B548-8D8465D05438}"/>
              </a:ext>
            </a:extLst>
          </p:cNvPr>
          <p:cNvSpPr>
            <a:spLocks xmlns:a="http://schemas.openxmlformats.org/drawingml/2006/main" noGrp="1"/>
          </p:cNvSpPr>
          <p:nvPr/>
        </p:nvSpPr>
        <p:spPr>
          <a:xfrm xmlns:a="http://schemas.openxmlformats.org/drawingml/2006/main">
            <a:off x="2657475" y="5000625"/>
            <a:ext cx="27241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Wally</a:t>
            </a:r>
          </a:p>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CPU</a:t>
            </a:r>
          </a:p>
        </p:txBody>
      </p:sp>
      <p:sp>
        <p:nvSpPr>
          <p:cNvPr id="28" name="wire-60">
            <a:extLst xmlns:a="http://schemas.openxmlformats.org/drawingml/2006/main">
              <a:ext uri="{FF2B5EF4-FFF2-40B4-BE49-F238E27FC236}">
                <a16:creationId xmlns:a16="http://schemas.microsoft.com/office/drawing/2014/main" id="{FC41B873-5A89-4ACE-9A5C-A6FAEF2341C2}"/>
              </a:ext>
            </a:extLst>
          </p:cNvPr>
          <p:cNvSpPr>
            <a:spLocks xmlns:a="http://schemas.openxmlformats.org/drawingml/2006/main" noGrp="1"/>
          </p:cNvSpPr>
          <p:nvPr/>
        </p:nvSpPr>
        <p:spPr>
          <a:xfrm xmlns:a="http://schemas.openxmlformats.org/drawingml/2006/main">
            <a:off x="4019550" y="4619625"/>
            <a:ext cx="9525" cy="323850"/>
          </a:xfrm>
          <a:custGeom xmlns:a="http://schemas.openxmlformats.org/drawingml/2006/main">
            <a:pathLst>
              <a:path w="9525" h="323850">
                <a:moveTo>
                  <a:pt x="0" y="323850"/>
                </a:moveTo>
                <a:lnTo>
                  <a:pt x="0" y="0"/>
                </a:lnTo>
              </a:path>
            </a:pathLst>
          </a:custGeom>
          <a:noFill xmlns:a="http://schemas.openxmlformats.org/drawingml/2006/main"/>
          <a:ln xmlns:a="http://schemas.openxmlformats.org/drawingml/2006/main" w="20955">
            <a:solidFill>
              <a:srgbClr val="231F20"/>
            </a:solidFill>
          </a:ln>
        </p:spPr>
      </p:sp>
      <p:sp>
        <p:nvSpPr>
          <p:cNvPr id="29" name="circuit-61">
            <a:extLst xmlns:a="http://schemas.openxmlformats.org/drawingml/2006/main">
              <a:ext uri="{FF2B5EF4-FFF2-40B4-BE49-F238E27FC236}">
                <a16:creationId xmlns:a16="http://schemas.microsoft.com/office/drawing/2014/main" id="{CF7A1E86-C775-45B1-8C53-8A823D050397}"/>
              </a:ext>
            </a:extLst>
          </p:cNvPr>
          <p:cNvSpPr>
            <a:spLocks xmlns:a="http://schemas.openxmlformats.org/drawingml/2006/main" noGrp="1"/>
          </p:cNvSpPr>
          <p:nvPr/>
        </p:nvSpPr>
        <p:spPr>
          <a:xfrm xmlns:a="http://schemas.openxmlformats.org/drawingml/2006/main">
            <a:off x="7553325" y="4181475"/>
            <a:ext cx="1809750" cy="4381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30" name="text-62">
            <a:extLst xmlns:a="http://schemas.openxmlformats.org/drawingml/2006/main">
              <a:ext uri="{FF2B5EF4-FFF2-40B4-BE49-F238E27FC236}">
                <a16:creationId xmlns:a16="http://schemas.microsoft.com/office/drawing/2014/main" id="{797F5DB3-406D-40A9-981E-3ABDDA17287C}"/>
              </a:ext>
            </a:extLst>
          </p:cNvPr>
          <p:cNvSpPr>
            <a:spLocks xmlns:a="http://schemas.openxmlformats.org/drawingml/2006/main" noGrp="1"/>
          </p:cNvSpPr>
          <p:nvPr/>
        </p:nvSpPr>
        <p:spPr>
          <a:xfrm xmlns:a="http://schemas.openxmlformats.org/drawingml/2006/main">
            <a:off x="7667625" y="4238625"/>
            <a:ext cx="158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Meiryo"/>
                <a:ea typeface="Meiryo"/>
                <a:cs typeface="Meiryo"/>
              </a:defRPr>
            </a:defPPr>
          </a:lstStyle>
          <a:p xmlns:a="http://schemas.openxmlformats.org/drawingml/2006/main">
            <a:pPr algn="ctr">
              <a:defRPr sz="1800" b="0">
                <a:solidFill>
                  <a:srgbClr val="231F20"/>
                </a:solidFill>
                <a:latin typeface="Meiryo"/>
                <a:ea typeface="Meiryo"/>
                <a:cs typeface="Meiryo"/>
              </a:defRPr>
            </a:pPr>
            <a:r>
              <a:rPr sz="1800" b="0">
                <a:solidFill>
                  <a:srgbClr val="231F20"/>
                </a:solidFill>
                <a:latin typeface="Meiryo"/>
                <a:ea typeface="Meiryo"/>
                <a:cs typeface="Meiryo"/>
              </a:rPr>
              <a:t>命令の接続</a:t>
            </a:r>
          </a:p>
        </p:txBody>
      </p:sp>
      <p:sp>
        <p:nvSpPr>
          <p:cNvPr id="31" name="wire-63">
            <a:extLst xmlns:a="http://schemas.openxmlformats.org/drawingml/2006/main">
              <a:ext uri="{FF2B5EF4-FFF2-40B4-BE49-F238E27FC236}">
                <a16:creationId xmlns:a16="http://schemas.microsoft.com/office/drawing/2014/main" id="{CBD8D724-C277-495A-A91B-09BB0A4B3112}"/>
              </a:ext>
            </a:extLst>
          </p:cNvPr>
          <p:cNvSpPr>
            <a:spLocks xmlns:a="http://schemas.openxmlformats.org/drawingml/2006/main" noGrp="1"/>
          </p:cNvSpPr>
          <p:nvPr/>
        </p:nvSpPr>
        <p:spPr>
          <a:xfrm xmlns:a="http://schemas.openxmlformats.org/drawingml/2006/main">
            <a:off x="7115175" y="4400550"/>
            <a:ext cx="438150" cy="9525"/>
          </a:xfrm>
          <a:custGeom xmlns:a="http://schemas.openxmlformats.org/drawingml/2006/main">
            <a:pathLst>
              <a:path w="438150" h="9525">
                <a:moveTo>
                  <a:pt x="0" y="0"/>
                </a:moveTo>
                <a:lnTo>
                  <a:pt x="438150" y="0"/>
                </a:lnTo>
              </a:path>
            </a:pathLst>
          </a:custGeom>
          <a:noFill xmlns:a="http://schemas.openxmlformats.org/drawingml/2006/main"/>
          <a:ln xmlns:a="http://schemas.openxmlformats.org/drawingml/2006/main" w="20955">
            <a:solidFill>
              <a:srgbClr val="231F20"/>
            </a:solidFill>
          </a:ln>
        </p:spPr>
      </p:sp>
      <p:sp>
        <p:nvSpPr>
          <p:cNvPr id="32" name="logic-64">
            <a:extLst xmlns:a="http://schemas.openxmlformats.org/drawingml/2006/main">
              <a:ext uri="{FF2B5EF4-FFF2-40B4-BE49-F238E27FC236}">
                <a16:creationId xmlns:a16="http://schemas.microsoft.com/office/drawing/2014/main" id="{2034F2CF-A733-4BF4-9174-270C86CA5E7D}"/>
              </a:ext>
            </a:extLst>
          </p:cNvPr>
          <p:cNvSpPr>
            <a:spLocks xmlns:a="http://schemas.openxmlformats.org/drawingml/2006/main" noGrp="1"/>
          </p:cNvSpPr>
          <p:nvPr/>
        </p:nvSpPr>
        <p:spPr>
          <a:xfrm xmlns:a="http://schemas.openxmlformats.org/drawingml/2006/main">
            <a:off x="7439025" y="435292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33" name="circuit-65">
            <a:extLst xmlns:a="http://schemas.openxmlformats.org/drawingml/2006/main">
              <a:ext uri="{FF2B5EF4-FFF2-40B4-BE49-F238E27FC236}">
                <a16:creationId xmlns:a16="http://schemas.microsoft.com/office/drawing/2014/main" id="{5F48AFC3-B7EA-4A17-9D87-493B3CD2AAC4}"/>
              </a:ext>
            </a:extLst>
          </p:cNvPr>
          <p:cNvSpPr>
            <a:spLocks xmlns:a="http://schemas.openxmlformats.org/drawingml/2006/main" noGrp="1"/>
          </p:cNvSpPr>
          <p:nvPr/>
        </p:nvSpPr>
        <p:spPr>
          <a:xfrm xmlns:a="http://schemas.openxmlformats.org/drawingml/2006/main">
            <a:off x="7553325" y="4943475"/>
            <a:ext cx="3343275" cy="72390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34" name="text-66">
            <a:extLst xmlns:a="http://schemas.openxmlformats.org/drawingml/2006/main">
              <a:ext uri="{FF2B5EF4-FFF2-40B4-BE49-F238E27FC236}">
                <a16:creationId xmlns:a16="http://schemas.microsoft.com/office/drawing/2014/main" id="{82B2E5FE-C16D-4963-AC62-1D599C530D42}"/>
              </a:ext>
            </a:extLst>
          </p:cNvPr>
          <p:cNvSpPr>
            <a:spLocks xmlns:a="http://schemas.openxmlformats.org/drawingml/2006/main" noGrp="1"/>
          </p:cNvSpPr>
          <p:nvPr/>
        </p:nvSpPr>
        <p:spPr>
          <a:xfrm xmlns:a="http://schemas.openxmlformats.org/drawingml/2006/main">
            <a:off x="7667625" y="5000625"/>
            <a:ext cx="31146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RasterIX</a:t>
            </a:r>
          </a:p>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描画回路</a:t>
            </a:r>
          </a:p>
        </p:txBody>
      </p:sp>
      <p:sp>
        <p:nvSpPr>
          <p:cNvPr id="35" name="wire-67">
            <a:extLst xmlns:a="http://schemas.openxmlformats.org/drawingml/2006/main">
              <a:ext uri="{FF2B5EF4-FFF2-40B4-BE49-F238E27FC236}">
                <a16:creationId xmlns:a16="http://schemas.microsoft.com/office/drawing/2014/main" id="{70DB5D4B-0854-4AA3-A924-A28D817E918E}"/>
              </a:ext>
            </a:extLst>
          </p:cNvPr>
          <p:cNvSpPr>
            <a:spLocks xmlns:a="http://schemas.openxmlformats.org/drawingml/2006/main" noGrp="1"/>
          </p:cNvSpPr>
          <p:nvPr/>
        </p:nvSpPr>
        <p:spPr>
          <a:xfrm xmlns:a="http://schemas.openxmlformats.org/drawingml/2006/main">
            <a:off x="8467725" y="4619625"/>
            <a:ext cx="9525" cy="323850"/>
          </a:xfrm>
          <a:custGeom xmlns:a="http://schemas.openxmlformats.org/drawingml/2006/main">
            <a:pathLst>
              <a:path w="9525" h="323850">
                <a:moveTo>
                  <a:pt x="0" y="0"/>
                </a:moveTo>
                <a:lnTo>
                  <a:pt x="0" y="323850"/>
                </a:lnTo>
              </a:path>
            </a:pathLst>
          </a:custGeom>
          <a:noFill xmlns:a="http://schemas.openxmlformats.org/drawingml/2006/main"/>
          <a:ln xmlns:a="http://schemas.openxmlformats.org/drawingml/2006/main" w="20955">
            <a:solidFill>
              <a:srgbClr val="231F20"/>
            </a:solidFill>
          </a:ln>
        </p:spPr>
      </p:sp>
      <p:sp>
        <p:nvSpPr>
          <p:cNvPr id="36" name="logic-68">
            <a:extLst xmlns:a="http://schemas.openxmlformats.org/drawingml/2006/main">
              <a:ext uri="{FF2B5EF4-FFF2-40B4-BE49-F238E27FC236}">
                <a16:creationId xmlns:a16="http://schemas.microsoft.com/office/drawing/2014/main" id="{1BA635AE-34DB-4096-9052-D06397797ACB}"/>
              </a:ext>
            </a:extLst>
          </p:cNvPr>
          <p:cNvSpPr>
            <a:spLocks xmlns:a="http://schemas.openxmlformats.org/drawingml/2006/main" noGrp="1"/>
          </p:cNvSpPr>
          <p:nvPr/>
        </p:nvSpPr>
        <p:spPr>
          <a:xfrm xmlns:a="http://schemas.openxmlformats.org/drawingml/2006/main">
            <a:off x="8420100" y="4829175"/>
            <a:ext cx="95250" cy="114300"/>
          </a:xfrm>
          <a:custGeom xmlns:a="http://schemas.openxmlformats.org/drawingml/2006/main">
            <a:pathLst>
              <a:path w="95250" h="114300">
                <a:moveTo>
                  <a:pt x="47625" y="114300"/>
                </a:moveTo>
                <a:lnTo>
                  <a:pt x="95250" y="0"/>
                </a:lnTo>
                <a:lnTo>
                  <a:pt x="0" y="0"/>
                </a:lnTo>
                <a:close/>
              </a:path>
            </a:pathLst>
          </a:custGeom>
          <a:solidFill xmlns:a="http://schemas.openxmlformats.org/drawingml/2006/main">
            <a:srgbClr val="231F20"/>
          </a:solidFill>
          <a:ln xmlns:a="http://schemas.openxmlformats.org/drawingml/2006/main" w="19050">
            <a:solidFill>
              <a:srgbClr val="231F20"/>
            </a:solidFill>
          </a:ln>
        </p:spPr>
      </p:sp>
      <p:sp>
        <p:nvSpPr>
          <p:cNvPr id="37" name="wire-69">
            <a:extLst xmlns:a="http://schemas.openxmlformats.org/drawingml/2006/main">
              <a:ext uri="{FF2B5EF4-FFF2-40B4-BE49-F238E27FC236}">
                <a16:creationId xmlns:a16="http://schemas.microsoft.com/office/drawing/2014/main" id="{77277122-AA44-46B6-93C2-4EE435A4BDE8}"/>
              </a:ext>
            </a:extLst>
          </p:cNvPr>
          <p:cNvSpPr>
            <a:spLocks xmlns:a="http://schemas.openxmlformats.org/drawingml/2006/main" noGrp="1"/>
          </p:cNvSpPr>
          <p:nvPr/>
        </p:nvSpPr>
        <p:spPr>
          <a:xfrm xmlns:a="http://schemas.openxmlformats.org/drawingml/2006/main">
            <a:off x="7229475" y="3400425"/>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955">
            <a:solidFill>
              <a:srgbClr val="231F20"/>
            </a:solidFill>
          </a:ln>
        </p:spPr>
      </p:sp>
      <p:sp>
        <p:nvSpPr>
          <p:cNvPr id="38" name="wire-70">
            <a:extLst xmlns:a="http://schemas.openxmlformats.org/drawingml/2006/main">
              <a:ext uri="{FF2B5EF4-FFF2-40B4-BE49-F238E27FC236}">
                <a16:creationId xmlns:a16="http://schemas.microsoft.com/office/drawing/2014/main" id="{FE4D91FF-7AD7-4AE4-9DC6-B845A73ACAD1}"/>
              </a:ext>
            </a:extLst>
          </p:cNvPr>
          <p:cNvSpPr>
            <a:spLocks xmlns:a="http://schemas.openxmlformats.org/drawingml/2006/main" noGrp="1"/>
          </p:cNvSpPr>
          <p:nvPr/>
        </p:nvSpPr>
        <p:spPr>
          <a:xfrm xmlns:a="http://schemas.openxmlformats.org/drawingml/2006/main">
            <a:off x="7477125" y="3400425"/>
            <a:ext cx="9525" cy="1838325"/>
          </a:xfrm>
          <a:custGeom xmlns:a="http://schemas.openxmlformats.org/drawingml/2006/main">
            <a:pathLst>
              <a:path w="9525" h="1838325">
                <a:moveTo>
                  <a:pt x="0" y="0"/>
                </a:moveTo>
                <a:lnTo>
                  <a:pt x="0" y="1838325"/>
                </a:lnTo>
              </a:path>
            </a:pathLst>
          </a:custGeom>
          <a:noFill xmlns:a="http://schemas.openxmlformats.org/drawingml/2006/main"/>
          <a:ln xmlns:a="http://schemas.openxmlformats.org/drawingml/2006/main" w="20955">
            <a:solidFill>
              <a:srgbClr val="231F20"/>
            </a:solidFill>
          </a:ln>
        </p:spPr>
      </p:sp>
      <p:sp>
        <p:nvSpPr>
          <p:cNvPr id="39" name="wire-71">
            <a:extLst xmlns:a="http://schemas.openxmlformats.org/drawingml/2006/main">
              <a:ext uri="{FF2B5EF4-FFF2-40B4-BE49-F238E27FC236}">
                <a16:creationId xmlns:a16="http://schemas.microsoft.com/office/drawing/2014/main" id="{717A87F1-89F1-4416-AFCD-C9B7BF9DB20E}"/>
              </a:ext>
            </a:extLst>
          </p:cNvPr>
          <p:cNvSpPr>
            <a:spLocks xmlns:a="http://schemas.openxmlformats.org/drawingml/2006/main" noGrp="1"/>
          </p:cNvSpPr>
          <p:nvPr/>
        </p:nvSpPr>
        <p:spPr>
          <a:xfrm xmlns:a="http://schemas.openxmlformats.org/drawingml/2006/main">
            <a:off x="7477125" y="523875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955">
            <a:solidFill>
              <a:srgbClr val="231F20"/>
            </a:solidFill>
          </a:ln>
        </p:spPr>
      </p:sp>
      <p:sp>
        <p:nvSpPr>
          <p:cNvPr id="40" name="wire-72">
            <a:extLst xmlns:a="http://schemas.openxmlformats.org/drawingml/2006/main">
              <a:ext uri="{FF2B5EF4-FFF2-40B4-BE49-F238E27FC236}">
                <a16:creationId xmlns:a16="http://schemas.microsoft.com/office/drawing/2014/main" id="{0B03AA88-E546-40A6-A03A-BAE9CAB453D9}"/>
              </a:ext>
            </a:extLst>
          </p:cNvPr>
          <p:cNvSpPr>
            <a:spLocks xmlns:a="http://schemas.openxmlformats.org/drawingml/2006/main" noGrp="1"/>
          </p:cNvSpPr>
          <p:nvPr/>
        </p:nvSpPr>
        <p:spPr>
          <a:xfrm xmlns:a="http://schemas.openxmlformats.org/drawingml/2006/main">
            <a:off x="7229475" y="3314700"/>
            <a:ext cx="1933575" cy="9525"/>
          </a:xfrm>
          <a:custGeom xmlns:a="http://schemas.openxmlformats.org/drawingml/2006/main">
            <a:pathLst>
              <a:path w="1933575" h="9525">
                <a:moveTo>
                  <a:pt x="0" y="0"/>
                </a:moveTo>
                <a:lnTo>
                  <a:pt x="1933575" y="0"/>
                </a:lnTo>
              </a:path>
            </a:pathLst>
          </a:custGeom>
          <a:noFill xmlns:a="http://schemas.openxmlformats.org/drawingml/2006/main"/>
          <a:ln xmlns:a="http://schemas.openxmlformats.org/drawingml/2006/main" w="20955">
            <a:solidFill>
              <a:srgbClr val="231F20"/>
            </a:solidFill>
          </a:ln>
        </p:spPr>
      </p:sp>
      <p:sp>
        <p:nvSpPr>
          <p:cNvPr id="41" name="logic-73">
            <a:extLst xmlns:a="http://schemas.openxmlformats.org/drawingml/2006/main">
              <a:ext uri="{FF2B5EF4-FFF2-40B4-BE49-F238E27FC236}">
                <a16:creationId xmlns:a16="http://schemas.microsoft.com/office/drawing/2014/main" id="{F43C9107-B8B0-4E1F-AE01-BE99930BB792}"/>
              </a:ext>
            </a:extLst>
          </p:cNvPr>
          <p:cNvSpPr>
            <a:spLocks xmlns:a="http://schemas.openxmlformats.org/drawingml/2006/main" noGrp="1"/>
          </p:cNvSpPr>
          <p:nvPr/>
        </p:nvSpPr>
        <p:spPr>
          <a:xfrm xmlns:a="http://schemas.openxmlformats.org/drawingml/2006/main">
            <a:off x="9048750" y="326707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42" name="text-74">
            <a:extLst xmlns:a="http://schemas.openxmlformats.org/drawingml/2006/main">
              <a:ext uri="{FF2B5EF4-FFF2-40B4-BE49-F238E27FC236}">
                <a16:creationId xmlns:a16="http://schemas.microsoft.com/office/drawing/2014/main" id="{29001FFD-A6B9-485C-8506-71A51653B050}"/>
              </a:ext>
            </a:extLst>
          </p:cNvPr>
          <p:cNvSpPr>
            <a:spLocks xmlns:a="http://schemas.openxmlformats.org/drawingml/2006/main" noGrp="1"/>
          </p:cNvSpPr>
          <p:nvPr/>
        </p:nvSpPr>
        <p:spPr>
          <a:xfrm xmlns:a="http://schemas.openxmlformats.org/drawingml/2006/main">
            <a:off x="7419975" y="2971800"/>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Meiryo"/>
                <a:ea typeface="Meiryo"/>
                <a:cs typeface="Meiryo"/>
              </a:defRPr>
            </a:defPPr>
          </a:lstStyle>
          <a:p xmlns:a="http://schemas.openxmlformats.org/drawingml/2006/main">
            <a:pPr algn="l">
              <a:defRPr sz="1500" b="0">
                <a:solidFill>
                  <a:srgbClr val="231F20"/>
                </a:solidFill>
                <a:latin typeface="Meiryo"/>
                <a:ea typeface="Meiryo"/>
                <a:cs typeface="Meiryo"/>
              </a:defRPr>
            </a:pPr>
            <a:r>
              <a:rPr sz="1500" b="0">
                <a:solidFill>
                  <a:srgbClr val="231F20"/>
                </a:solidFill>
                <a:latin typeface="Meiryo"/>
                <a:ea typeface="Meiryo"/>
                <a:cs typeface="Meiryo"/>
              </a:rPr>
              <a:t>画像の読出し</a:t>
            </a:r>
          </a:p>
        </p:txBody>
      </p:sp>
      <p:sp>
        <p:nvSpPr>
          <p:cNvPr id="43" name="wire-75">
            <a:extLst xmlns:a="http://schemas.openxmlformats.org/drawingml/2006/main">
              <a:ext uri="{FF2B5EF4-FFF2-40B4-BE49-F238E27FC236}">
                <a16:creationId xmlns:a16="http://schemas.microsoft.com/office/drawing/2014/main" id="{02DC308F-1460-4334-A561-BA42CB36522F}"/>
              </a:ext>
            </a:extLst>
          </p:cNvPr>
          <p:cNvSpPr>
            <a:spLocks xmlns:a="http://schemas.openxmlformats.org/drawingml/2006/main" noGrp="1"/>
          </p:cNvSpPr>
          <p:nvPr/>
        </p:nvSpPr>
        <p:spPr>
          <a:xfrm xmlns:a="http://schemas.openxmlformats.org/drawingml/2006/main">
            <a:off x="10391775" y="3714750"/>
            <a:ext cx="9525" cy="1228725"/>
          </a:xfrm>
          <a:custGeom xmlns:a="http://schemas.openxmlformats.org/drawingml/2006/main">
            <a:pathLst>
              <a:path w="9525" h="1228725">
                <a:moveTo>
                  <a:pt x="0" y="1228725"/>
                </a:moveTo>
                <a:lnTo>
                  <a:pt x="0" y="0"/>
                </a:lnTo>
              </a:path>
            </a:pathLst>
          </a:custGeom>
          <a:noFill xmlns:a="http://schemas.openxmlformats.org/drawingml/2006/main"/>
          <a:ln xmlns:a="http://schemas.openxmlformats.org/drawingml/2006/main" w="20955">
            <a:solidFill>
              <a:srgbClr val="1673C3"/>
            </a:solidFill>
          </a:ln>
        </p:spPr>
      </p:sp>
      <p:sp>
        <p:nvSpPr>
          <p:cNvPr id="44" name="logic-76">
            <a:extLst xmlns:a="http://schemas.openxmlformats.org/drawingml/2006/main">
              <a:ext uri="{FF2B5EF4-FFF2-40B4-BE49-F238E27FC236}">
                <a16:creationId xmlns:a16="http://schemas.microsoft.com/office/drawing/2014/main" id="{C8C9AB22-1B16-4FE6-9C6C-B1D69F6E8B9F}"/>
              </a:ext>
            </a:extLst>
          </p:cNvPr>
          <p:cNvSpPr>
            <a:spLocks xmlns:a="http://schemas.openxmlformats.org/drawingml/2006/main" noGrp="1"/>
          </p:cNvSpPr>
          <p:nvPr/>
        </p:nvSpPr>
        <p:spPr>
          <a:xfrm xmlns:a="http://schemas.openxmlformats.org/drawingml/2006/main">
            <a:off x="10344150" y="3714750"/>
            <a:ext cx="95250" cy="114300"/>
          </a:xfrm>
          <a:custGeom xmlns:a="http://schemas.openxmlformats.org/drawingml/2006/main">
            <a:pathLst>
              <a:path w="95250" h="114300">
                <a:moveTo>
                  <a:pt x="47625" y="0"/>
                </a:moveTo>
                <a:lnTo>
                  <a:pt x="0" y="114300"/>
                </a:lnTo>
                <a:lnTo>
                  <a:pt x="95250" y="114300"/>
                </a:lnTo>
                <a:close/>
              </a:path>
            </a:pathLst>
          </a:custGeom>
          <a:solidFill xmlns:a="http://schemas.openxmlformats.org/drawingml/2006/main">
            <a:srgbClr val="1673C3"/>
          </a:solidFill>
          <a:ln xmlns:a="http://schemas.openxmlformats.org/drawingml/2006/main" w="19050">
            <a:solidFill>
              <a:srgbClr val="1673C3"/>
            </a:solidFill>
          </a:ln>
        </p:spPr>
      </p:sp>
      <p:sp>
        <p:nvSpPr>
          <p:cNvPr id="45" name="text-77">
            <a:extLst xmlns:a="http://schemas.openxmlformats.org/drawingml/2006/main">
              <a:ext uri="{FF2B5EF4-FFF2-40B4-BE49-F238E27FC236}">
                <a16:creationId xmlns:a16="http://schemas.microsoft.com/office/drawing/2014/main" id="{E4F136EB-C842-4211-B774-F3E8992A7C7D}"/>
              </a:ext>
            </a:extLst>
          </p:cNvPr>
          <p:cNvSpPr>
            <a:spLocks xmlns:a="http://schemas.openxmlformats.org/drawingml/2006/main" noGrp="1"/>
          </p:cNvSpPr>
          <p:nvPr/>
        </p:nvSpPr>
        <p:spPr>
          <a:xfrm xmlns:a="http://schemas.openxmlformats.org/drawingml/2006/main">
            <a:off x="9382125" y="3743325"/>
            <a:ext cx="1638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1673C3"/>
                </a:solidFill>
                <a:latin typeface="Meiryo"/>
                <a:ea typeface="Meiryo"/>
                <a:cs typeface="Meiryo"/>
              </a:defRPr>
            </a:defPPr>
          </a:lstStyle>
          <a:p xmlns:a="http://schemas.openxmlformats.org/drawingml/2006/main">
            <a:pPr algn="l">
              <a:defRPr sz="1500" b="0">
                <a:solidFill>
                  <a:srgbClr val="1673C3"/>
                </a:solidFill>
                <a:latin typeface="Meiryo"/>
                <a:ea typeface="Meiryo"/>
                <a:cs typeface="Meiryo"/>
              </a:defRPr>
            </a:pPr>
            <a:r>
              <a:rPr sz="1500" b="0">
                <a:solidFill>
                  <a:srgbClr val="1673C3"/>
                </a:solidFill>
                <a:latin typeface="Meiryo"/>
                <a:ea typeface="Meiryo"/>
                <a:cs typeface="Meiryo"/>
              </a:rPr>
              <a:t>表示先の指定</a:t>
            </a:r>
          </a:p>
        </p:txBody>
      </p:sp>
      <p:sp>
        <p:nvSpPr>
          <p:cNvPr id="46" name="text-78">
            <a:extLst xmlns:a="http://schemas.openxmlformats.org/drawingml/2006/main">
              <a:ext uri="{FF2B5EF4-FFF2-40B4-BE49-F238E27FC236}">
                <a16:creationId xmlns:a16="http://schemas.microsoft.com/office/drawing/2014/main" id="{936B64A4-8488-4FFD-9E60-8CE3F4BACA27}"/>
              </a:ext>
            </a:extLst>
          </p:cNvPr>
          <p:cNvSpPr>
            <a:spLocks xmlns:a="http://schemas.openxmlformats.org/drawingml/2006/main" noGrp="1"/>
          </p:cNvSpPr>
          <p:nvPr/>
        </p:nvSpPr>
        <p:spPr>
          <a:xfrm xmlns:a="http://schemas.openxmlformats.org/drawingml/2006/main">
            <a:off x="4095750" y="631507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Meiryo"/>
                <a:ea typeface="Meiryo"/>
                <a:cs typeface="Meiryo"/>
              </a:defRPr>
            </a:defPPr>
          </a:lstStyle>
          <a:p xmlns:a="http://schemas.openxmlformats.org/drawingml/2006/main">
            <a:pPr algn="ctr">
              <a:defRPr sz="1725" b="0">
                <a:solidFill>
                  <a:srgbClr val="231F20"/>
                </a:solidFill>
                <a:latin typeface="Meiryo"/>
                <a:ea typeface="Meiryo"/>
                <a:cs typeface="Meiryo"/>
              </a:defRPr>
            </a:pPr>
            <a:r>
              <a:rPr sz="1725" b="0">
                <a:solidFill>
                  <a:srgbClr val="231F20"/>
                </a:solidFill>
                <a:latin typeface="Meiryo"/>
                <a:ea typeface="Meiryo"/>
                <a:cs typeface="Meiryo"/>
              </a:rPr>
              <a:t>CPUと描画側がDDR3を共有する</a:t>
            </a:r>
          </a:p>
        </p:txBody>
      </p:sp>
    </p:spTree>
    <p:extLst>
      <p:ext uri="{BB962C8B-B14F-4D97-AF65-F5344CB8AC3E}">
        <p14:creationId xmlns:p14="http://schemas.microsoft.com/office/powerpoint/2010/main" val="181526297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text-79">
            <a:extLst xmlns:a="http://schemas.openxmlformats.org/drawingml/2006/main">
              <a:ext uri="{FF2B5EF4-FFF2-40B4-BE49-F238E27FC236}">
                <a16:creationId xmlns:a16="http://schemas.microsoft.com/office/drawing/2014/main" id="{5E5071CC-3C9F-496A-BAB1-C178C124BB55}"/>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ゲームの状態を画像に変える</a:t>
            </a:r>
          </a:p>
        </p:txBody>
      </p:sp>
      <p:sp>
        <p:nvSpPr>
          <p:cNvPr id="2" name="text-80">
            <a:extLst xmlns:a="http://schemas.openxmlformats.org/drawingml/2006/main">
              <a:ext uri="{FF2B5EF4-FFF2-40B4-BE49-F238E27FC236}">
                <a16:creationId xmlns:a16="http://schemas.microsoft.com/office/drawing/2014/main" id="{378C1FAD-693E-4ED2-BA47-0877AAE5793C}"/>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4</a:t>
            </a:r>
          </a:p>
        </p:txBody>
      </p:sp>
      <p:sp>
        <p:nvSpPr>
          <p:cNvPr id="3" name="circuit-81">
            <a:extLst xmlns:a="http://schemas.openxmlformats.org/drawingml/2006/main">
              <a:ext uri="{FF2B5EF4-FFF2-40B4-BE49-F238E27FC236}">
                <a16:creationId xmlns:a16="http://schemas.microsoft.com/office/drawing/2014/main" id="{EE50C894-8895-4B03-94BA-A4D12C9DC4E5}"/>
              </a:ext>
            </a:extLst>
          </p:cNvPr>
          <p:cNvSpPr>
            <a:spLocks xmlns:a="http://schemas.openxmlformats.org/drawingml/2006/main" noGrp="1"/>
          </p:cNvSpPr>
          <p:nvPr/>
        </p:nvSpPr>
        <p:spPr>
          <a:xfrm xmlns:a="http://schemas.openxmlformats.org/drawingml/2006/main">
            <a:off x="609600" y="1847850"/>
            <a:ext cx="2343150"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4" name="text-82">
            <a:extLst xmlns:a="http://schemas.openxmlformats.org/drawingml/2006/main">
              <a:ext uri="{FF2B5EF4-FFF2-40B4-BE49-F238E27FC236}">
                <a16:creationId xmlns:a16="http://schemas.microsoft.com/office/drawing/2014/main" id="{18CB5927-CB33-4788-B639-9200AD5F4F64}"/>
              </a:ext>
            </a:extLst>
          </p:cNvPr>
          <p:cNvSpPr>
            <a:spLocks xmlns:a="http://schemas.openxmlformats.org/drawingml/2006/main" noGrp="1"/>
          </p:cNvSpPr>
          <p:nvPr/>
        </p:nvSpPr>
        <p:spPr>
          <a:xfrm xmlns:a="http://schemas.openxmlformats.org/drawingml/2006/main">
            <a:off x="723900" y="190500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CPUで位置を更新</a:t>
            </a:r>
          </a:p>
        </p:txBody>
      </p:sp>
      <p:sp>
        <p:nvSpPr>
          <p:cNvPr id="5" name="circuit-83">
            <a:extLst xmlns:a="http://schemas.openxmlformats.org/drawingml/2006/main">
              <a:ext uri="{FF2B5EF4-FFF2-40B4-BE49-F238E27FC236}">
                <a16:creationId xmlns:a16="http://schemas.microsoft.com/office/drawing/2014/main" id="{2984D5CF-633B-4221-AABD-B8BAC590EE3A}"/>
              </a:ext>
            </a:extLst>
          </p:cNvPr>
          <p:cNvSpPr>
            <a:spLocks xmlns:a="http://schemas.openxmlformats.org/drawingml/2006/main" noGrp="1"/>
          </p:cNvSpPr>
          <p:nvPr/>
        </p:nvSpPr>
        <p:spPr>
          <a:xfrm xmlns:a="http://schemas.openxmlformats.org/drawingml/2006/main">
            <a:off x="3514725" y="1847850"/>
            <a:ext cx="2343150"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6" name="text-84">
            <a:extLst xmlns:a="http://schemas.openxmlformats.org/drawingml/2006/main">
              <a:ext uri="{FF2B5EF4-FFF2-40B4-BE49-F238E27FC236}">
                <a16:creationId xmlns:a16="http://schemas.microsoft.com/office/drawing/2014/main" id="{2D5F3999-7048-460A-A141-758A8911F0D9}"/>
              </a:ext>
            </a:extLst>
          </p:cNvPr>
          <p:cNvSpPr>
            <a:spLocks xmlns:a="http://schemas.openxmlformats.org/drawingml/2006/main" noGrp="1"/>
          </p:cNvSpPr>
          <p:nvPr/>
        </p:nvSpPr>
        <p:spPr>
          <a:xfrm xmlns:a="http://schemas.openxmlformats.org/drawingml/2006/main">
            <a:off x="3629025" y="190500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描画命令を用意</a:t>
            </a:r>
          </a:p>
        </p:txBody>
      </p:sp>
      <p:sp>
        <p:nvSpPr>
          <p:cNvPr id="7" name="circuit-85">
            <a:extLst xmlns:a="http://schemas.openxmlformats.org/drawingml/2006/main">
              <a:ext uri="{FF2B5EF4-FFF2-40B4-BE49-F238E27FC236}">
                <a16:creationId xmlns:a16="http://schemas.microsoft.com/office/drawing/2014/main" id="{0A0799C3-FFFA-4894-92FC-894598F867E3}"/>
              </a:ext>
            </a:extLst>
          </p:cNvPr>
          <p:cNvSpPr>
            <a:spLocks xmlns:a="http://schemas.openxmlformats.org/drawingml/2006/main" noGrp="1"/>
          </p:cNvSpPr>
          <p:nvPr/>
        </p:nvSpPr>
        <p:spPr>
          <a:xfrm xmlns:a="http://schemas.openxmlformats.org/drawingml/2006/main">
            <a:off x="6419850" y="1847850"/>
            <a:ext cx="2343150"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8" name="text-86">
            <a:extLst xmlns:a="http://schemas.openxmlformats.org/drawingml/2006/main">
              <a:ext uri="{FF2B5EF4-FFF2-40B4-BE49-F238E27FC236}">
                <a16:creationId xmlns:a16="http://schemas.microsoft.com/office/drawing/2014/main" id="{B2B1D937-F6C0-4A2B-9E3F-E77D401365F4}"/>
              </a:ext>
            </a:extLst>
          </p:cNvPr>
          <p:cNvSpPr>
            <a:spLocks xmlns:a="http://schemas.openxmlformats.org/drawingml/2006/main" noGrp="1"/>
          </p:cNvSpPr>
          <p:nvPr/>
        </p:nvSpPr>
        <p:spPr>
          <a:xfrm xmlns:a="http://schemas.openxmlformats.org/drawingml/2006/main">
            <a:off x="6534150" y="1905000"/>
            <a:ext cx="21145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RasterIXで描画</a:t>
            </a:r>
          </a:p>
        </p:txBody>
      </p:sp>
      <p:sp>
        <p:nvSpPr>
          <p:cNvPr id="9" name="circuit-87">
            <a:extLst xmlns:a="http://schemas.openxmlformats.org/drawingml/2006/main">
              <a:ext uri="{FF2B5EF4-FFF2-40B4-BE49-F238E27FC236}">
                <a16:creationId xmlns:a16="http://schemas.microsoft.com/office/drawing/2014/main" id="{D89AB0C2-3648-4193-912D-8194B61B839A}"/>
              </a:ext>
            </a:extLst>
          </p:cNvPr>
          <p:cNvSpPr>
            <a:spLocks xmlns:a="http://schemas.openxmlformats.org/drawingml/2006/main" noGrp="1"/>
          </p:cNvSpPr>
          <p:nvPr/>
        </p:nvSpPr>
        <p:spPr>
          <a:xfrm xmlns:a="http://schemas.openxmlformats.org/drawingml/2006/main">
            <a:off x="9324975" y="1847850"/>
            <a:ext cx="2257425" cy="666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0" name="text-88">
            <a:extLst xmlns:a="http://schemas.openxmlformats.org/drawingml/2006/main">
              <a:ext uri="{FF2B5EF4-FFF2-40B4-BE49-F238E27FC236}">
                <a16:creationId xmlns:a16="http://schemas.microsoft.com/office/drawing/2014/main" id="{E6233557-BCC5-41B2-8A99-03D36B24E789}"/>
              </a:ext>
            </a:extLst>
          </p:cNvPr>
          <p:cNvSpPr>
            <a:spLocks xmlns:a="http://schemas.openxmlformats.org/drawingml/2006/main" noGrp="1"/>
          </p:cNvSpPr>
          <p:nvPr/>
        </p:nvSpPr>
        <p:spPr>
          <a:xfrm xmlns:a="http://schemas.openxmlformats.org/drawingml/2006/main">
            <a:off x="9439275" y="1905000"/>
            <a:ext cx="20288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画面へ表示</a:t>
            </a:r>
          </a:p>
        </p:txBody>
      </p:sp>
      <p:sp>
        <p:nvSpPr>
          <p:cNvPr id="11" name="wire-89">
            <a:extLst xmlns:a="http://schemas.openxmlformats.org/drawingml/2006/main">
              <a:ext uri="{FF2B5EF4-FFF2-40B4-BE49-F238E27FC236}">
                <a16:creationId xmlns:a16="http://schemas.microsoft.com/office/drawing/2014/main" id="{2974A33F-9E07-4939-8CB2-4A3C8E13678A}"/>
              </a:ext>
            </a:extLst>
          </p:cNvPr>
          <p:cNvSpPr>
            <a:spLocks xmlns:a="http://schemas.openxmlformats.org/drawingml/2006/main" noGrp="1"/>
          </p:cNvSpPr>
          <p:nvPr/>
        </p:nvSpPr>
        <p:spPr>
          <a:xfrm xmlns:a="http://schemas.openxmlformats.org/drawingml/2006/main">
            <a:off x="3009900" y="21812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20955">
            <a:solidFill>
              <a:srgbClr val="231F20"/>
            </a:solidFill>
          </a:ln>
        </p:spPr>
      </p:sp>
      <p:sp>
        <p:nvSpPr>
          <p:cNvPr id="12" name="logic-90">
            <a:extLst xmlns:a="http://schemas.openxmlformats.org/drawingml/2006/main">
              <a:ext uri="{FF2B5EF4-FFF2-40B4-BE49-F238E27FC236}">
                <a16:creationId xmlns:a16="http://schemas.microsoft.com/office/drawing/2014/main" id="{D84BBE1F-B1B1-4D77-8825-2A0E853C0C8A}"/>
              </a:ext>
            </a:extLst>
          </p:cNvPr>
          <p:cNvSpPr>
            <a:spLocks xmlns:a="http://schemas.openxmlformats.org/drawingml/2006/main" noGrp="1"/>
          </p:cNvSpPr>
          <p:nvPr/>
        </p:nvSpPr>
        <p:spPr>
          <a:xfrm xmlns:a="http://schemas.openxmlformats.org/drawingml/2006/main">
            <a:off x="3324225" y="2133600"/>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3" name="wire-91">
            <a:extLst xmlns:a="http://schemas.openxmlformats.org/drawingml/2006/main">
              <a:ext uri="{FF2B5EF4-FFF2-40B4-BE49-F238E27FC236}">
                <a16:creationId xmlns:a16="http://schemas.microsoft.com/office/drawing/2014/main" id="{870CFA7F-B35A-488B-BDB2-A123305BFDFD}"/>
              </a:ext>
            </a:extLst>
          </p:cNvPr>
          <p:cNvSpPr>
            <a:spLocks xmlns:a="http://schemas.openxmlformats.org/drawingml/2006/main" noGrp="1"/>
          </p:cNvSpPr>
          <p:nvPr/>
        </p:nvSpPr>
        <p:spPr>
          <a:xfrm xmlns:a="http://schemas.openxmlformats.org/drawingml/2006/main">
            <a:off x="5915025" y="21812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20955">
            <a:solidFill>
              <a:srgbClr val="231F20"/>
            </a:solidFill>
          </a:ln>
        </p:spPr>
      </p:sp>
      <p:sp>
        <p:nvSpPr>
          <p:cNvPr id="14" name="logic-92">
            <a:extLst xmlns:a="http://schemas.openxmlformats.org/drawingml/2006/main">
              <a:ext uri="{FF2B5EF4-FFF2-40B4-BE49-F238E27FC236}">
                <a16:creationId xmlns:a16="http://schemas.microsoft.com/office/drawing/2014/main" id="{5CD782A3-4F49-4D49-9DB3-87A752F3269C}"/>
              </a:ext>
            </a:extLst>
          </p:cNvPr>
          <p:cNvSpPr>
            <a:spLocks xmlns:a="http://schemas.openxmlformats.org/drawingml/2006/main" noGrp="1"/>
          </p:cNvSpPr>
          <p:nvPr/>
        </p:nvSpPr>
        <p:spPr>
          <a:xfrm xmlns:a="http://schemas.openxmlformats.org/drawingml/2006/main">
            <a:off x="6229350" y="2133600"/>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5" name="wire-93">
            <a:extLst xmlns:a="http://schemas.openxmlformats.org/drawingml/2006/main">
              <a:ext uri="{FF2B5EF4-FFF2-40B4-BE49-F238E27FC236}">
                <a16:creationId xmlns:a16="http://schemas.microsoft.com/office/drawing/2014/main" id="{A77654F6-6E9A-423A-AE7F-D74A13E4FDC1}"/>
              </a:ext>
            </a:extLst>
          </p:cNvPr>
          <p:cNvSpPr>
            <a:spLocks xmlns:a="http://schemas.openxmlformats.org/drawingml/2006/main" noGrp="1"/>
          </p:cNvSpPr>
          <p:nvPr/>
        </p:nvSpPr>
        <p:spPr>
          <a:xfrm xmlns:a="http://schemas.openxmlformats.org/drawingml/2006/main">
            <a:off x="8820150" y="21812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20955">
            <a:solidFill>
              <a:srgbClr val="231F20"/>
            </a:solidFill>
          </a:ln>
        </p:spPr>
      </p:sp>
      <p:sp>
        <p:nvSpPr>
          <p:cNvPr id="16" name="logic-94">
            <a:extLst xmlns:a="http://schemas.openxmlformats.org/drawingml/2006/main">
              <a:ext uri="{FF2B5EF4-FFF2-40B4-BE49-F238E27FC236}">
                <a16:creationId xmlns:a16="http://schemas.microsoft.com/office/drawing/2014/main" id="{584A59F3-DB02-492E-AF9E-29A998C30EB4}"/>
              </a:ext>
            </a:extLst>
          </p:cNvPr>
          <p:cNvSpPr>
            <a:spLocks xmlns:a="http://schemas.openxmlformats.org/drawingml/2006/main" noGrp="1"/>
          </p:cNvSpPr>
          <p:nvPr/>
        </p:nvSpPr>
        <p:spPr>
          <a:xfrm xmlns:a="http://schemas.openxmlformats.org/drawingml/2006/main">
            <a:off x="9134475" y="2133600"/>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7" name="text-95">
            <a:extLst xmlns:a="http://schemas.openxmlformats.org/drawingml/2006/main">
              <a:ext uri="{FF2B5EF4-FFF2-40B4-BE49-F238E27FC236}">
                <a16:creationId xmlns:a16="http://schemas.microsoft.com/office/drawing/2014/main" id="{C0C27C63-22AA-4360-9D6C-9062B10B49FC}"/>
              </a:ext>
            </a:extLst>
          </p:cNvPr>
          <p:cNvSpPr>
            <a:spLocks xmlns:a="http://schemas.openxmlformats.org/drawingml/2006/main" noGrp="1"/>
          </p:cNvSpPr>
          <p:nvPr/>
        </p:nvSpPr>
        <p:spPr>
          <a:xfrm xmlns:a="http://schemas.openxmlformats.org/drawingml/2006/main">
            <a:off x="704850" y="3143250"/>
            <a:ext cx="2152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ボールの位置</a:t>
            </a:r>
          </a:p>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(x, y)</a:t>
            </a:r>
          </a:p>
        </p:txBody>
      </p:sp>
      <p:sp>
        <p:nvSpPr>
          <p:cNvPr id="18" name="text-96">
            <a:extLst xmlns:a="http://schemas.openxmlformats.org/drawingml/2006/main">
              <a:ext uri="{FF2B5EF4-FFF2-40B4-BE49-F238E27FC236}">
                <a16:creationId xmlns:a16="http://schemas.microsoft.com/office/drawing/2014/main" id="{7134E0A0-A2CE-48BF-A9FA-6CBC20C3215C}"/>
              </a:ext>
            </a:extLst>
          </p:cNvPr>
          <p:cNvSpPr>
            <a:spLocks xmlns:a="http://schemas.openxmlformats.org/drawingml/2006/main" noGrp="1"/>
          </p:cNvSpPr>
          <p:nvPr/>
        </p:nvSpPr>
        <p:spPr>
          <a:xfrm xmlns:a="http://schemas.openxmlformats.org/drawingml/2006/main">
            <a:off x="3609975" y="3067050"/>
            <a:ext cx="21526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Meiryo"/>
                <a:ea typeface="Meiryo"/>
                <a:cs typeface="Meiryo"/>
              </a:defRPr>
            </a:defPPr>
          </a:lstStyle>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位置・大きさ・色を</a:t>
            </a:r>
          </a:p>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数値列にして</a:t>
            </a:r>
          </a:p>
          <a:p xmlns:a="http://schemas.openxmlformats.org/drawingml/2006/main">
            <a:pPr algn="ctr">
              <a:defRPr sz="1875" b="0">
                <a:solidFill>
                  <a:srgbClr val="231F20"/>
                </a:solidFill>
                <a:latin typeface="Meiryo"/>
                <a:ea typeface="Meiryo"/>
                <a:cs typeface="Meiryo"/>
              </a:defRPr>
            </a:pPr>
            <a:r>
              <a:rPr sz="1875" b="0">
                <a:solidFill>
                  <a:srgbClr val="231F20"/>
                </a:solidFill>
                <a:latin typeface="Meiryo"/>
                <a:ea typeface="Meiryo"/>
                <a:cs typeface="Meiryo"/>
              </a:rPr>
              <a:t>メモリに保存</a:t>
            </a:r>
          </a:p>
        </p:txBody>
      </p:sp>
      <p:sp>
        <p:nvSpPr>
          <p:cNvPr id="19" name="text-97">
            <a:extLst xmlns:a="http://schemas.openxmlformats.org/drawingml/2006/main">
              <a:ext uri="{FF2B5EF4-FFF2-40B4-BE49-F238E27FC236}">
                <a16:creationId xmlns:a16="http://schemas.microsoft.com/office/drawing/2014/main" id="{0EA3CC78-3A05-4276-9CC5-A1DEA1883006}"/>
              </a:ext>
            </a:extLst>
          </p:cNvPr>
          <p:cNvSpPr>
            <a:spLocks xmlns:a="http://schemas.openxmlformats.org/drawingml/2006/main" noGrp="1"/>
          </p:cNvSpPr>
          <p:nvPr/>
        </p:nvSpPr>
        <p:spPr>
          <a:xfrm xmlns:a="http://schemas.openxmlformats.org/drawingml/2006/main">
            <a:off x="6515100" y="3143250"/>
            <a:ext cx="2152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画素の色を</a:t>
            </a:r>
          </a:p>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メモリへ保存</a:t>
            </a:r>
          </a:p>
        </p:txBody>
      </p:sp>
      <p:sp>
        <p:nvSpPr>
          <p:cNvPr id="20" name="circuit-98">
            <a:extLst xmlns:a="http://schemas.openxmlformats.org/drawingml/2006/main">
              <a:ext uri="{FF2B5EF4-FFF2-40B4-BE49-F238E27FC236}">
                <a16:creationId xmlns:a16="http://schemas.microsoft.com/office/drawing/2014/main" id="{DB407B34-2BDE-42E3-90C6-65504065EDFC}"/>
              </a:ext>
            </a:extLst>
          </p:cNvPr>
          <p:cNvSpPr>
            <a:spLocks xmlns:a="http://schemas.openxmlformats.org/drawingml/2006/main" noGrp="1"/>
          </p:cNvSpPr>
          <p:nvPr/>
        </p:nvSpPr>
        <p:spPr>
          <a:xfrm xmlns:a="http://schemas.openxmlformats.org/drawingml/2006/main">
            <a:off x="9553575" y="3105150"/>
            <a:ext cx="1704975" cy="1238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21" name="circuit-99">
            <a:extLst xmlns:a="http://schemas.openxmlformats.org/drawingml/2006/main">
              <a:ext uri="{FF2B5EF4-FFF2-40B4-BE49-F238E27FC236}">
                <a16:creationId xmlns:a16="http://schemas.microsoft.com/office/drawing/2014/main" id="{372136B0-56C4-4104-875A-8F1288A616BE}"/>
              </a:ext>
            </a:extLst>
          </p:cNvPr>
          <p:cNvSpPr>
            <a:spLocks xmlns:a="http://schemas.openxmlformats.org/drawingml/2006/main" noGrp="1"/>
          </p:cNvSpPr>
          <p:nvPr/>
        </p:nvSpPr>
        <p:spPr>
          <a:xfrm xmlns:a="http://schemas.openxmlformats.org/drawingml/2006/main">
            <a:off x="10106025" y="3562350"/>
            <a:ext cx="333375" cy="333375"/>
          </a:xfrm>
          <a:prstGeom xmlns:a="http://schemas.openxmlformats.org/drawingml/2006/main" prst="rect">
            <a:avLst/>
          </a:prstGeom>
          <a:solidFill xmlns:a="http://schemas.openxmlformats.org/drawingml/2006/main">
            <a:srgbClr val="1673C3"/>
          </a:solidFill>
          <a:ln xmlns:a="http://schemas.openxmlformats.org/drawingml/2006/main" w="19050">
            <a:solidFill>
              <a:srgbClr val="231F20"/>
            </a:solidFill>
          </a:ln>
        </p:spPr>
      </p:sp>
      <p:sp>
        <p:nvSpPr>
          <p:cNvPr id="22" name="wire-100">
            <a:extLst xmlns:a="http://schemas.openxmlformats.org/drawingml/2006/main">
              <a:ext uri="{FF2B5EF4-FFF2-40B4-BE49-F238E27FC236}">
                <a16:creationId xmlns:a16="http://schemas.microsoft.com/office/drawing/2014/main" id="{F74A872A-64FE-4612-9A0C-8BFC65EE15A3}"/>
              </a:ext>
            </a:extLst>
          </p:cNvPr>
          <p:cNvSpPr>
            <a:spLocks xmlns:a="http://schemas.openxmlformats.org/drawingml/2006/main" noGrp="1"/>
          </p:cNvSpPr>
          <p:nvPr/>
        </p:nvSpPr>
        <p:spPr>
          <a:xfrm xmlns:a="http://schemas.openxmlformats.org/drawingml/2006/main">
            <a:off x="10410825" y="4343400"/>
            <a:ext cx="9525" cy="219075"/>
          </a:xfrm>
          <a:custGeom xmlns:a="http://schemas.openxmlformats.org/drawingml/2006/main">
            <a:pathLst>
              <a:path w="9525" h="219075">
                <a:moveTo>
                  <a:pt x="0" y="0"/>
                </a:moveTo>
                <a:lnTo>
                  <a:pt x="0" y="219075"/>
                </a:lnTo>
              </a:path>
            </a:pathLst>
          </a:custGeom>
          <a:noFill xmlns:a="http://schemas.openxmlformats.org/drawingml/2006/main"/>
          <a:ln xmlns:a="http://schemas.openxmlformats.org/drawingml/2006/main" w="20955">
            <a:solidFill>
              <a:srgbClr val="231F20"/>
            </a:solidFill>
          </a:ln>
        </p:spPr>
      </p:sp>
      <p:sp>
        <p:nvSpPr>
          <p:cNvPr id="23" name="wire-101">
            <a:extLst xmlns:a="http://schemas.openxmlformats.org/drawingml/2006/main">
              <a:ext uri="{FF2B5EF4-FFF2-40B4-BE49-F238E27FC236}">
                <a16:creationId xmlns:a16="http://schemas.microsoft.com/office/drawing/2014/main" id="{168454AA-98E7-4D1A-A29D-6C14BD372971}"/>
              </a:ext>
            </a:extLst>
          </p:cNvPr>
          <p:cNvSpPr>
            <a:spLocks xmlns:a="http://schemas.openxmlformats.org/drawingml/2006/main" noGrp="1"/>
          </p:cNvSpPr>
          <p:nvPr/>
        </p:nvSpPr>
        <p:spPr>
          <a:xfrm xmlns:a="http://schemas.openxmlformats.org/drawingml/2006/main">
            <a:off x="10172700" y="456247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20955">
            <a:solidFill>
              <a:srgbClr val="231F20"/>
            </a:solidFill>
          </a:ln>
        </p:spPr>
      </p:sp>
      <p:sp>
        <p:nvSpPr>
          <p:cNvPr id="24" name="text-102">
            <a:extLst xmlns:a="http://schemas.openxmlformats.org/drawingml/2006/main">
              <a:ext uri="{FF2B5EF4-FFF2-40B4-BE49-F238E27FC236}">
                <a16:creationId xmlns:a16="http://schemas.microsoft.com/office/drawing/2014/main" id="{50ACC1E6-BCA2-4DF0-A52E-A45D82B97E48}"/>
              </a:ext>
            </a:extLst>
          </p:cNvPr>
          <p:cNvSpPr>
            <a:spLocks xmlns:a="http://schemas.openxmlformats.org/drawingml/2006/main" noGrp="1"/>
          </p:cNvSpPr>
          <p:nvPr/>
        </p:nvSpPr>
        <p:spPr>
          <a:xfrm xmlns:a="http://schemas.openxmlformats.org/drawingml/2006/main">
            <a:off x="3000375" y="4857750"/>
            <a:ext cx="657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00" b="1">
                <a:solidFill>
                  <a:srgbClr val="231F20"/>
                </a:solidFill>
                <a:latin typeface="Meiryo"/>
                <a:ea typeface="Meiryo"/>
                <a:cs typeface="Meiryo"/>
              </a:defRPr>
            </a:defPPr>
          </a:lstStyle>
          <a:p xmlns:a="http://schemas.openxmlformats.org/drawingml/2006/main">
            <a:pPr algn="ctr">
              <a:defRPr sz="2400" b="1">
                <a:solidFill>
                  <a:srgbClr val="231F20"/>
                </a:solidFill>
                <a:latin typeface="Meiryo"/>
                <a:ea typeface="Meiryo"/>
                <a:cs typeface="Meiryo"/>
              </a:defRPr>
            </a:pPr>
            <a:r>
              <a:rPr sz="2400" b="1">
                <a:solidFill>
                  <a:srgbClr val="231F20"/>
                </a:solidFill>
                <a:latin typeface="Meiryo"/>
                <a:ea typeface="Meiryo"/>
                <a:cs typeface="Meiryo"/>
              </a:rPr>
              <a:t>一画面分の処理を繰り返す</a:t>
            </a:r>
          </a:p>
        </p:txBody>
      </p:sp>
      <p:sp>
        <p:nvSpPr>
          <p:cNvPr id="25" name="text-103">
            <a:extLst xmlns:a="http://schemas.openxmlformats.org/drawingml/2006/main">
              <a:ext uri="{FF2B5EF4-FFF2-40B4-BE49-F238E27FC236}">
                <a16:creationId xmlns:a16="http://schemas.microsoft.com/office/drawing/2014/main" id="{F344C147-27D7-4159-B44E-166BCCF6D947}"/>
              </a:ext>
            </a:extLst>
          </p:cNvPr>
          <p:cNvSpPr>
            <a:spLocks xmlns:a="http://schemas.openxmlformats.org/drawingml/2006/main" noGrp="1"/>
          </p:cNvSpPr>
          <p:nvPr/>
        </p:nvSpPr>
        <p:spPr>
          <a:xfrm xmlns:a="http://schemas.openxmlformats.org/drawingml/2006/main">
            <a:off x="762000" y="5619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同じ設定の図形をまとめ、変わった部分だけ描き直す</a:t>
            </a:r>
          </a:p>
        </p:txBody>
      </p:sp>
    </p:spTree>
    <p:extLst>
      <p:ext uri="{BB962C8B-B14F-4D97-AF65-F5344CB8AC3E}">
        <p14:creationId xmlns:p14="http://schemas.microsoft.com/office/powerpoint/2010/main" val="299694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104">
            <a:extLst xmlns:a="http://schemas.openxmlformats.org/drawingml/2006/main">
              <a:ext uri="{FF2B5EF4-FFF2-40B4-BE49-F238E27FC236}">
                <a16:creationId xmlns:a16="http://schemas.microsoft.com/office/drawing/2014/main" id="{476E555F-0BEA-489C-A962-CAA8078AAAD8}"/>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命令を預けて、CPUの待ちを減らす</a:t>
            </a:r>
          </a:p>
        </p:txBody>
      </p:sp>
      <p:sp>
        <p:nvSpPr>
          <p:cNvPr id="2" name="text-105">
            <a:extLst xmlns:a="http://schemas.openxmlformats.org/drawingml/2006/main">
              <a:ext uri="{FF2B5EF4-FFF2-40B4-BE49-F238E27FC236}">
                <a16:creationId xmlns:a16="http://schemas.microsoft.com/office/drawing/2014/main" id="{1AEDB49A-7F71-4EE5-B7E6-A297E71DE80E}"/>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5</a:t>
            </a:r>
          </a:p>
        </p:txBody>
      </p:sp>
      <p:sp>
        <p:nvSpPr>
          <p:cNvPr id="3" name="circuit-106">
            <a:extLst xmlns:a="http://schemas.openxmlformats.org/drawingml/2006/main">
              <a:ext uri="{FF2B5EF4-FFF2-40B4-BE49-F238E27FC236}">
                <a16:creationId xmlns:a16="http://schemas.microsoft.com/office/drawing/2014/main" id="{0B532AC3-CE17-42A9-A147-95308DE11325}"/>
              </a:ext>
            </a:extLst>
          </p:cNvPr>
          <p:cNvSpPr>
            <a:spLocks xmlns:a="http://schemas.openxmlformats.org/drawingml/2006/main" noGrp="1"/>
          </p:cNvSpPr>
          <p:nvPr/>
        </p:nvSpPr>
        <p:spPr>
          <a:xfrm xmlns:a="http://schemas.openxmlformats.org/drawingml/2006/main">
            <a:off x="819150" y="1695450"/>
            <a:ext cx="2381250" cy="10477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4" name="text-107">
            <a:extLst xmlns:a="http://schemas.openxmlformats.org/drawingml/2006/main">
              <a:ext uri="{FF2B5EF4-FFF2-40B4-BE49-F238E27FC236}">
                <a16:creationId xmlns:a16="http://schemas.microsoft.com/office/drawing/2014/main" id="{B34A5BF8-AAF7-4A76-9E61-1DBC24D0264E}"/>
              </a:ext>
            </a:extLst>
          </p:cNvPr>
          <p:cNvSpPr>
            <a:spLocks xmlns:a="http://schemas.openxmlformats.org/drawingml/2006/main" noGrp="1"/>
          </p:cNvSpPr>
          <p:nvPr/>
        </p:nvSpPr>
        <p:spPr>
          <a:xfrm xmlns:a="http://schemas.openxmlformats.org/drawingml/2006/main">
            <a:off x="933450" y="1752600"/>
            <a:ext cx="2152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Wally</a:t>
            </a:r>
          </a:p>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20 MHz</a:t>
            </a:r>
          </a:p>
        </p:txBody>
      </p:sp>
      <p:sp>
        <p:nvSpPr>
          <p:cNvPr id="5" name="circuit-108">
            <a:extLst xmlns:a="http://schemas.openxmlformats.org/drawingml/2006/main">
              <a:ext uri="{FF2B5EF4-FFF2-40B4-BE49-F238E27FC236}">
                <a16:creationId xmlns:a16="http://schemas.microsoft.com/office/drawing/2014/main" id="{B7B18C24-702E-4410-8536-452AA5A3E772}"/>
              </a:ext>
            </a:extLst>
          </p:cNvPr>
          <p:cNvSpPr>
            <a:spLocks xmlns:a="http://schemas.openxmlformats.org/drawingml/2006/main" noGrp="1"/>
          </p:cNvSpPr>
          <p:nvPr/>
        </p:nvSpPr>
        <p:spPr>
          <a:xfrm xmlns:a="http://schemas.openxmlformats.org/drawingml/2006/main">
            <a:off x="4295775" y="1695450"/>
            <a:ext cx="3524250" cy="10477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6" name="text-109">
            <a:extLst xmlns:a="http://schemas.openxmlformats.org/drawingml/2006/main">
              <a:ext uri="{FF2B5EF4-FFF2-40B4-BE49-F238E27FC236}">
                <a16:creationId xmlns:a16="http://schemas.microsoft.com/office/drawing/2014/main" id="{A0401B4B-6898-461A-933E-8F627354167A}"/>
              </a:ext>
            </a:extLst>
          </p:cNvPr>
          <p:cNvSpPr>
            <a:spLocks xmlns:a="http://schemas.openxmlformats.org/drawingml/2006/main" noGrp="1"/>
          </p:cNvSpPr>
          <p:nvPr/>
        </p:nvSpPr>
        <p:spPr>
          <a:xfrm xmlns:a="http://schemas.openxmlformats.org/drawingml/2006/main">
            <a:off x="4410075" y="1752600"/>
            <a:ext cx="3295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0">
                <a:solidFill>
                  <a:srgbClr val="231F20"/>
                </a:solidFill>
                <a:latin typeface="Meiryo"/>
                <a:ea typeface="Meiryo"/>
                <a:cs typeface="Meiryo"/>
              </a:defRPr>
            </a:defPPr>
          </a:lstStyle>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FIFO</a:t>
            </a:r>
          </a:p>
          <a:p xmlns:a="http://schemas.openxmlformats.org/drawingml/2006/main">
            <a:pPr algn="ctr">
              <a:defRPr sz="2100" b="0">
                <a:solidFill>
                  <a:srgbClr val="231F20"/>
                </a:solidFill>
                <a:latin typeface="Meiryo"/>
                <a:ea typeface="Meiryo"/>
                <a:cs typeface="Meiryo"/>
              </a:defRPr>
            </a:pPr>
            <a:r>
              <a:rPr sz="2100" b="0">
                <a:solidFill>
                  <a:srgbClr val="231F20"/>
                </a:solidFill>
                <a:latin typeface="Meiryo"/>
                <a:ea typeface="Meiryo"/>
                <a:cs typeface="Meiryo"/>
              </a:rPr>
              <a:t>命令を順番に保存</a:t>
            </a:r>
          </a:p>
        </p:txBody>
      </p:sp>
      <p:sp>
        <p:nvSpPr>
          <p:cNvPr id="7" name="circuit-110">
            <a:extLst xmlns:a="http://schemas.openxmlformats.org/drawingml/2006/main">
              <a:ext uri="{FF2B5EF4-FFF2-40B4-BE49-F238E27FC236}">
                <a16:creationId xmlns:a16="http://schemas.microsoft.com/office/drawing/2014/main" id="{3698B3B7-84A8-4A34-8B2F-B790E6CF9D0C}"/>
              </a:ext>
            </a:extLst>
          </p:cNvPr>
          <p:cNvSpPr>
            <a:spLocks xmlns:a="http://schemas.openxmlformats.org/drawingml/2006/main" noGrp="1"/>
          </p:cNvSpPr>
          <p:nvPr/>
        </p:nvSpPr>
        <p:spPr>
          <a:xfrm xmlns:a="http://schemas.openxmlformats.org/drawingml/2006/main">
            <a:off x="8915400" y="1695450"/>
            <a:ext cx="2381250" cy="10477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8" name="text-111">
            <a:extLst xmlns:a="http://schemas.openxmlformats.org/drawingml/2006/main">
              <a:ext uri="{FF2B5EF4-FFF2-40B4-BE49-F238E27FC236}">
                <a16:creationId xmlns:a16="http://schemas.microsoft.com/office/drawing/2014/main" id="{8C672DB1-F1F5-419D-BB90-6BB29489DBA1}"/>
              </a:ext>
            </a:extLst>
          </p:cNvPr>
          <p:cNvSpPr>
            <a:spLocks xmlns:a="http://schemas.openxmlformats.org/drawingml/2006/main" noGrp="1"/>
          </p:cNvSpPr>
          <p:nvPr/>
        </p:nvSpPr>
        <p:spPr>
          <a:xfrm xmlns:a="http://schemas.openxmlformats.org/drawingml/2006/main">
            <a:off x="9029700" y="1752600"/>
            <a:ext cx="21526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0">
                <a:solidFill>
                  <a:srgbClr val="231F20"/>
                </a:solidFill>
                <a:latin typeface="Meiryo"/>
                <a:ea typeface="Meiryo"/>
                <a:cs typeface="Meiryo"/>
              </a:defRPr>
            </a:defPPr>
          </a:lstStyle>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RasterIX</a:t>
            </a:r>
          </a:p>
          <a:p xmlns:a="http://schemas.openxmlformats.org/drawingml/2006/main">
            <a:pPr algn="ctr">
              <a:defRPr sz="2175" b="0">
                <a:solidFill>
                  <a:srgbClr val="231F20"/>
                </a:solidFill>
                <a:latin typeface="Meiryo"/>
                <a:ea typeface="Meiryo"/>
                <a:cs typeface="Meiryo"/>
              </a:defRPr>
            </a:pPr>
            <a:r>
              <a:rPr sz="2175" b="0">
                <a:solidFill>
                  <a:srgbClr val="231F20"/>
                </a:solidFill>
                <a:latin typeface="Meiryo"/>
                <a:ea typeface="Meiryo"/>
                <a:cs typeface="Meiryo"/>
              </a:rPr>
              <a:t>100 MHz</a:t>
            </a:r>
          </a:p>
        </p:txBody>
      </p:sp>
      <p:sp>
        <p:nvSpPr>
          <p:cNvPr id="9" name="wire-112">
            <a:extLst xmlns:a="http://schemas.openxmlformats.org/drawingml/2006/main">
              <a:ext uri="{FF2B5EF4-FFF2-40B4-BE49-F238E27FC236}">
                <a16:creationId xmlns:a16="http://schemas.microsoft.com/office/drawing/2014/main" id="{02DF3075-9355-4FB7-B17D-655352612D80}"/>
              </a:ext>
            </a:extLst>
          </p:cNvPr>
          <p:cNvSpPr>
            <a:spLocks xmlns:a="http://schemas.openxmlformats.org/drawingml/2006/main" noGrp="1"/>
          </p:cNvSpPr>
          <p:nvPr/>
        </p:nvSpPr>
        <p:spPr>
          <a:xfrm xmlns:a="http://schemas.openxmlformats.org/drawingml/2006/main">
            <a:off x="3200400" y="2209800"/>
            <a:ext cx="1095375" cy="9525"/>
          </a:xfrm>
          <a:custGeom xmlns:a="http://schemas.openxmlformats.org/drawingml/2006/main">
            <a:pathLst>
              <a:path w="1095375" h="9525">
                <a:moveTo>
                  <a:pt x="0" y="0"/>
                </a:moveTo>
                <a:lnTo>
                  <a:pt x="1095375" y="0"/>
                </a:lnTo>
              </a:path>
            </a:pathLst>
          </a:custGeom>
          <a:noFill xmlns:a="http://schemas.openxmlformats.org/drawingml/2006/main"/>
          <a:ln xmlns:a="http://schemas.openxmlformats.org/drawingml/2006/main" w="20955">
            <a:solidFill>
              <a:srgbClr val="231F20"/>
            </a:solidFill>
          </a:ln>
        </p:spPr>
      </p:sp>
      <p:sp>
        <p:nvSpPr>
          <p:cNvPr id="10" name="logic-113">
            <a:extLst xmlns:a="http://schemas.openxmlformats.org/drawingml/2006/main">
              <a:ext uri="{FF2B5EF4-FFF2-40B4-BE49-F238E27FC236}">
                <a16:creationId xmlns:a16="http://schemas.microsoft.com/office/drawing/2014/main" id="{DB2C5989-AC1D-46C9-BFAC-1298650BCE6E}"/>
              </a:ext>
            </a:extLst>
          </p:cNvPr>
          <p:cNvSpPr>
            <a:spLocks xmlns:a="http://schemas.openxmlformats.org/drawingml/2006/main" noGrp="1"/>
          </p:cNvSpPr>
          <p:nvPr/>
        </p:nvSpPr>
        <p:spPr>
          <a:xfrm xmlns:a="http://schemas.openxmlformats.org/drawingml/2006/main">
            <a:off x="4181475" y="216217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1" name="wire-114">
            <a:extLst xmlns:a="http://schemas.openxmlformats.org/drawingml/2006/main">
              <a:ext uri="{FF2B5EF4-FFF2-40B4-BE49-F238E27FC236}">
                <a16:creationId xmlns:a16="http://schemas.microsoft.com/office/drawing/2014/main" id="{1E665D3A-2C95-4FFA-9FF8-FBFE7E07CB5B}"/>
              </a:ext>
            </a:extLst>
          </p:cNvPr>
          <p:cNvSpPr>
            <a:spLocks xmlns:a="http://schemas.openxmlformats.org/drawingml/2006/main" noGrp="1"/>
          </p:cNvSpPr>
          <p:nvPr/>
        </p:nvSpPr>
        <p:spPr>
          <a:xfrm xmlns:a="http://schemas.openxmlformats.org/drawingml/2006/main">
            <a:off x="7820025" y="2209800"/>
            <a:ext cx="1095375" cy="9525"/>
          </a:xfrm>
          <a:custGeom xmlns:a="http://schemas.openxmlformats.org/drawingml/2006/main">
            <a:pathLst>
              <a:path w="1095375" h="9525">
                <a:moveTo>
                  <a:pt x="0" y="0"/>
                </a:moveTo>
                <a:lnTo>
                  <a:pt x="1095375" y="0"/>
                </a:lnTo>
              </a:path>
            </a:pathLst>
          </a:custGeom>
          <a:noFill xmlns:a="http://schemas.openxmlformats.org/drawingml/2006/main"/>
          <a:ln xmlns:a="http://schemas.openxmlformats.org/drawingml/2006/main" w="20955">
            <a:solidFill>
              <a:srgbClr val="231F20"/>
            </a:solidFill>
          </a:ln>
        </p:spPr>
      </p:sp>
      <p:sp>
        <p:nvSpPr>
          <p:cNvPr id="12" name="logic-115">
            <a:extLst xmlns:a="http://schemas.openxmlformats.org/drawingml/2006/main">
              <a:ext uri="{FF2B5EF4-FFF2-40B4-BE49-F238E27FC236}">
                <a16:creationId xmlns:a16="http://schemas.microsoft.com/office/drawing/2014/main" id="{70BC985A-7D9C-47C8-89CD-541CDF41A725}"/>
              </a:ext>
            </a:extLst>
          </p:cNvPr>
          <p:cNvSpPr>
            <a:spLocks xmlns:a="http://schemas.openxmlformats.org/drawingml/2006/main" noGrp="1"/>
          </p:cNvSpPr>
          <p:nvPr/>
        </p:nvSpPr>
        <p:spPr>
          <a:xfrm xmlns:a="http://schemas.openxmlformats.org/drawingml/2006/main">
            <a:off x="8801100" y="216217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231F20"/>
          </a:solidFill>
          <a:ln xmlns:a="http://schemas.openxmlformats.org/drawingml/2006/main" w="19050">
            <a:solidFill>
              <a:srgbClr val="231F20"/>
            </a:solidFill>
          </a:ln>
        </p:spPr>
      </p:sp>
      <p:sp>
        <p:nvSpPr>
          <p:cNvPr id="13" name="text-116">
            <a:extLst xmlns:a="http://schemas.openxmlformats.org/drawingml/2006/main">
              <a:ext uri="{FF2B5EF4-FFF2-40B4-BE49-F238E27FC236}">
                <a16:creationId xmlns:a16="http://schemas.microsoft.com/office/drawing/2014/main" id="{139A4F99-336D-4EB1-A79F-EB14ED662599}"/>
              </a:ext>
            </a:extLst>
          </p:cNvPr>
          <p:cNvSpPr>
            <a:spLocks xmlns:a="http://schemas.openxmlformats.org/drawingml/2006/main" noGrp="1"/>
          </p:cNvSpPr>
          <p:nvPr/>
        </p:nvSpPr>
        <p:spPr>
          <a:xfrm xmlns:a="http://schemas.openxmlformats.org/drawingml/2006/main">
            <a:off x="2305050" y="2943225"/>
            <a:ext cx="7886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空きがあれば、CPUは次の命令へ進める</a:t>
            </a:r>
          </a:p>
        </p:txBody>
      </p:sp>
      <p:sp>
        <p:nvSpPr>
          <p:cNvPr id="14" name="text-117">
            <a:extLst xmlns:a="http://schemas.openxmlformats.org/drawingml/2006/main">
              <a:ext uri="{FF2B5EF4-FFF2-40B4-BE49-F238E27FC236}">
                <a16:creationId xmlns:a16="http://schemas.microsoft.com/office/drawing/2014/main" id="{A07574CF-9321-49A7-976A-2EB5582219DE}"/>
              </a:ext>
            </a:extLst>
          </p:cNvPr>
          <p:cNvSpPr>
            <a:spLocks xmlns:a="http://schemas.openxmlformats.org/drawingml/2006/main" noGrp="1"/>
          </p:cNvSpPr>
          <p:nvPr/>
        </p:nvSpPr>
        <p:spPr>
          <a:xfrm xmlns:a="http://schemas.openxmlformats.org/drawingml/2006/main">
            <a:off x="857250" y="38576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231F20"/>
                </a:solidFill>
                <a:latin typeface="Meiryo"/>
                <a:ea typeface="Meiryo"/>
                <a:cs typeface="Meiryo"/>
              </a:defRPr>
            </a:defPPr>
          </a:lstStyle>
          <a:p xmlns:a="http://schemas.openxmlformats.org/drawingml/2006/main">
            <a:pPr algn="l">
              <a:defRPr sz="2250" b="1">
                <a:solidFill>
                  <a:srgbClr val="231F20"/>
                </a:solidFill>
                <a:latin typeface="Meiryo"/>
                <a:ea typeface="Meiryo"/>
                <a:cs typeface="Meiryo"/>
              </a:defRPr>
            </a:pPr>
            <a:r>
              <a:rPr sz="2250" b="1">
                <a:solidFill>
                  <a:srgbClr val="231F20"/>
                </a:solidFill>
                <a:latin typeface="Meiryo"/>
                <a:ea typeface="Meiryo"/>
                <a:cs typeface="Meiryo"/>
              </a:rPr>
              <a:t>1画面分の命令を送る間の待ち時間</a:t>
            </a:r>
          </a:p>
        </p:txBody>
      </p:sp>
      <p:sp>
        <p:nvSpPr>
          <p:cNvPr id="15" name="text-118">
            <a:extLst xmlns:a="http://schemas.openxmlformats.org/drawingml/2006/main">
              <a:ext uri="{FF2B5EF4-FFF2-40B4-BE49-F238E27FC236}">
                <a16:creationId xmlns:a16="http://schemas.microsoft.com/office/drawing/2014/main" id="{79B3EADF-D90A-4AA8-9C3C-FC75B07B7B11}"/>
              </a:ext>
            </a:extLst>
          </p:cNvPr>
          <p:cNvSpPr>
            <a:spLocks xmlns:a="http://schemas.openxmlformats.org/drawingml/2006/main" noGrp="1"/>
          </p:cNvSpPr>
          <p:nvPr/>
        </p:nvSpPr>
        <p:spPr>
          <a:xfrm xmlns:a="http://schemas.openxmlformats.org/drawingml/2006/main">
            <a:off x="990600" y="451485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1語ずつ渡す</a:t>
            </a:r>
          </a:p>
        </p:txBody>
      </p:sp>
      <p:sp>
        <p:nvSpPr>
          <p:cNvPr id="16" name="circuit-119">
            <a:extLst xmlns:a="http://schemas.openxmlformats.org/drawingml/2006/main">
              <a:ext uri="{FF2B5EF4-FFF2-40B4-BE49-F238E27FC236}">
                <a16:creationId xmlns:a16="http://schemas.microsoft.com/office/drawing/2014/main" id="{9D091537-FE85-433A-9E76-A41DAC4E8AA7}"/>
              </a:ext>
            </a:extLst>
          </p:cNvPr>
          <p:cNvSpPr>
            <a:spLocks xmlns:a="http://schemas.openxmlformats.org/drawingml/2006/main" noGrp="1"/>
          </p:cNvSpPr>
          <p:nvPr/>
        </p:nvSpPr>
        <p:spPr>
          <a:xfrm xmlns:a="http://schemas.openxmlformats.org/drawingml/2006/main">
            <a:off x="3371850" y="4552950"/>
            <a:ext cx="5565162" cy="276225"/>
          </a:xfrm>
          <a:prstGeom xmlns:a="http://schemas.openxmlformats.org/drawingml/2006/main" prst="rect">
            <a:avLst/>
          </a:prstGeom>
          <a:solidFill xmlns:a="http://schemas.openxmlformats.org/drawingml/2006/main">
            <a:srgbClr val="77A3DC"/>
          </a:solidFill>
          <a:ln xmlns:a="http://schemas.openxmlformats.org/drawingml/2006/main" w="19050">
            <a:solidFill>
              <a:srgbClr val="231F20"/>
            </a:solidFill>
          </a:ln>
        </p:spPr>
      </p:sp>
      <p:sp>
        <p:nvSpPr>
          <p:cNvPr id="17" name="text-120">
            <a:extLst xmlns:a="http://schemas.openxmlformats.org/drawingml/2006/main">
              <a:ext uri="{FF2B5EF4-FFF2-40B4-BE49-F238E27FC236}">
                <a16:creationId xmlns:a16="http://schemas.microsoft.com/office/drawing/2014/main" id="{013D2C10-CA38-4480-B532-220039EC32DC}"/>
              </a:ext>
            </a:extLst>
          </p:cNvPr>
          <p:cNvSpPr>
            <a:spLocks xmlns:a="http://schemas.openxmlformats.org/drawingml/2006/main" noGrp="1"/>
          </p:cNvSpPr>
          <p:nvPr/>
        </p:nvSpPr>
        <p:spPr>
          <a:xfrm xmlns:a="http://schemas.openxmlformats.org/drawingml/2006/main">
            <a:off x="9248775" y="451485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4.393 ms</a:t>
            </a:r>
          </a:p>
        </p:txBody>
      </p:sp>
      <p:sp>
        <p:nvSpPr>
          <p:cNvPr id="18" name="text-121">
            <a:extLst xmlns:a="http://schemas.openxmlformats.org/drawingml/2006/main">
              <a:ext uri="{FF2B5EF4-FFF2-40B4-BE49-F238E27FC236}">
                <a16:creationId xmlns:a16="http://schemas.microsoft.com/office/drawing/2014/main" id="{7F6A4D07-D058-461B-9BA4-E713CBE69DCE}"/>
              </a:ext>
            </a:extLst>
          </p:cNvPr>
          <p:cNvSpPr>
            <a:spLocks xmlns:a="http://schemas.openxmlformats.org/drawingml/2006/main" noGrp="1"/>
          </p:cNvSpPr>
          <p:nvPr/>
        </p:nvSpPr>
        <p:spPr>
          <a:xfrm xmlns:a="http://schemas.openxmlformats.org/drawingml/2006/main">
            <a:off x="990600" y="502920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16語FIFO</a:t>
            </a:r>
          </a:p>
        </p:txBody>
      </p:sp>
      <p:sp>
        <p:nvSpPr>
          <p:cNvPr id="19" name="circuit-122">
            <a:extLst xmlns:a="http://schemas.openxmlformats.org/drawingml/2006/main">
              <a:ext uri="{FF2B5EF4-FFF2-40B4-BE49-F238E27FC236}">
                <a16:creationId xmlns:a16="http://schemas.microsoft.com/office/drawing/2014/main" id="{B78D1FA6-8AB5-4A89-A5FF-C1CD01EA4406}"/>
              </a:ext>
            </a:extLst>
          </p:cNvPr>
          <p:cNvSpPr>
            <a:spLocks xmlns:a="http://schemas.openxmlformats.org/drawingml/2006/main" noGrp="1"/>
          </p:cNvSpPr>
          <p:nvPr/>
        </p:nvSpPr>
        <p:spPr>
          <a:xfrm xmlns:a="http://schemas.openxmlformats.org/drawingml/2006/main">
            <a:off x="3371850" y="5067300"/>
            <a:ext cx="2855424" cy="276225"/>
          </a:xfrm>
          <a:prstGeom xmlns:a="http://schemas.openxmlformats.org/drawingml/2006/main" prst="rect">
            <a:avLst/>
          </a:prstGeom>
          <a:solidFill xmlns:a="http://schemas.openxmlformats.org/drawingml/2006/main">
            <a:srgbClr val="77A3DC"/>
          </a:solidFill>
          <a:ln xmlns:a="http://schemas.openxmlformats.org/drawingml/2006/main" w="19050">
            <a:solidFill>
              <a:srgbClr val="231F20"/>
            </a:solidFill>
          </a:ln>
        </p:spPr>
      </p:sp>
      <p:sp>
        <p:nvSpPr>
          <p:cNvPr id="20" name="text-123">
            <a:extLst xmlns:a="http://schemas.openxmlformats.org/drawingml/2006/main">
              <a:ext uri="{FF2B5EF4-FFF2-40B4-BE49-F238E27FC236}">
                <a16:creationId xmlns:a16="http://schemas.microsoft.com/office/drawing/2014/main" id="{314ADDAB-33DF-44ED-BBEC-675FD6E82C7C}"/>
              </a:ext>
            </a:extLst>
          </p:cNvPr>
          <p:cNvSpPr>
            <a:spLocks xmlns:a="http://schemas.openxmlformats.org/drawingml/2006/main" noGrp="1"/>
          </p:cNvSpPr>
          <p:nvPr/>
        </p:nvSpPr>
        <p:spPr>
          <a:xfrm xmlns:a="http://schemas.openxmlformats.org/drawingml/2006/main">
            <a:off x="9248775" y="50292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2.254 ms</a:t>
            </a:r>
          </a:p>
        </p:txBody>
      </p:sp>
      <p:sp>
        <p:nvSpPr>
          <p:cNvPr id="21" name="text-124">
            <a:extLst xmlns:a="http://schemas.openxmlformats.org/drawingml/2006/main">
              <a:ext uri="{FF2B5EF4-FFF2-40B4-BE49-F238E27FC236}">
                <a16:creationId xmlns:a16="http://schemas.microsoft.com/office/drawing/2014/main" id="{30D461AD-5C54-472C-9931-F51F94DD6425}"/>
              </a:ext>
            </a:extLst>
          </p:cNvPr>
          <p:cNvSpPr>
            <a:spLocks xmlns:a="http://schemas.openxmlformats.org/drawingml/2006/main" noGrp="1"/>
          </p:cNvSpPr>
          <p:nvPr/>
        </p:nvSpPr>
        <p:spPr>
          <a:xfrm xmlns:a="http://schemas.openxmlformats.org/drawingml/2006/main">
            <a:off x="990600" y="5543550"/>
            <a:ext cx="2305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512語FIFO</a:t>
            </a:r>
          </a:p>
        </p:txBody>
      </p:sp>
      <p:sp>
        <p:nvSpPr>
          <p:cNvPr id="22" name="circuit-125">
            <a:extLst xmlns:a="http://schemas.openxmlformats.org/drawingml/2006/main">
              <a:ext uri="{FF2B5EF4-FFF2-40B4-BE49-F238E27FC236}">
                <a16:creationId xmlns:a16="http://schemas.microsoft.com/office/drawing/2014/main" id="{C7177026-80A1-440E-9B76-ED85C0D095A4}"/>
              </a:ext>
            </a:extLst>
          </p:cNvPr>
          <p:cNvSpPr>
            <a:spLocks xmlns:a="http://schemas.openxmlformats.org/drawingml/2006/main" noGrp="1"/>
          </p:cNvSpPr>
          <p:nvPr/>
        </p:nvSpPr>
        <p:spPr>
          <a:xfrm xmlns:a="http://schemas.openxmlformats.org/drawingml/2006/main">
            <a:off x="3371850" y="5581650"/>
            <a:ext cx="589074" cy="276225"/>
          </a:xfrm>
          <a:prstGeom xmlns:a="http://schemas.openxmlformats.org/drawingml/2006/main" prst="rect">
            <a:avLst/>
          </a:prstGeom>
          <a:solidFill xmlns:a="http://schemas.openxmlformats.org/drawingml/2006/main">
            <a:srgbClr val="77A3DC"/>
          </a:solidFill>
          <a:ln xmlns:a="http://schemas.openxmlformats.org/drawingml/2006/main" w="19050">
            <a:solidFill>
              <a:srgbClr val="231F20"/>
            </a:solidFill>
          </a:ln>
        </p:spPr>
      </p:sp>
      <p:sp>
        <p:nvSpPr>
          <p:cNvPr id="23" name="text-126">
            <a:extLst xmlns:a="http://schemas.openxmlformats.org/drawingml/2006/main">
              <a:ext uri="{FF2B5EF4-FFF2-40B4-BE49-F238E27FC236}">
                <a16:creationId xmlns:a16="http://schemas.microsoft.com/office/drawing/2014/main" id="{64EE03B6-CD1B-44FD-94CD-5BBC3112A7CF}"/>
              </a:ext>
            </a:extLst>
          </p:cNvPr>
          <p:cNvSpPr>
            <a:spLocks xmlns:a="http://schemas.openxmlformats.org/drawingml/2006/main" noGrp="1"/>
          </p:cNvSpPr>
          <p:nvPr/>
        </p:nvSpPr>
        <p:spPr>
          <a:xfrm xmlns:a="http://schemas.openxmlformats.org/drawingml/2006/main">
            <a:off x="9248775" y="554355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0.465 ms</a:t>
            </a:r>
          </a:p>
        </p:txBody>
      </p:sp>
      <p:sp>
        <p:nvSpPr>
          <p:cNvPr id="24" name="text-127">
            <a:extLst xmlns:a="http://schemas.openxmlformats.org/drawingml/2006/main">
              <a:ext uri="{FF2B5EF4-FFF2-40B4-BE49-F238E27FC236}">
                <a16:creationId xmlns:a16="http://schemas.microsoft.com/office/drawing/2014/main" id="{2A465313-E59B-44D7-B886-561C793B837C}"/>
              </a:ext>
            </a:extLst>
          </p:cNvPr>
          <p:cNvSpPr>
            <a:spLocks xmlns:a="http://schemas.openxmlformats.org/drawingml/2006/main" noGrp="1"/>
          </p:cNvSpPr>
          <p:nvPr/>
        </p:nvSpPr>
        <p:spPr>
          <a:xfrm xmlns:a="http://schemas.openxmlformats.org/drawingml/2006/main">
            <a:off x="990600" y="6172200"/>
            <a:ext cx="971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Meiryo"/>
                <a:ea typeface="Meiryo"/>
                <a:cs typeface="Meiryo"/>
              </a:defRPr>
            </a:defPPr>
          </a:lstStyle>
          <a:p xmlns:a="http://schemas.openxmlformats.org/drawingml/2006/main">
            <a:pPr algn="l">
              <a:defRPr sz="1500" b="0">
                <a:solidFill>
                  <a:srgbClr val="231F20"/>
                </a:solidFill>
                <a:latin typeface="Meiryo"/>
                <a:ea typeface="Meiryo"/>
                <a:cs typeface="Meiryo"/>
              </a:defRPr>
            </a:pPr>
            <a:r>
              <a:rPr sz="1500" b="0">
                <a:solidFill>
                  <a:srgbClr val="231F20"/>
                </a:solidFill>
                <a:latin typeface="Meiryo"/>
                <a:ea typeface="Meiryo"/>
                <a:cs typeface="Meiryo"/>
              </a:rPr>
              <a:t>全体描画・同じ初期状態／各方式180フレーム × 3回</a:t>
            </a:r>
          </a:p>
        </p:txBody>
      </p:sp>
    </p:spTree>
    <p:extLst>
      <p:ext uri="{BB962C8B-B14F-4D97-AF65-F5344CB8AC3E}">
        <p14:creationId xmlns:p14="http://schemas.microsoft.com/office/powerpoint/2010/main" val="146470411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text-128">
            <a:extLst xmlns:a="http://schemas.openxmlformats.org/drawingml/2006/main">
              <a:ext uri="{FF2B5EF4-FFF2-40B4-BE49-F238E27FC236}">
                <a16:creationId xmlns:a16="http://schemas.microsoft.com/office/drawing/2014/main" id="{53EB9674-7924-47C9-8896-0759E9AC0A06}"/>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表示中の画像を途中で書き換えない</a:t>
            </a:r>
          </a:p>
        </p:txBody>
      </p:sp>
      <p:sp>
        <p:nvSpPr>
          <p:cNvPr id="2" name="text-129">
            <a:extLst xmlns:a="http://schemas.openxmlformats.org/drawingml/2006/main">
              <a:ext uri="{FF2B5EF4-FFF2-40B4-BE49-F238E27FC236}">
                <a16:creationId xmlns:a16="http://schemas.microsoft.com/office/drawing/2014/main" id="{6D9339F9-1ADE-404F-98C7-4EF87212FA9E}"/>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6</a:t>
            </a:r>
          </a:p>
        </p:txBody>
      </p:sp>
      <p:sp>
        <p:nvSpPr>
          <p:cNvPr id="3" name="text-130">
            <a:extLst xmlns:a="http://schemas.openxmlformats.org/drawingml/2006/main">
              <a:ext uri="{FF2B5EF4-FFF2-40B4-BE49-F238E27FC236}">
                <a16:creationId xmlns:a16="http://schemas.microsoft.com/office/drawing/2014/main" id="{9576D761-B315-48C2-B00C-618905F2BB0A}"/>
              </a:ext>
            </a:extLst>
          </p:cNvPr>
          <p:cNvSpPr>
            <a:spLocks xmlns:a="http://schemas.openxmlformats.org/drawingml/2006/main" noGrp="1"/>
          </p:cNvSpPr>
          <p:nvPr/>
        </p:nvSpPr>
        <p:spPr>
          <a:xfrm xmlns:a="http://schemas.openxmlformats.org/drawingml/2006/main">
            <a:off x="1171575" y="15430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00" b="1">
                <a:solidFill>
                  <a:srgbClr val="231F20"/>
                </a:solidFill>
                <a:latin typeface="Meiryo"/>
                <a:ea typeface="Meiryo"/>
                <a:cs typeface="Meiryo"/>
              </a:defRPr>
            </a:defPPr>
          </a:lstStyle>
          <a:p xmlns:a="http://schemas.openxmlformats.org/drawingml/2006/main">
            <a:pPr algn="ctr">
              <a:defRPr sz="2400" b="1">
                <a:solidFill>
                  <a:srgbClr val="231F20"/>
                </a:solidFill>
                <a:latin typeface="Meiryo"/>
                <a:ea typeface="Meiryo"/>
                <a:cs typeface="Meiryo"/>
              </a:defRPr>
            </a:pPr>
            <a:r>
              <a:rPr sz="2400" b="1">
                <a:solidFill>
                  <a:srgbClr val="231F20"/>
                </a:solidFill>
                <a:latin typeface="Meiryo"/>
                <a:ea typeface="Meiryo"/>
                <a:cs typeface="Meiryo"/>
              </a:rPr>
              <a:t>切り替え前</a:t>
            </a:r>
          </a:p>
        </p:txBody>
      </p:sp>
      <p:sp>
        <p:nvSpPr>
          <p:cNvPr id="4" name="text-131">
            <a:extLst xmlns:a="http://schemas.openxmlformats.org/drawingml/2006/main">
              <a:ext uri="{FF2B5EF4-FFF2-40B4-BE49-F238E27FC236}">
                <a16:creationId xmlns:a16="http://schemas.microsoft.com/office/drawing/2014/main" id="{65B86BCF-8A27-4187-8D38-B4FAAF33DC08}"/>
              </a:ext>
            </a:extLst>
          </p:cNvPr>
          <p:cNvSpPr>
            <a:spLocks xmlns:a="http://schemas.openxmlformats.org/drawingml/2006/main" noGrp="1"/>
          </p:cNvSpPr>
          <p:nvPr/>
        </p:nvSpPr>
        <p:spPr>
          <a:xfrm xmlns:a="http://schemas.openxmlformats.org/drawingml/2006/main">
            <a:off x="7620000" y="15430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00" b="1">
                <a:solidFill>
                  <a:srgbClr val="231F20"/>
                </a:solidFill>
                <a:latin typeface="Meiryo"/>
                <a:ea typeface="Meiryo"/>
                <a:cs typeface="Meiryo"/>
              </a:defRPr>
            </a:defPPr>
          </a:lstStyle>
          <a:p xmlns:a="http://schemas.openxmlformats.org/drawingml/2006/main">
            <a:pPr algn="ctr">
              <a:defRPr sz="2400" b="1">
                <a:solidFill>
                  <a:srgbClr val="231F20"/>
                </a:solidFill>
                <a:latin typeface="Meiryo"/>
                <a:ea typeface="Meiryo"/>
                <a:cs typeface="Meiryo"/>
              </a:defRPr>
            </a:pPr>
            <a:r>
              <a:rPr sz="2400" b="1">
                <a:solidFill>
                  <a:srgbClr val="231F20"/>
                </a:solidFill>
                <a:latin typeface="Meiryo"/>
                <a:ea typeface="Meiryo"/>
                <a:cs typeface="Meiryo"/>
              </a:rPr>
              <a:t>切り替え後</a:t>
            </a:r>
          </a:p>
        </p:txBody>
      </p:sp>
      <p:sp>
        <p:nvSpPr>
          <p:cNvPr id="5" name="circuit-132">
            <a:extLst xmlns:a="http://schemas.openxmlformats.org/drawingml/2006/main">
              <a:ext uri="{FF2B5EF4-FFF2-40B4-BE49-F238E27FC236}">
                <a16:creationId xmlns:a16="http://schemas.microsoft.com/office/drawing/2014/main" id="{9E02BF4F-74F2-416D-8AF6-7DA84A10BDDC}"/>
              </a:ext>
            </a:extLst>
          </p:cNvPr>
          <p:cNvSpPr>
            <a:spLocks xmlns:a="http://schemas.openxmlformats.org/drawingml/2006/main" noGrp="1"/>
          </p:cNvSpPr>
          <p:nvPr/>
        </p:nvSpPr>
        <p:spPr>
          <a:xfrm xmlns:a="http://schemas.openxmlformats.org/drawingml/2006/main">
            <a:off x="1171575" y="2352675"/>
            <a:ext cx="3524250" cy="8572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6" name="text-133">
            <a:extLst xmlns:a="http://schemas.openxmlformats.org/drawingml/2006/main">
              <a:ext uri="{FF2B5EF4-FFF2-40B4-BE49-F238E27FC236}">
                <a16:creationId xmlns:a16="http://schemas.microsoft.com/office/drawing/2014/main" id="{DAADE196-7872-4824-A14F-B0EB6E821C80}"/>
              </a:ext>
            </a:extLst>
          </p:cNvPr>
          <p:cNvSpPr>
            <a:spLocks xmlns:a="http://schemas.openxmlformats.org/drawingml/2006/main" noGrp="1"/>
          </p:cNvSpPr>
          <p:nvPr/>
        </p:nvSpPr>
        <p:spPr>
          <a:xfrm xmlns:a="http://schemas.openxmlformats.org/drawingml/2006/main">
            <a:off x="1285875" y="240982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Meiryo"/>
                <a:ea typeface="Meiryo"/>
                <a:cs typeface="Meiryo"/>
              </a:defRPr>
            </a:defPPr>
          </a:lstStyle>
          <a:p xmlns:a="http://schemas.openxmlformats.org/drawingml/2006/main">
            <a:pPr algn="ctr">
              <a:defRPr sz="2325" b="0">
                <a:solidFill>
                  <a:srgbClr val="231F20"/>
                </a:solidFill>
                <a:latin typeface="Meiryo"/>
                <a:ea typeface="Meiryo"/>
                <a:cs typeface="Meiryo"/>
              </a:defRPr>
            </a:pPr>
            <a:r>
              <a:rPr sz="2325" b="0">
                <a:solidFill>
                  <a:srgbClr val="231F20"/>
                </a:solidFill>
                <a:latin typeface="Meiryo"/>
                <a:ea typeface="Meiryo"/>
                <a:cs typeface="Meiryo"/>
              </a:rPr>
              <a:t>画像A：表示中</a:t>
            </a:r>
          </a:p>
        </p:txBody>
      </p:sp>
      <p:sp>
        <p:nvSpPr>
          <p:cNvPr id="7" name="circuit-134">
            <a:extLst xmlns:a="http://schemas.openxmlformats.org/drawingml/2006/main">
              <a:ext uri="{FF2B5EF4-FFF2-40B4-BE49-F238E27FC236}">
                <a16:creationId xmlns:a16="http://schemas.microsoft.com/office/drawing/2014/main" id="{09B5032D-2CC3-4F00-B752-4E021294844E}"/>
              </a:ext>
            </a:extLst>
          </p:cNvPr>
          <p:cNvSpPr>
            <a:spLocks xmlns:a="http://schemas.openxmlformats.org/drawingml/2006/main" noGrp="1"/>
          </p:cNvSpPr>
          <p:nvPr/>
        </p:nvSpPr>
        <p:spPr>
          <a:xfrm xmlns:a="http://schemas.openxmlformats.org/drawingml/2006/main">
            <a:off x="1171575" y="3895725"/>
            <a:ext cx="3524250" cy="857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8" name="text-135">
            <a:extLst xmlns:a="http://schemas.openxmlformats.org/drawingml/2006/main">
              <a:ext uri="{FF2B5EF4-FFF2-40B4-BE49-F238E27FC236}">
                <a16:creationId xmlns:a16="http://schemas.microsoft.com/office/drawing/2014/main" id="{ACE97902-C858-4DC4-BB48-9018B286DBE7}"/>
              </a:ext>
            </a:extLst>
          </p:cNvPr>
          <p:cNvSpPr>
            <a:spLocks xmlns:a="http://schemas.openxmlformats.org/drawingml/2006/main" noGrp="1"/>
          </p:cNvSpPr>
          <p:nvPr/>
        </p:nvSpPr>
        <p:spPr>
          <a:xfrm xmlns:a="http://schemas.openxmlformats.org/drawingml/2006/main">
            <a:off x="1285875" y="395287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Meiryo"/>
                <a:ea typeface="Meiryo"/>
                <a:cs typeface="Meiryo"/>
              </a:defRPr>
            </a:defPPr>
          </a:lstStyle>
          <a:p xmlns:a="http://schemas.openxmlformats.org/drawingml/2006/main">
            <a:pPr algn="ctr">
              <a:defRPr sz="2325" b="0">
                <a:solidFill>
                  <a:srgbClr val="231F20"/>
                </a:solidFill>
                <a:latin typeface="Meiryo"/>
                <a:ea typeface="Meiryo"/>
                <a:cs typeface="Meiryo"/>
              </a:defRPr>
            </a:pPr>
            <a:r>
              <a:rPr sz="2325" b="0">
                <a:solidFill>
                  <a:srgbClr val="231F20"/>
                </a:solidFill>
                <a:latin typeface="Meiryo"/>
                <a:ea typeface="Meiryo"/>
                <a:cs typeface="Meiryo"/>
              </a:rPr>
              <a:t>画像B：描画中</a:t>
            </a:r>
          </a:p>
        </p:txBody>
      </p:sp>
      <p:sp>
        <p:nvSpPr>
          <p:cNvPr id="9" name="circuit-136">
            <a:extLst xmlns:a="http://schemas.openxmlformats.org/drawingml/2006/main">
              <a:ext uri="{FF2B5EF4-FFF2-40B4-BE49-F238E27FC236}">
                <a16:creationId xmlns:a16="http://schemas.microsoft.com/office/drawing/2014/main" id="{4978ED78-C59A-4A1B-BB40-741DBD95C691}"/>
              </a:ext>
            </a:extLst>
          </p:cNvPr>
          <p:cNvSpPr>
            <a:spLocks xmlns:a="http://schemas.openxmlformats.org/drawingml/2006/main" noGrp="1"/>
          </p:cNvSpPr>
          <p:nvPr/>
        </p:nvSpPr>
        <p:spPr>
          <a:xfrm xmlns:a="http://schemas.openxmlformats.org/drawingml/2006/main">
            <a:off x="7620000" y="2352675"/>
            <a:ext cx="3524250" cy="857250"/>
          </a:xfrm>
          <a:prstGeom xmlns:a="http://schemas.openxmlformats.org/drawingml/2006/main" prst="rect">
            <a:avLst/>
          </a:prstGeom>
          <a:solidFill xmlns:a="http://schemas.openxmlformats.org/drawingml/2006/main">
            <a:srgbClr val="FFFFFF"/>
          </a:solidFill>
          <a:ln xmlns:a="http://schemas.openxmlformats.org/drawingml/2006/main" w="19050">
            <a:solidFill>
              <a:srgbClr val="231F20"/>
            </a:solidFill>
          </a:ln>
        </p:spPr>
      </p:sp>
      <p:sp>
        <p:nvSpPr>
          <p:cNvPr id="10" name="text-137">
            <a:extLst xmlns:a="http://schemas.openxmlformats.org/drawingml/2006/main">
              <a:ext uri="{FF2B5EF4-FFF2-40B4-BE49-F238E27FC236}">
                <a16:creationId xmlns:a16="http://schemas.microsoft.com/office/drawing/2014/main" id="{0E69CBF7-B367-4CD9-A7D3-7145429CE5A1}"/>
              </a:ext>
            </a:extLst>
          </p:cNvPr>
          <p:cNvSpPr>
            <a:spLocks xmlns:a="http://schemas.openxmlformats.org/drawingml/2006/main" noGrp="1"/>
          </p:cNvSpPr>
          <p:nvPr/>
        </p:nvSpPr>
        <p:spPr>
          <a:xfrm xmlns:a="http://schemas.openxmlformats.org/drawingml/2006/main">
            <a:off x="7734300" y="240982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Meiryo"/>
                <a:ea typeface="Meiryo"/>
                <a:cs typeface="Meiryo"/>
              </a:defRPr>
            </a:defPPr>
          </a:lstStyle>
          <a:p xmlns:a="http://schemas.openxmlformats.org/drawingml/2006/main">
            <a:pPr algn="ctr">
              <a:defRPr sz="2250" b="0">
                <a:solidFill>
                  <a:srgbClr val="231F20"/>
                </a:solidFill>
                <a:latin typeface="Meiryo"/>
                <a:ea typeface="Meiryo"/>
                <a:cs typeface="Meiryo"/>
              </a:defRPr>
            </a:pPr>
            <a:r>
              <a:rPr sz="2250" b="0">
                <a:solidFill>
                  <a:srgbClr val="231F20"/>
                </a:solidFill>
                <a:latin typeface="Meiryo"/>
                <a:ea typeface="Meiryo"/>
                <a:cs typeface="Meiryo"/>
              </a:rPr>
              <a:t>画像A：次の描画先</a:t>
            </a:r>
          </a:p>
        </p:txBody>
      </p:sp>
      <p:sp>
        <p:nvSpPr>
          <p:cNvPr id="11" name="circuit-138">
            <a:extLst xmlns:a="http://schemas.openxmlformats.org/drawingml/2006/main">
              <a:ext uri="{FF2B5EF4-FFF2-40B4-BE49-F238E27FC236}">
                <a16:creationId xmlns:a16="http://schemas.microsoft.com/office/drawing/2014/main" id="{35518EFC-7351-4021-9B93-6C0F611B659C}"/>
              </a:ext>
            </a:extLst>
          </p:cNvPr>
          <p:cNvSpPr>
            <a:spLocks xmlns:a="http://schemas.openxmlformats.org/drawingml/2006/main" noGrp="1"/>
          </p:cNvSpPr>
          <p:nvPr/>
        </p:nvSpPr>
        <p:spPr>
          <a:xfrm xmlns:a="http://schemas.openxmlformats.org/drawingml/2006/main">
            <a:off x="7620000" y="3895725"/>
            <a:ext cx="3524250" cy="857250"/>
          </a:xfrm>
          <a:prstGeom xmlns:a="http://schemas.openxmlformats.org/drawingml/2006/main" prst="rect">
            <a:avLst/>
          </a:prstGeom>
          <a:solidFill xmlns:a="http://schemas.openxmlformats.org/drawingml/2006/main">
            <a:srgbClr val="E5EBF8"/>
          </a:solidFill>
          <a:ln xmlns:a="http://schemas.openxmlformats.org/drawingml/2006/main" w="19050">
            <a:solidFill>
              <a:srgbClr val="231F20"/>
            </a:solidFill>
          </a:ln>
        </p:spPr>
      </p:sp>
      <p:sp>
        <p:nvSpPr>
          <p:cNvPr id="12" name="text-139">
            <a:extLst xmlns:a="http://schemas.openxmlformats.org/drawingml/2006/main">
              <a:ext uri="{FF2B5EF4-FFF2-40B4-BE49-F238E27FC236}">
                <a16:creationId xmlns:a16="http://schemas.microsoft.com/office/drawing/2014/main" id="{04A8987C-F8F7-44B6-B705-875D074156C5}"/>
              </a:ext>
            </a:extLst>
          </p:cNvPr>
          <p:cNvSpPr>
            <a:spLocks xmlns:a="http://schemas.openxmlformats.org/drawingml/2006/main" noGrp="1"/>
          </p:cNvSpPr>
          <p:nvPr/>
        </p:nvSpPr>
        <p:spPr>
          <a:xfrm xmlns:a="http://schemas.openxmlformats.org/drawingml/2006/main">
            <a:off x="7734300" y="3952875"/>
            <a:ext cx="3295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Meiryo"/>
                <a:ea typeface="Meiryo"/>
                <a:cs typeface="Meiryo"/>
              </a:defRPr>
            </a:defPPr>
          </a:lstStyle>
          <a:p xmlns:a="http://schemas.openxmlformats.org/drawingml/2006/main">
            <a:pPr algn="ctr">
              <a:defRPr sz="2325" b="0">
                <a:solidFill>
                  <a:srgbClr val="231F20"/>
                </a:solidFill>
                <a:latin typeface="Meiryo"/>
                <a:ea typeface="Meiryo"/>
                <a:cs typeface="Meiryo"/>
              </a:defRPr>
            </a:pPr>
            <a:r>
              <a:rPr sz="2325" b="0">
                <a:solidFill>
                  <a:srgbClr val="231F20"/>
                </a:solidFill>
                <a:latin typeface="Meiryo"/>
                <a:ea typeface="Meiryo"/>
                <a:cs typeface="Meiryo"/>
              </a:rPr>
              <a:t>画像B：表示中</a:t>
            </a:r>
          </a:p>
        </p:txBody>
      </p:sp>
      <p:sp>
        <p:nvSpPr>
          <p:cNvPr id="13" name="wire-140">
            <a:extLst xmlns:a="http://schemas.openxmlformats.org/drawingml/2006/main">
              <a:ext uri="{FF2B5EF4-FFF2-40B4-BE49-F238E27FC236}">
                <a16:creationId xmlns:a16="http://schemas.microsoft.com/office/drawing/2014/main" id="{E9FA8D79-7EA7-4109-9C2F-0B62FE9DC064}"/>
              </a:ext>
            </a:extLst>
          </p:cNvPr>
          <p:cNvSpPr>
            <a:spLocks xmlns:a="http://schemas.openxmlformats.org/drawingml/2006/main" noGrp="1"/>
          </p:cNvSpPr>
          <p:nvPr/>
        </p:nvSpPr>
        <p:spPr>
          <a:xfrm xmlns:a="http://schemas.openxmlformats.org/drawingml/2006/main">
            <a:off x="4991100" y="3562350"/>
            <a:ext cx="2343150" cy="9525"/>
          </a:xfrm>
          <a:custGeom xmlns:a="http://schemas.openxmlformats.org/drawingml/2006/main">
            <a:pathLst>
              <a:path w="2343150" h="9525">
                <a:moveTo>
                  <a:pt x="0" y="0"/>
                </a:moveTo>
                <a:lnTo>
                  <a:pt x="2343150" y="0"/>
                </a:lnTo>
              </a:path>
            </a:pathLst>
          </a:custGeom>
          <a:noFill xmlns:a="http://schemas.openxmlformats.org/drawingml/2006/main"/>
          <a:ln xmlns:a="http://schemas.openxmlformats.org/drawingml/2006/main" w="20955">
            <a:solidFill>
              <a:srgbClr val="1673C3"/>
            </a:solidFill>
          </a:ln>
        </p:spPr>
      </p:sp>
      <p:sp>
        <p:nvSpPr>
          <p:cNvPr id="14" name="logic-141">
            <a:extLst xmlns:a="http://schemas.openxmlformats.org/drawingml/2006/main">
              <a:ext uri="{FF2B5EF4-FFF2-40B4-BE49-F238E27FC236}">
                <a16:creationId xmlns:a16="http://schemas.microsoft.com/office/drawing/2014/main" id="{FCAD6AED-57C6-4F44-BCC2-641A877BCF4A}"/>
              </a:ext>
            </a:extLst>
          </p:cNvPr>
          <p:cNvSpPr>
            <a:spLocks xmlns:a="http://schemas.openxmlformats.org/drawingml/2006/main" noGrp="1"/>
          </p:cNvSpPr>
          <p:nvPr/>
        </p:nvSpPr>
        <p:spPr>
          <a:xfrm xmlns:a="http://schemas.openxmlformats.org/drawingml/2006/main">
            <a:off x="7219950" y="3514725"/>
            <a:ext cx="114300" cy="95250"/>
          </a:xfrm>
          <a:custGeom xmlns:a="http://schemas.openxmlformats.org/drawingml/2006/main">
            <a:pathLst>
              <a:path w="114300" h="95250">
                <a:moveTo>
                  <a:pt x="114300" y="47625"/>
                </a:moveTo>
                <a:lnTo>
                  <a:pt x="0" y="0"/>
                </a:lnTo>
                <a:lnTo>
                  <a:pt x="0" y="95250"/>
                </a:lnTo>
                <a:close/>
              </a:path>
            </a:pathLst>
          </a:custGeom>
          <a:solidFill xmlns:a="http://schemas.openxmlformats.org/drawingml/2006/main">
            <a:srgbClr val="1673C3"/>
          </a:solidFill>
          <a:ln xmlns:a="http://schemas.openxmlformats.org/drawingml/2006/main" w="19050">
            <a:solidFill>
              <a:srgbClr val="1673C3"/>
            </a:solidFill>
          </a:ln>
        </p:spPr>
      </p:sp>
      <p:sp>
        <p:nvSpPr>
          <p:cNvPr id="15" name="text-142">
            <a:extLst xmlns:a="http://schemas.openxmlformats.org/drawingml/2006/main">
              <a:ext uri="{FF2B5EF4-FFF2-40B4-BE49-F238E27FC236}">
                <a16:creationId xmlns:a16="http://schemas.microsoft.com/office/drawing/2014/main" id="{87C3AFEC-0A5D-4F09-89EC-12A2C031B843}"/>
              </a:ext>
            </a:extLst>
          </p:cNvPr>
          <p:cNvSpPr>
            <a:spLocks xmlns:a="http://schemas.openxmlformats.org/drawingml/2006/main" noGrp="1"/>
          </p:cNvSpPr>
          <p:nvPr/>
        </p:nvSpPr>
        <p:spPr>
          <a:xfrm xmlns:a="http://schemas.openxmlformats.org/drawingml/2006/main">
            <a:off x="4905375" y="2390775"/>
            <a:ext cx="2533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画像Bの完成後</a:t>
            </a:r>
          </a:p>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表示の区切りで</a:t>
            </a:r>
          </a:p>
        </p:txBody>
      </p:sp>
      <p:sp>
        <p:nvSpPr>
          <p:cNvPr id="16" name="text-143">
            <a:extLst xmlns:a="http://schemas.openxmlformats.org/drawingml/2006/main">
              <a:ext uri="{FF2B5EF4-FFF2-40B4-BE49-F238E27FC236}">
                <a16:creationId xmlns:a16="http://schemas.microsoft.com/office/drawing/2014/main" id="{5D882871-2B15-461A-8ABB-35A9B7E5392D}"/>
              </a:ext>
            </a:extLst>
          </p:cNvPr>
          <p:cNvSpPr>
            <a:spLocks xmlns:a="http://schemas.openxmlformats.org/drawingml/2006/main" noGrp="1"/>
          </p:cNvSpPr>
          <p:nvPr/>
        </p:nvSpPr>
        <p:spPr>
          <a:xfrm xmlns:a="http://schemas.openxmlformats.org/drawingml/2006/main">
            <a:off x="4905375" y="3905250"/>
            <a:ext cx="2533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231F20"/>
                </a:solidFill>
                <a:latin typeface="Meiryo"/>
                <a:ea typeface="Meiryo"/>
                <a:cs typeface="Meiryo"/>
              </a:defRPr>
            </a:defPPr>
          </a:lstStyle>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読む先と描く先を</a:t>
            </a:r>
          </a:p>
          <a:p xmlns:a="http://schemas.openxmlformats.org/drawingml/2006/main">
            <a:pPr algn="ctr">
              <a:defRPr sz="1950" b="0">
                <a:solidFill>
                  <a:srgbClr val="231F20"/>
                </a:solidFill>
                <a:latin typeface="Meiryo"/>
                <a:ea typeface="Meiryo"/>
                <a:cs typeface="Meiryo"/>
              </a:defRPr>
            </a:pPr>
            <a:r>
              <a:rPr sz="1950" b="0">
                <a:solidFill>
                  <a:srgbClr val="231F20"/>
                </a:solidFill>
                <a:latin typeface="Meiryo"/>
                <a:ea typeface="Meiryo"/>
                <a:cs typeface="Meiryo"/>
              </a:rPr>
              <a:t>入れ替える</a:t>
            </a:r>
          </a:p>
        </p:txBody>
      </p:sp>
      <p:sp>
        <p:nvSpPr>
          <p:cNvPr id="17" name="text-144">
            <a:extLst xmlns:a="http://schemas.openxmlformats.org/drawingml/2006/main">
              <a:ext uri="{FF2B5EF4-FFF2-40B4-BE49-F238E27FC236}">
                <a16:creationId xmlns:a16="http://schemas.microsoft.com/office/drawing/2014/main" id="{E035ECBC-0006-4E77-8ED1-3CD3DC57EAF2}"/>
              </a:ext>
            </a:extLst>
          </p:cNvPr>
          <p:cNvSpPr>
            <a:spLocks xmlns:a="http://schemas.openxmlformats.org/drawingml/2006/main" noGrp="1"/>
          </p:cNvSpPr>
          <p:nvPr/>
        </p:nvSpPr>
        <p:spPr>
          <a:xfrm xmlns:a="http://schemas.openxmlformats.org/drawingml/2006/main">
            <a:off x="685800" y="5610225"/>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Meiryo"/>
                <a:ea typeface="Meiryo"/>
                <a:cs typeface="Meiryo"/>
              </a:defRPr>
            </a:defPPr>
          </a:lstStyle>
          <a:p xmlns:a="http://schemas.openxmlformats.org/drawingml/2006/main">
            <a:pPr algn="ctr">
              <a:defRPr sz="2250" b="1">
                <a:solidFill>
                  <a:srgbClr val="231F20"/>
                </a:solidFill>
                <a:latin typeface="Meiryo"/>
                <a:ea typeface="Meiryo"/>
                <a:cs typeface="Meiryo"/>
              </a:defRPr>
            </a:pPr>
            <a:r>
              <a:rPr sz="2250" b="1">
                <a:solidFill>
                  <a:srgbClr val="231F20"/>
                </a:solidFill>
                <a:latin typeface="Meiryo"/>
                <a:ea typeface="Meiryo"/>
                <a:cs typeface="Meiryo"/>
              </a:rPr>
              <a:t>切り替え完了後に、古い表示画像Aを描き直せる</a:t>
            </a:r>
          </a:p>
        </p:txBody>
      </p:sp>
    </p:spTree>
    <p:extLst>
      <p:ext uri="{BB962C8B-B14F-4D97-AF65-F5344CB8AC3E}">
        <p14:creationId xmlns:p14="http://schemas.microsoft.com/office/powerpoint/2010/main" val="2420020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145">
            <a:extLst xmlns:a="http://schemas.openxmlformats.org/drawingml/2006/main">
              <a:ext uri="{FF2B5EF4-FFF2-40B4-BE49-F238E27FC236}">
                <a16:creationId xmlns:a16="http://schemas.microsoft.com/office/drawing/2014/main" id="{25132563-2EF5-408C-9019-90F97990A184}"/>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実機でブロック崩しの動作を確認した</a:t>
            </a:r>
          </a:p>
        </p:txBody>
      </p:sp>
      <p:sp>
        <p:nvSpPr>
          <p:cNvPr id="2" name="text-146">
            <a:extLst xmlns:a="http://schemas.openxmlformats.org/drawingml/2006/main">
              <a:ext uri="{FF2B5EF4-FFF2-40B4-BE49-F238E27FC236}">
                <a16:creationId xmlns:a16="http://schemas.microsoft.com/office/drawing/2014/main" id="{25C6EB79-990A-4539-AE18-4858FC88DFB3}"/>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7</a:t>
            </a:r>
          </a:p>
        </p:txBody>
      </p:sp>
      <p:pic>
        <p:nvPicPr>
          <p:cNvPr id="3" name="">
            <a:extLst xmlns:a="http://schemas.openxmlformats.org/drawingml/2006/main">
              <a:ext uri="{FF2B5EF4-FFF2-40B4-BE49-F238E27FC236}">
                <a16:creationId xmlns:a16="http://schemas.microsoft.com/office/drawing/2014/main" id="{AB02E750-0328-43A1-8439-094721D2BCE5}"/>
              </a:ext>
            </a:extLst>
          </p:cNvPr>
          <p:cNvPicPr>
            <a:picLocks xmlns:a="http://schemas.openxmlformats.org/drawingml/2006/main" noChangeAspect="1"/>
          </p:cNvPicPr>
          <p:nvPr/>
        </p:nvPicPr>
        <p:blipFill>
          <a:blip xmlns:r="http://schemas.openxmlformats.org/officeDocument/2006/relationships" xmlns:a="http://schemas.openxmlformats.org/drawingml/2006/main" r:embed="R8d83fa87adb74853"/>
          <a:stretch xmlns:a="http://schemas.openxmlformats.org/drawingml/2006/main"/>
        </p:blipFill>
        <p:spPr>
          <a:xfrm xmlns:a="http://schemas.openxmlformats.org/drawingml/2006/main">
            <a:off x="609600" y="1840111"/>
            <a:ext cx="6191250" cy="3482578"/>
          </a:xfrm>
          <a:prstGeom xmlns:a="http://schemas.openxmlformats.org/drawingml/2006/main" prst="rect">
            <a:avLst/>
          </a:prstGeom>
        </p:spPr>
      </p:pic>
      <p:sp>
        <p:nvSpPr>
          <p:cNvPr id="4" name="text-147">
            <a:extLst xmlns:a="http://schemas.openxmlformats.org/drawingml/2006/main">
              <a:ext uri="{FF2B5EF4-FFF2-40B4-BE49-F238E27FC236}">
                <a16:creationId xmlns:a16="http://schemas.microsoft.com/office/drawing/2014/main" id="{0F54C650-7DD8-40A7-A4A4-264E452E937D}"/>
              </a:ext>
            </a:extLst>
          </p:cNvPr>
          <p:cNvSpPr>
            <a:spLocks xmlns:a="http://schemas.openxmlformats.org/drawingml/2006/main" noGrp="1"/>
          </p:cNvSpPr>
          <p:nvPr/>
        </p:nvSpPr>
        <p:spPr>
          <a:xfrm xmlns:a="http://schemas.openxmlformats.org/drawingml/2006/main">
            <a:off x="7277100" y="2038350"/>
            <a:ext cx="42386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231F20"/>
                </a:solidFill>
                <a:latin typeface="Meiryo"/>
                <a:ea typeface="Meiryo"/>
                <a:cs typeface="Meiryo"/>
              </a:defRPr>
            </a:defPPr>
          </a:lstStyle>
          <a:p xmlns:a="http://schemas.openxmlformats.org/drawingml/2006/main">
            <a:pPr algn="l">
              <a:defRPr sz="2475" b="1">
                <a:solidFill>
                  <a:srgbClr val="231F20"/>
                </a:solidFill>
                <a:latin typeface="Meiryo"/>
                <a:ea typeface="Meiryo"/>
                <a:cs typeface="Meiryo"/>
              </a:defRPr>
            </a:pPr>
            <a:r>
              <a:rPr sz="2475" b="1">
                <a:solidFill>
                  <a:srgbClr val="231F20"/>
                </a:solidFill>
                <a:latin typeface="Meiryo"/>
                <a:ea typeface="Meiryo"/>
                <a:cs typeface="Meiryo"/>
              </a:rPr>
              <a:t>640 × 480 画素</a:t>
            </a:r>
          </a:p>
          <a:p xmlns:a="http://schemas.openxmlformats.org/drawingml/2006/main">
            <a:pPr algn="l">
              <a:defRPr sz="2475" b="1">
                <a:solidFill>
                  <a:srgbClr val="231F20"/>
                </a:solidFill>
                <a:latin typeface="Meiryo"/>
                <a:ea typeface="Meiryo"/>
                <a:cs typeface="Meiryo"/>
              </a:defRPr>
            </a:pPr>
            <a:r>
              <a:rPr sz="2475" b="1">
                <a:solidFill>
                  <a:srgbClr val="231F20"/>
                </a:solidFill>
                <a:latin typeface="Meiryo"/>
                <a:ea typeface="Meiryo"/>
                <a:cs typeface="Meiryo"/>
              </a:rPr>
              <a:t>5分間の自動プレイ</a:t>
            </a:r>
          </a:p>
        </p:txBody>
      </p:sp>
      <p:sp>
        <p:nvSpPr>
          <p:cNvPr id="5" name="text-148">
            <a:extLst xmlns:a="http://schemas.openxmlformats.org/drawingml/2006/main">
              <a:ext uri="{FF2B5EF4-FFF2-40B4-BE49-F238E27FC236}">
                <a16:creationId xmlns:a16="http://schemas.microsoft.com/office/drawing/2014/main" id="{8919EB1B-4B7C-4719-A699-840B76F36281}"/>
              </a:ext>
            </a:extLst>
          </p:cNvPr>
          <p:cNvSpPr>
            <a:spLocks xmlns:a="http://schemas.openxmlformats.org/drawingml/2006/main" noGrp="1"/>
          </p:cNvSpPr>
          <p:nvPr/>
        </p:nvSpPr>
        <p:spPr>
          <a:xfrm xmlns:a="http://schemas.openxmlformats.org/drawingml/2006/main">
            <a:off x="7277100" y="3476625"/>
            <a:ext cx="4238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231F20"/>
                </a:solidFill>
                <a:latin typeface="Meiryo"/>
                <a:ea typeface="Meiryo"/>
                <a:cs typeface="Meiryo"/>
              </a:defRPr>
            </a:defPPr>
          </a:lstStyle>
          <a:p xmlns:a="http://schemas.openxmlformats.org/drawingml/2006/main">
            <a:pPr algn="l">
              <a:defRPr sz="2175" b="0">
                <a:solidFill>
                  <a:srgbClr val="231F20"/>
                </a:solidFill>
                <a:latin typeface="Meiryo"/>
                <a:ea typeface="Meiryo"/>
                <a:cs typeface="Meiryo"/>
              </a:defRPr>
            </a:pPr>
            <a:r>
              <a:rPr sz="2175" b="0">
                <a:solidFill>
                  <a:srgbClr val="231F20"/>
                </a:solidFill>
                <a:latin typeface="Meiryo"/>
                <a:ea typeface="Meiryo"/>
                <a:cs typeface="Meiryo"/>
              </a:rPr>
              <a:t>接続比較では27画面で</a:t>
            </a:r>
          </a:p>
          <a:p xmlns:a="http://schemas.openxmlformats.org/drawingml/2006/main">
            <a:pPr algn="l">
              <a:defRPr sz="2175" b="0">
                <a:solidFill>
                  <a:srgbClr val="231F20"/>
                </a:solidFill>
                <a:latin typeface="Meiryo"/>
                <a:ea typeface="Meiryo"/>
                <a:cs typeface="Meiryo"/>
              </a:defRPr>
            </a:pPr>
            <a:r>
              <a:rPr sz="2175" b="0">
                <a:solidFill>
                  <a:srgbClr val="231F20"/>
                </a:solidFill>
                <a:latin typeface="Meiryo"/>
                <a:ea typeface="Meiryo"/>
                <a:cs typeface="Meiryo"/>
              </a:rPr>
              <a:t>全画素が正解画像と一致</a:t>
            </a:r>
          </a:p>
        </p:txBody>
      </p:sp>
      <p:sp>
        <p:nvSpPr>
          <p:cNvPr id="6" name="text-149">
            <a:extLst xmlns:a="http://schemas.openxmlformats.org/drawingml/2006/main">
              <a:ext uri="{FF2B5EF4-FFF2-40B4-BE49-F238E27FC236}">
                <a16:creationId xmlns:a16="http://schemas.microsoft.com/office/drawing/2014/main" id="{7F464D15-F10B-4422-95B5-5E74385CED7E}"/>
              </a:ext>
            </a:extLst>
          </p:cNvPr>
          <p:cNvSpPr>
            <a:spLocks xmlns:a="http://schemas.openxmlformats.org/drawingml/2006/main" noGrp="1"/>
          </p:cNvSpPr>
          <p:nvPr/>
        </p:nvSpPr>
        <p:spPr>
          <a:xfrm xmlns:a="http://schemas.openxmlformats.org/drawingml/2006/main">
            <a:off x="7277100" y="4857750"/>
            <a:ext cx="423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Meiryo"/>
                <a:ea typeface="Meiryo"/>
                <a:cs typeface="Meiryo"/>
              </a:defRPr>
            </a:defPPr>
          </a:lstStyle>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専用コントローラーは</a:t>
            </a:r>
          </a:p>
          <a:p xmlns:a="http://schemas.openxmlformats.org/drawingml/2006/main">
            <a:pPr algn="l">
              <a:defRPr sz="1950" b="0">
                <a:solidFill>
                  <a:srgbClr val="231F20"/>
                </a:solidFill>
                <a:latin typeface="Meiryo"/>
                <a:ea typeface="Meiryo"/>
                <a:cs typeface="Meiryo"/>
              </a:defRPr>
            </a:pPr>
            <a:r>
              <a:rPr sz="1950" b="0">
                <a:solidFill>
                  <a:srgbClr val="231F20"/>
                </a:solidFill>
                <a:latin typeface="Meiryo"/>
                <a:ea typeface="Meiryo"/>
                <a:cs typeface="Meiryo"/>
              </a:rPr>
              <a:t>最終発表に向けて接続・検証</a:t>
            </a:r>
          </a:p>
        </p:txBody>
      </p:sp>
      <p:sp>
        <p:nvSpPr>
          <p:cNvPr id="7" name="text-150">
            <a:extLst xmlns:a="http://schemas.openxmlformats.org/drawingml/2006/main">
              <a:ext uri="{FF2B5EF4-FFF2-40B4-BE49-F238E27FC236}">
                <a16:creationId xmlns:a16="http://schemas.microsoft.com/office/drawing/2014/main" id="{031564CA-CCAC-47B3-8B30-5007414359AF}"/>
              </a:ext>
            </a:extLst>
          </p:cNvPr>
          <p:cNvSpPr>
            <a:spLocks xmlns:a="http://schemas.openxmlformats.org/drawingml/2006/main" noGrp="1"/>
          </p:cNvSpPr>
          <p:nvPr/>
        </p:nvSpPr>
        <p:spPr>
          <a:xfrm xmlns:a="http://schemas.openxmlformats.org/drawingml/2006/main">
            <a:off x="685800" y="596265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Meiryo"/>
                <a:ea typeface="Meiryo"/>
                <a:cs typeface="Meiryo"/>
              </a:defRPr>
            </a:defPPr>
          </a:lstStyle>
          <a:p xmlns:a="http://schemas.openxmlformats.org/drawingml/2006/main">
            <a:pPr algn="l">
              <a:defRPr sz="1875" b="0">
                <a:solidFill>
                  <a:srgbClr val="231F20"/>
                </a:solidFill>
                <a:latin typeface="Meiryo"/>
                <a:ea typeface="Meiryo"/>
                <a:cs typeface="Meiryo"/>
              </a:defRPr>
            </a:pPr>
            <a:r>
              <a:rPr sz="1875" b="0">
                <a:solidFill>
                  <a:srgbClr val="231F20"/>
                </a:solidFill>
                <a:latin typeface="Meiryo"/>
                <a:ea typeface="Meiryo"/>
                <a:cs typeface="Meiryo"/>
              </a:rPr>
              <a:t>大きいテクスチャと、映像認識には未解決の条件がある</a:t>
            </a:r>
          </a:p>
        </p:txBody>
      </p:sp>
    </p:spTree>
    <p:extLst>
      <p:ext uri="{BB962C8B-B14F-4D97-AF65-F5344CB8AC3E}">
        <p14:creationId xmlns:p14="http://schemas.microsoft.com/office/powerpoint/2010/main" val="209106413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151">
            <a:extLst xmlns:a="http://schemas.openxmlformats.org/drawingml/2006/main">
              <a:ext uri="{FF2B5EF4-FFF2-40B4-BE49-F238E27FC236}">
                <a16:creationId xmlns:a16="http://schemas.microsoft.com/office/drawing/2014/main" id="{A26B0A78-5355-4B2D-99F0-835C968BF305}"/>
              </a:ext>
            </a:extLst>
          </p:cNvPr>
          <p:cNvSpPr>
            <a:spLocks xmlns:a="http://schemas.openxmlformats.org/drawingml/2006/main" noGrp="1"/>
          </p:cNvSpPr>
          <p:nvPr/>
        </p:nvSpPr>
        <p:spPr>
          <a:xfrm xmlns:a="http://schemas.openxmlformats.org/drawingml/2006/main">
            <a:off x="609600" y="381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000" b="1">
                <a:solidFill>
                  <a:srgbClr val="231F20"/>
                </a:solidFill>
                <a:latin typeface="Meiryo"/>
                <a:ea typeface="Meiryo"/>
                <a:cs typeface="Meiryo"/>
              </a:defRPr>
            </a:defPPr>
          </a:lstStyle>
          <a:p xmlns:a="http://schemas.openxmlformats.org/drawingml/2006/main">
            <a:pPr algn="l">
              <a:defRPr sz="3000" b="1">
                <a:solidFill>
                  <a:srgbClr val="231F20"/>
                </a:solidFill>
                <a:latin typeface="Meiryo"/>
                <a:ea typeface="Meiryo"/>
                <a:cs typeface="Meiryo"/>
              </a:defRPr>
            </a:pPr>
            <a:r>
              <a:rPr sz="3000" b="1">
                <a:solidFill>
                  <a:srgbClr val="231F20"/>
                </a:solidFill>
                <a:latin typeface="Meiryo"/>
                <a:ea typeface="Meiryo"/>
                <a:cs typeface="Meiryo"/>
              </a:rPr>
              <a:t>Wallyを拡張するための設計例</a:t>
            </a:r>
          </a:p>
        </p:txBody>
      </p:sp>
      <p:sp>
        <p:nvSpPr>
          <p:cNvPr id="2" name="text-152">
            <a:extLst xmlns:a="http://schemas.openxmlformats.org/drawingml/2006/main">
              <a:ext uri="{FF2B5EF4-FFF2-40B4-BE49-F238E27FC236}">
                <a16:creationId xmlns:a16="http://schemas.microsoft.com/office/drawing/2014/main" id="{D6212C4E-ABF4-43EF-8024-CC2AA7422BBB}"/>
              </a:ext>
            </a:extLst>
          </p:cNvPr>
          <p:cNvSpPr>
            <a:spLocks xmlns:a="http://schemas.openxmlformats.org/drawingml/2006/main" noGrp="1"/>
          </p:cNvSpPr>
          <p:nvPr/>
        </p:nvSpPr>
        <p:spPr>
          <a:xfrm xmlns:a="http://schemas.openxmlformats.org/drawingml/2006/main">
            <a:off x="11353800" y="6362700"/>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231F20"/>
                </a:solidFill>
                <a:latin typeface="Meiryo"/>
                <a:ea typeface="Meiryo"/>
                <a:cs typeface="Meiryo"/>
              </a:defRPr>
            </a:defPPr>
          </a:lstStyle>
          <a:p xmlns:a="http://schemas.openxmlformats.org/drawingml/2006/main">
            <a:pPr algn="r">
              <a:defRPr sz="1350" b="0">
                <a:solidFill>
                  <a:srgbClr val="231F20"/>
                </a:solidFill>
                <a:latin typeface="Meiryo"/>
                <a:ea typeface="Meiryo"/>
                <a:cs typeface="Meiryo"/>
              </a:defRPr>
            </a:pPr>
            <a:r>
              <a:rPr sz="1350" b="0">
                <a:solidFill>
                  <a:srgbClr val="231F20"/>
                </a:solidFill>
                <a:latin typeface="Meiryo"/>
                <a:ea typeface="Meiryo"/>
                <a:cs typeface="Meiryo"/>
              </a:rPr>
              <a:t>8</a:t>
            </a:r>
          </a:p>
        </p:txBody>
      </p:sp>
      <p:sp>
        <p:nvSpPr>
          <p:cNvPr id="3" name="text-153">
            <a:extLst xmlns:a="http://schemas.openxmlformats.org/drawingml/2006/main">
              <a:ext uri="{FF2B5EF4-FFF2-40B4-BE49-F238E27FC236}">
                <a16:creationId xmlns:a16="http://schemas.microsoft.com/office/drawing/2014/main" id="{EBB85C79-3862-45FE-B64C-B883BAC1555C}"/>
              </a:ext>
            </a:extLst>
          </p:cNvPr>
          <p:cNvSpPr>
            <a:spLocks xmlns:a="http://schemas.openxmlformats.org/drawingml/2006/main" noGrp="1"/>
          </p:cNvSpPr>
          <p:nvPr/>
        </p:nvSpPr>
        <p:spPr>
          <a:xfrm xmlns:a="http://schemas.openxmlformats.org/drawingml/2006/main">
            <a:off x="857250" y="1466850"/>
            <a:ext cx="102870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225" b="1">
                <a:solidFill>
                  <a:srgbClr val="231F20"/>
                </a:solidFill>
                <a:latin typeface="Meiryo"/>
                <a:ea typeface="Meiryo"/>
                <a:cs typeface="Meiryo"/>
              </a:defRPr>
            </a:defPPr>
          </a:lstStyle>
          <a:p xmlns:a="http://schemas.openxmlformats.org/drawingml/2006/main">
            <a:pPr algn="l">
              <a:defRPr sz="3225" b="1">
                <a:solidFill>
                  <a:srgbClr val="231F20"/>
                </a:solidFill>
                <a:latin typeface="Meiryo"/>
                <a:ea typeface="Meiryo"/>
                <a:cs typeface="Meiryo"/>
              </a:defRPr>
            </a:pPr>
            <a:r>
              <a:rPr sz="3225" b="1">
                <a:solidFill>
                  <a:srgbClr val="231F20"/>
                </a:solidFill>
                <a:latin typeface="Meiryo"/>
                <a:ea typeface="Meiryo"/>
                <a:cs typeface="Meiryo"/>
              </a:rPr>
              <a:t>CPUに描画・表示機能を追加し、</a:t>
            </a:r>
          </a:p>
          <a:p xmlns:a="http://schemas.openxmlformats.org/drawingml/2006/main">
            <a:pPr algn="l">
              <a:defRPr sz="3225" b="1">
                <a:solidFill>
                  <a:srgbClr val="231F20"/>
                </a:solidFill>
                <a:latin typeface="Meiryo"/>
                <a:ea typeface="Meiryo"/>
                <a:cs typeface="Meiryo"/>
              </a:defRPr>
            </a:pPr>
            <a:r>
              <a:rPr sz="3225" b="1">
                <a:solidFill>
                  <a:srgbClr val="231F20"/>
                </a:solidFill>
                <a:latin typeface="Meiryo"/>
                <a:ea typeface="Meiryo"/>
                <a:cs typeface="Meiryo"/>
              </a:rPr>
              <a:t>二次元ゲームを実行できた</a:t>
            </a:r>
          </a:p>
        </p:txBody>
      </p:sp>
      <p:sp>
        <p:nvSpPr>
          <p:cNvPr id="4" name="text-154">
            <a:extLst xmlns:a="http://schemas.openxmlformats.org/drawingml/2006/main">
              <a:ext uri="{FF2B5EF4-FFF2-40B4-BE49-F238E27FC236}">
                <a16:creationId xmlns:a16="http://schemas.microsoft.com/office/drawing/2014/main" id="{32A8F631-C182-431A-A170-9ECF8204C42F}"/>
              </a:ext>
            </a:extLst>
          </p:cNvPr>
          <p:cNvSpPr>
            <a:spLocks xmlns:a="http://schemas.openxmlformats.org/drawingml/2006/main" noGrp="1"/>
          </p:cNvSpPr>
          <p:nvPr/>
        </p:nvSpPr>
        <p:spPr>
          <a:xfrm xmlns:a="http://schemas.openxmlformats.org/drawingml/2006/main">
            <a:off x="857250" y="2990850"/>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0">
                <a:solidFill>
                  <a:srgbClr val="231F20"/>
                </a:solidFill>
                <a:latin typeface="Meiryo"/>
                <a:ea typeface="Meiryo"/>
                <a:cs typeface="Meiryo"/>
              </a:defRPr>
            </a:defPPr>
          </a:lstStyle>
          <a:p xmlns:a="http://schemas.openxmlformats.org/drawingml/2006/main">
            <a:pPr algn="l">
              <a:defRPr sz="2100" b="0">
                <a:solidFill>
                  <a:srgbClr val="231F20"/>
                </a:solidFill>
                <a:latin typeface="Meiryo"/>
                <a:ea typeface="Meiryo"/>
                <a:cs typeface="Meiryo"/>
              </a:defRPr>
            </a:pPr>
            <a:r>
              <a:rPr sz="2100" b="0">
                <a:solidFill>
                  <a:srgbClr val="231F20"/>
                </a:solidFill>
                <a:latin typeface="Meiryo"/>
                <a:ea typeface="Meiryo"/>
                <a:cs typeface="Meiryo"/>
              </a:rPr>
              <a:t>試したゲーム条件では、転送回路の追加や</a:t>
            </a:r>
          </a:p>
          <a:p xmlns:a="http://schemas.openxmlformats.org/drawingml/2006/main">
            <a:pPr algn="l">
              <a:defRPr sz="2100" b="0">
                <a:solidFill>
                  <a:srgbClr val="231F20"/>
                </a:solidFill>
                <a:latin typeface="Meiryo"/>
                <a:ea typeface="Meiryo"/>
                <a:cs typeface="Meiryo"/>
              </a:defRPr>
            </a:pPr>
            <a:r>
              <a:rPr sz="2100" b="0">
                <a:solidFill>
                  <a:srgbClr val="231F20"/>
                </a:solidFill>
                <a:latin typeface="Meiryo"/>
                <a:ea typeface="Meiryo"/>
                <a:cs typeface="Meiryo"/>
              </a:rPr>
              <a:t>描画用メモリの増量だけでは、大きく速くならなかった</a:t>
            </a:r>
          </a:p>
        </p:txBody>
      </p:sp>
      <p:sp>
        <p:nvSpPr>
          <p:cNvPr id="5" name="text-155">
            <a:extLst xmlns:a="http://schemas.openxmlformats.org/drawingml/2006/main">
              <a:ext uri="{FF2B5EF4-FFF2-40B4-BE49-F238E27FC236}">
                <a16:creationId xmlns:a16="http://schemas.microsoft.com/office/drawing/2014/main" id="{009912A1-A61A-462E-91BB-447C2FA7E304}"/>
              </a:ext>
            </a:extLst>
          </p:cNvPr>
          <p:cNvSpPr>
            <a:spLocks xmlns:a="http://schemas.openxmlformats.org/drawingml/2006/main" noGrp="1"/>
          </p:cNvSpPr>
          <p:nvPr/>
        </p:nvSpPr>
        <p:spPr>
          <a:xfrm xmlns:a="http://schemas.openxmlformats.org/drawingml/2006/main">
            <a:off x="857250" y="4191000"/>
            <a:ext cx="1028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0">
                <a:solidFill>
                  <a:srgbClr val="231F20"/>
                </a:solidFill>
                <a:latin typeface="Meiryo"/>
                <a:ea typeface="Meiryo"/>
                <a:cs typeface="Meiryo"/>
              </a:defRPr>
            </a:defPPr>
          </a:lstStyle>
          <a:p xmlns:a="http://schemas.openxmlformats.org/drawingml/2006/main">
            <a:pPr algn="l">
              <a:defRPr sz="2250" b="0">
                <a:solidFill>
                  <a:srgbClr val="231F20"/>
                </a:solidFill>
                <a:latin typeface="Meiryo"/>
                <a:ea typeface="Meiryo"/>
                <a:cs typeface="Meiryo"/>
              </a:defRPr>
            </a:pPr>
            <a:r>
              <a:rPr sz="2250" b="0">
                <a:solidFill>
                  <a:srgbClr val="231F20"/>
                </a:solidFill>
                <a:latin typeface="Meiryo"/>
                <a:ea typeface="Meiryo"/>
                <a:cs typeface="Meiryo"/>
              </a:rPr>
              <a:t>接続設計・ソースコード・試験条件を公開</a:t>
            </a:r>
          </a:p>
        </p:txBody>
      </p:sp>
      <p:sp>
        <p:nvSpPr>
          <p:cNvPr id="6" name="text-156">
            <a:extLst xmlns:a="http://schemas.openxmlformats.org/drawingml/2006/main">
              <a:ext uri="{FF2B5EF4-FFF2-40B4-BE49-F238E27FC236}">
                <a16:creationId xmlns:a16="http://schemas.microsoft.com/office/drawing/2014/main" id="{2AF675EE-D333-400A-9DF2-5AD95A1314E1}"/>
              </a:ext>
            </a:extLst>
          </p:cNvPr>
          <p:cNvSpPr>
            <a:spLocks xmlns:a="http://schemas.openxmlformats.org/drawingml/2006/main" noGrp="1"/>
          </p:cNvSpPr>
          <p:nvPr/>
        </p:nvSpPr>
        <p:spPr>
          <a:xfrm xmlns:a="http://schemas.openxmlformats.org/drawingml/2006/main">
            <a:off x="857250" y="5095875"/>
            <a:ext cx="1028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Meiryo"/>
                <a:ea typeface="Meiryo"/>
                <a:cs typeface="Meiryo"/>
              </a:defRPr>
            </a:defPPr>
          </a:lstStyle>
          <a:p xmlns:a="http://schemas.openxmlformats.org/drawingml/2006/main">
            <a:pPr algn="l">
              <a:defRPr sz="2325" b="1">
                <a:solidFill>
                  <a:srgbClr val="231F20"/>
                </a:solidFill>
                <a:latin typeface="Meiryo"/>
                <a:ea typeface="Meiryo"/>
                <a:cs typeface="Meiryo"/>
              </a:defRPr>
            </a:pPr>
            <a:r>
              <a:rPr sz="2325" b="1">
                <a:solidFill>
                  <a:srgbClr val="231F20"/>
                </a:solidFill>
                <a:latin typeface="Meiryo"/>
                <a:ea typeface="Meiryo"/>
                <a:cs typeface="Meiryo"/>
              </a:rPr>
              <a:t>最終発表：専用コントローラーを接続し、</a:t>
            </a:r>
          </a:p>
          <a:p xmlns:a="http://schemas.openxmlformats.org/drawingml/2006/main">
            <a:pPr algn="l">
              <a:defRPr sz="2325" b="1">
                <a:solidFill>
                  <a:srgbClr val="231F20"/>
                </a:solidFill>
                <a:latin typeface="Meiryo"/>
                <a:ea typeface="Meiryo"/>
                <a:cs typeface="Meiryo"/>
              </a:defRPr>
            </a:pPr>
            <a:r>
              <a:rPr sz="2325" b="1">
                <a:solidFill>
                  <a:srgbClr val="231F20"/>
                </a:solidFill>
                <a:latin typeface="Meiryo"/>
                <a:ea typeface="Meiryo"/>
                <a:cs typeface="Meiryo"/>
              </a:rPr>
              <a:t>ボタンによるゲーム操作を検証する</a:t>
            </a:r>
          </a:p>
        </p:txBody>
      </p:sp>
    </p:spTree>
    <p:extLst>
      <p:ext uri="{BB962C8B-B14F-4D97-AF65-F5344CB8AC3E}">
        <p14:creationId xmlns:p14="http://schemas.microsoft.com/office/powerpoint/2010/main" val="2881110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title>Presentation</dc:title>
  <dcterms:created xsi:type="dcterms:W3CDTF">2026-10-11T02:24:29.5080000Z</dcterms:created>
  <dcterms:modified xsi:type="dcterms:W3CDTF">2026-10-11T02:24:29.5080000Z</dcterms:modified>
</coreProperties>
</file>