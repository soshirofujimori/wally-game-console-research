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xml version='1.0' encoding='UTF-8' standalone='yes'?>
<Relationships xmlns="http://schemas.openxmlformats.org/package/2006/relationships"><Relationship Type="http://schemas.openxmlformats.org/package/2006/relationships/metadata/core-properties" Target="/docProps/core.xml" Id="R7de4de22da504137"/><Relationship Type="http://schemas.openxmlformats.org/officeDocument/2006/relationships/extended-properties" Target="/docProps/app.xml" Id="R94af7d0ed29c4b9b"/><Relationship Type="http://schemas.openxmlformats.org/officeDocument/2006/relationships/officeDocument" Target="/ppt/presentation.xml" Id="R525995ac40964ede"/></Relationships>
</file>

<file path=ppt/presentation.xml><?xml version="1.0" encoding="utf-8"?>
<p:presentation xmlns:p="http://schemas.openxmlformats.org/presentationml/2006/main">
  <p:sldMasterIdLst>
    <p:sldMasterId xmlns:r="http://schemas.openxmlformats.org/officeDocument/2006/relationships" id="2147483648" r:id="Rbbbd8343724444ca"/>
  </p:sldMasterIdLst>
  <p:notesMasterIdLst>
    <p:notesMasterId xmlns:r="http://schemas.openxmlformats.org/officeDocument/2006/relationships" r:id="R53c7ecb896324d68"/>
  </p:notesMasterIdLst>
  <p:sldIdLst>
    <p:sldId xmlns:r="http://schemas.openxmlformats.org/officeDocument/2006/relationships" id="256" r:id="Rb81c84c157484b26"/>
    <p:sldId xmlns:r="http://schemas.openxmlformats.org/officeDocument/2006/relationships" id="257" r:id="R8690009005f8488d"/>
    <p:sldId xmlns:r="http://schemas.openxmlformats.org/officeDocument/2006/relationships" id="258" r:id="R46f95abbd8a342c1"/>
    <p:sldId xmlns:r="http://schemas.openxmlformats.org/officeDocument/2006/relationships" id="259" r:id="R45371b4c6213432d"/>
    <p:sldId xmlns:r="http://schemas.openxmlformats.org/officeDocument/2006/relationships" id="260" r:id="Rf1375968163047df"/>
    <p:sldId xmlns:r="http://schemas.openxmlformats.org/officeDocument/2006/relationships" id="261" r:id="R25cf43d1084e48bb"/>
    <p:sldId xmlns:r="http://schemas.openxmlformats.org/officeDocument/2006/relationships" id="262" r:id="R0c701d26f9074388"/>
    <p:sldId xmlns:r="http://schemas.openxmlformats.org/officeDocument/2006/relationships" id="263" r:id="R4367e6d753bd463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4575d980a60c4374"/><Relationship Type="http://schemas.openxmlformats.org/officeDocument/2006/relationships/slideMaster" Target="/ppt/slideMasters/slideMaster1.xml" Id="Rbbbd8343724444ca"/><Relationship Type="http://schemas.openxmlformats.org/officeDocument/2006/relationships/notesMaster" Target="/ppt/notesMasters/notesMaster1.xml" Id="R53c7ecb896324d68"/><Relationship Type="http://schemas.openxmlformats.org/officeDocument/2006/relationships/presProps" Target="/ppt/presProps.xml" Id="Rdbd6d17ba7d5483d"/><Relationship Type="http://schemas.openxmlformats.org/officeDocument/2006/relationships/tableStyles" Target="/ppt/tableStyles.xml" Id="R6b45d438414a4d3e"/><Relationship Type="http://schemas.openxmlformats.org/officeDocument/2006/relationships/slide" Target="/ppt/slides/slide1.xml" Id="Rb81c84c157484b26"/><Relationship Type="http://schemas.openxmlformats.org/officeDocument/2006/relationships/slide" Target="/ppt/slides/slide2.xml" Id="R8690009005f8488d"/><Relationship Type="http://schemas.openxmlformats.org/officeDocument/2006/relationships/slide" Target="/ppt/slides/slide3.xml" Id="R46f95abbd8a342c1"/><Relationship Type="http://schemas.openxmlformats.org/officeDocument/2006/relationships/slide" Target="/ppt/slides/slide4.xml" Id="R45371b4c6213432d"/><Relationship Type="http://schemas.openxmlformats.org/officeDocument/2006/relationships/slide" Target="/ppt/slides/slide5.xml" Id="Rf1375968163047df"/><Relationship Type="http://schemas.openxmlformats.org/officeDocument/2006/relationships/slide" Target="/ppt/slides/slide6.xml" Id="R25cf43d1084e48bb"/><Relationship Type="http://schemas.openxmlformats.org/officeDocument/2006/relationships/slide" Target="/ppt/slides/slide7.xml" Id="R0c701d26f9074388"/><Relationship Type="http://schemas.openxmlformats.org/officeDocument/2006/relationships/slide" Target="/ppt/slides/slide8.xml" Id="R4367e6d753bd4631"/></Relationships>
</file>

<file path=ppt/notesMasters/_rels/notesMaster1.xml.rels><?xml version='1.0' encoding='UTF-8' standalone='yes'?>
<Relationships xmlns="http://schemas.openxmlformats.org/package/2006/relationships"><Relationship Type="http://schemas.openxmlformats.org/officeDocument/2006/relationships/theme" Target="/ppt/notesMasters/theme/theme3.xml" Id="Rf73684c57be640f1"/></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Type="http://schemas.openxmlformats.org/officeDocument/2006/relationships/slide" Target="/ppt/slides/slide1.xml" Id="R2742afa3af4c4239"/><Relationship Type="http://schemas.openxmlformats.org/officeDocument/2006/relationships/notesMaster" Target="/ppt/notesMasters/notesMaster1.xml" Id="R1baee3934dd74e7e"/></Relationships>
</file>

<file path=ppt/notesSlides/_rels/notesSlide2.xml.rels><?xml version='1.0' encoding='UTF-8' standalone='yes'?>
<Relationships xmlns="http://schemas.openxmlformats.org/package/2006/relationships"><Relationship Type="http://schemas.openxmlformats.org/officeDocument/2006/relationships/slide" Target="/ppt/slides/slide2.xml" Id="Rfa52d907bc624f9f"/><Relationship Type="http://schemas.openxmlformats.org/officeDocument/2006/relationships/notesMaster" Target="/ppt/notesMasters/notesMaster1.xml" Id="R4bb65d1d437f413e"/></Relationships>
</file>

<file path=ppt/notesSlides/_rels/notesSlide3.xml.rels><?xml version='1.0' encoding='UTF-8' standalone='yes'?>
<Relationships xmlns="http://schemas.openxmlformats.org/package/2006/relationships"><Relationship Type="http://schemas.openxmlformats.org/officeDocument/2006/relationships/slide" Target="/ppt/slides/slide3.xml" Id="R7185e8cb9bf94f0d"/><Relationship Type="http://schemas.openxmlformats.org/officeDocument/2006/relationships/notesMaster" Target="/ppt/notesMasters/notesMaster1.xml" Id="R30f53d4fdf2a4ebb"/></Relationships>
</file>

<file path=ppt/notesSlides/_rels/notesSlide4.xml.rels><?xml version='1.0' encoding='UTF-8' standalone='yes'?>
<Relationships xmlns="http://schemas.openxmlformats.org/package/2006/relationships"><Relationship Type="http://schemas.openxmlformats.org/officeDocument/2006/relationships/slide" Target="/ppt/slides/slide4.xml" Id="Rb8fed069c0114615"/><Relationship Type="http://schemas.openxmlformats.org/officeDocument/2006/relationships/notesMaster" Target="/ppt/notesMasters/notesMaster1.xml" Id="R765e3a30827e4a08"/></Relationships>
</file>

<file path=ppt/notesSlides/_rels/notesSlide5.xml.rels><?xml version='1.0' encoding='UTF-8' standalone='yes'?>
<Relationships xmlns="http://schemas.openxmlformats.org/package/2006/relationships"><Relationship Type="http://schemas.openxmlformats.org/officeDocument/2006/relationships/slide" Target="/ppt/slides/slide5.xml" Id="Raf9be799f9774f62"/><Relationship Type="http://schemas.openxmlformats.org/officeDocument/2006/relationships/notesMaster" Target="/ppt/notesMasters/notesMaster1.xml" Id="R7b6205b629fe410a"/></Relationships>
</file>

<file path=ppt/notesSlides/_rels/notesSlide6.xml.rels><?xml version='1.0' encoding='UTF-8' standalone='yes'?>
<Relationships xmlns="http://schemas.openxmlformats.org/package/2006/relationships"><Relationship Type="http://schemas.openxmlformats.org/officeDocument/2006/relationships/slide" Target="/ppt/slides/slide6.xml" Id="R186216a08a274d40"/><Relationship Type="http://schemas.openxmlformats.org/officeDocument/2006/relationships/notesMaster" Target="/ppt/notesMasters/notesMaster1.xml" Id="Rf4b01c96cec54ac5"/></Relationships>
</file>

<file path=ppt/notesSlides/_rels/notesSlide7.xml.rels><?xml version='1.0' encoding='UTF-8' standalone='yes'?>
<Relationships xmlns="http://schemas.openxmlformats.org/package/2006/relationships"><Relationship Type="http://schemas.openxmlformats.org/officeDocument/2006/relationships/slide" Target="/ppt/slides/slide7.xml" Id="Rf374fe71f3d44811"/><Relationship Type="http://schemas.openxmlformats.org/officeDocument/2006/relationships/notesMaster" Target="/ppt/notesMasters/notesMaster1.xml" Id="R1939282590414cb4"/></Relationships>
</file>

<file path=ppt/notesSlides/_rels/notesSlide8.xml.rels><?xml version='1.0' encoding='UTF-8' standalone='yes'?>
<Relationships xmlns="http://schemas.openxmlformats.org/package/2006/relationships"><Relationship Type="http://schemas.openxmlformats.org/officeDocument/2006/relationships/slide" Target="/ppt/slides/slide8.xml" Id="Ra9bc6843ee784230"/><Relationship Type="http://schemas.openxmlformats.org/officeDocument/2006/relationships/notesMaster" Target="/ppt/notesMasters/notesMaster1.xml" Id="Rec55d17fac4d4d93"/></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想定時間：25秒</a:t>
            </a:r>
          </a:p>
          <a:p xmlns:a="http://schemas.openxmlformats.org/drawingml/2006/main">
            <a:r>
              <a:t/>
            </a:r>
          </a:p>
          <a:p xmlns:a="http://schemas.openxmlformats.org/drawingml/2006/main">
            <a:r>
              <a:t>公開CPUであるWallyに、画面を描く回路を接続し、ブロック崩しを動かすゲーム機を作りました。目的は、Wallyに周辺機能を追加する学習者が、接続方法と確認方法を参照できる例を示すことです。今日は、基板の中に何を作り、どう画面を出し、何を確かめたかを説明します。</a:t>
            </a:r>
          </a:p>
          <a:p xmlns:a="http://schemas.openxmlformats.org/drawingml/2006/main">
            <a:r>
              <a:t>根拠：docs/thesis/本文.md 第5〜10章、第12章、第15章。実験記録 E6、E7。製品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想定時間：35秒</a:t>
            </a:r>
          </a:p>
          <a:p xmlns:a="http://schemas.openxmlformats.org/drawingml/2006/main">
            <a:r>
              <a:t/>
            </a:r>
          </a:p>
          <a:p xmlns:a="http://schemas.openxmlformats.org/drawingml/2006/main">
            <a:r>
              <a:t>FPGAボードには、FPGAチップのほかにメモリやSDカードスロット、HDMI端子があります。FPGAには、論理ゲートや記憶素子の接続を設定して、目的に合った回路を実装できます。図のゲートはそのイメージです。周辺の部品そのものをFPGAの中に作るのではなく、その部品を操作する回路を中に作ります。</a:t>
            </a:r>
          </a:p>
          <a:p xmlns:a="http://schemas.openxmlformats.org/drawingml/2006/main">
            <a:r>
              <a:t>根拠：docs/thesis/本文.md 第5〜10章、第12章、第15章。実験記録 E6、E7。製品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想定時間：50秒</a:t>
            </a:r>
          </a:p>
          <a:p xmlns:a="http://schemas.openxmlformats.org/drawingml/2006/main">
            <a:r>
              <a:t/>
            </a:r>
          </a:p>
          <a:p xmlns:a="http://schemas.openxmlformats.org/drawingml/2006/main">
            <a:r>
              <a:t>このFPGAの中に、WallyとRasterIXを配置しました。前の図と、部品とチップの位置は同じです。CPUのバスにはSDカード制御回路と、描画命令を渡す接続回路をつなぎます。CPUも描画側も外のDDR3メモリを使うため、メモリへのアクセスをまとめます。RasterIXが作った画像は、表示回路が読み、HDMI端子から出します。既存のCPUと描画回路を利用し、この接続と制御を設計した部分が本研究です。</a:t>
            </a:r>
          </a:p>
          <a:p xmlns:a="http://schemas.openxmlformats.org/drawingml/2006/main">
            <a:r>
              <a:t>根拠：docs/thesis/本文.md 第5〜10章、第12章、第15章。実験記録 E6、E7。製品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想定時間：50秒</a:t>
            </a:r>
          </a:p>
          <a:p xmlns:a="http://schemas.openxmlformats.org/drawingml/2006/main">
            <a:r>
              <a:t/>
            </a:r>
          </a:p>
          <a:p xmlns:a="http://schemas.openxmlformats.org/drawingml/2006/main">
            <a:r>
              <a:t>CPUはSDカードから読み込んだゲームを実行します。一回の処理でボールの位置を更新し、位置や色を描画命令にしてメモリへ置きます。接続回路から命令を受けたRasterIXが画像を作り、表示回路が読み出します。これを繰り返すと動いて見えます。位置の数値、描画命令、画素の色は別々のデータです。命令を送る接続と、できた画像を表示する接続を、それぞれ用意しました。</a:t>
            </a:r>
          </a:p>
          <a:p xmlns:a="http://schemas.openxmlformats.org/drawingml/2006/main">
            <a:r>
              <a:t>根拠：docs/thesis/本文.md 第5〜10章、第12章、第15章。実験記録 E6、E7。製品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想定時間：45秒</a:t>
            </a:r>
          </a:p>
          <a:p xmlns:a="http://schemas.openxmlformats.org/drawingml/2006/main">
            <a:r>
              <a:t/>
            </a:r>
          </a:p>
          <a:p xmlns:a="http://schemas.openxmlformats.org/drawingml/2006/main">
            <a:r>
              <a:t>CPUとRasterIXは異なるクロックで動きます。そのため、命令の値と順番を保って渡す接続が必要です。一つの方法は、一語を保持し、相手の受取確認が戻るたびに次を送る方法です。採用したFIFOは、命令を順番に預かる待ち行列です。空きがあれば、CPUは次の命令へ進めます。同じゲームで比べたところ、この図の三方式では512語FIFOの送信待ちが最も短くなりました。この数字はゲーム全体ではなく、書き込みを待たされた時間です。</a:t>
            </a:r>
          </a:p>
          <a:p xmlns:a="http://schemas.openxmlformats.org/drawingml/2006/main">
            <a:r>
              <a:t>根拠：E6、第12.5〜12.8節。1語方式は4相ハンドシェイク。初期状態、全体描画、180フレームを3回、各試行平均の中央値。CPU 20 MHz、RasterIX 100 MHz。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想定時間：40秒</a:t>
            </a:r>
          </a:p>
          <a:p xmlns:a="http://schemas.openxmlformats.org/drawingml/2006/main">
            <a:r>
              <a:t/>
            </a:r>
          </a:p>
          <a:p xmlns:a="http://schemas.openxmlformats.org/drawingml/2006/main">
            <a:r>
              <a:t>もう一つの接続設計が、表示する画像の切り替えです。表示回路は画像を読み続けます。その同じ画像を途中で描き換えると、新旧の画面が混ざるおそれがあります。そこで画像を二枚分用意し、一方を表示している間に、もう一方に描きます。完成後、表示の区切りで役割を交代します。また、古い画像の読み出しが残っている間は、そこへの描き直しを始めないよう、切り替え完了を確認します。</a:t>
            </a:r>
          </a:p>
          <a:p xmlns:a="http://schemas.openxmlformats.org/drawingml/2006/main">
            <a:r>
              <a:t>根拠：docs/thesis/本文.md 第5〜10章、第12章、第15章。実験記録 E6、E7。製品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想定時間：40秒</a:t>
            </a:r>
          </a:p>
          <a:p xmlns:a="http://schemas.openxmlformats.org/drawingml/2006/main">
            <a:r>
              <a:t/>
            </a:r>
          </a:p>
          <a:p xmlns:a="http://schemas.openxmlformats.org/drawingml/2006/main">
            <a:r>
              <a:t>640×480画素で、通常版の5分間の自動プレイと、別に30秒の実機映像を確認しました。接続を比較した三方式では、毎回全体を描く条件にそろえ、三つの開始状態の計9枚で、最終画像が全画素で期待画像と一致しました。すべての途中画像まで確認したわけではありません。大きなテクスチャの描画と映像認識には未解決の条件が残っています。専用コントローラーは今回の成果に含めず、最終発表に向けて接続と操作を検証します。</a:t>
            </a:r>
          </a:p>
          <a:p xmlns:a="http://schemas.openxmlformats.org/drawingml/2006/main">
            <a:r>
              <a:t>根拠：E6、第12.6節と12.10〜12.11節。通常ゲームの連続動作と、全体描画にそろえた接続比較は別の実行条件。画像：docs/thesis/figs/fifo-study-game.png。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想定時間：45秒</a:t>
            </a:r>
          </a:p>
          <a:p xmlns:a="http://schemas.openxmlformats.org/drawingml/2006/main">
            <a:r>
              <a:t/>
            </a:r>
          </a:p>
          <a:p xmlns:a="http://schemas.openxmlformats.org/drawingml/2006/main">
            <a:r>
              <a:t>Wallyへ描画・表示機能を追加し、二次元ゲームを動かす接続設計を示しました。命令を専用回路で転送する方式と、描画用メモリを増やす方式も実機で比較しました。毎回全体を描く条件では、前者はコピー処理を含めると速くならず、後者の改善も小さい結果でした。設計と試験条件を公開し、学習者が同様の拡張を検討するための参照例とします。最終発表では、専用コントローラーを接続し、ボタンによるゲーム操作を検証します。</a:t>
            </a:r>
          </a:p>
          <a:p xmlns:a="http://schemas.openxmlformats.org/drawingml/2006/main">
            <a:r>
              <a:t>根拠：docs/thesis/本文.md 第5〜10章、第12章、第15章。実験記録 E6、E7。製品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Type="http://schemas.openxmlformats.org/officeDocument/2006/relationships/slideMaster" Target="/ppt/slideMasters/slideMaster1.xml" Id="Rcbeb351ed7f84eb6"/></Relationships>
</file>

<file path=ppt/slideLayouts/_rels/slideLayout2.xml.rels><?xml version='1.0' encoding='UTF-8' standalone='yes'?>
<Relationships xmlns="http://schemas.openxmlformats.org/package/2006/relationships"><Relationship Type="http://schemas.openxmlformats.org/officeDocument/2006/relationships/slideMaster" Target="/ppt/slideMasters/slideMaster1.xml" Id="R672a5554b78d4dd1"/></Relationships>
</file>

<file path=ppt/slideLayouts/_rels/slideLayout3.xml.rels><?xml version='1.0' encoding='UTF-8' standalone='yes'?>
<Relationships xmlns="http://schemas.openxmlformats.org/package/2006/relationships"><Relationship Type="http://schemas.openxmlformats.org/officeDocument/2006/relationships/slideMaster" Target="/ppt/slideMasters/slideMaster1.xml" Id="R337d67723d8b4547"/></Relationships>
</file>

<file path=ppt/slideLayouts/_rels/slideLayout4.xml.rels><?xml version='1.0' encoding='UTF-8' standalone='yes'?>
<Relationships xmlns="http://schemas.openxmlformats.org/package/2006/relationships"><Relationship Type="http://schemas.openxmlformats.org/officeDocument/2006/relationships/slideMaster" Target="/ppt/slideMasters/slideMaster1.xml" Id="Ra8d0cdfaad084390"/></Relationships>
</file>

<file path=ppt/slideLayouts/_rels/slideLayout5.xml.rels><?xml version='1.0' encoding='UTF-8' standalone='yes'?>
<Relationships xmlns="http://schemas.openxmlformats.org/package/2006/relationships"><Relationship Type="http://schemas.openxmlformats.org/officeDocument/2006/relationships/slideMaster" Target="/ppt/slideMasters/slideMaster1.xml" Id="Rf1048906b6804752"/></Relationships>
</file>

<file path=ppt/slideLayouts/_rels/slideLayout6.xml.rels><?xml version='1.0' encoding='UTF-8' standalone='yes'?>
<Relationships xmlns="http://schemas.openxmlformats.org/package/2006/relationships"><Relationship Type="http://schemas.openxmlformats.org/officeDocument/2006/relationships/slideMaster" Target="/ppt/slideMasters/slideMaster1.xml" Id="Rd3102ba28fec4234"/></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5478C9D-7077-4ED9-A713-08D529C8667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B137804-5F12-4D23-A236-7ADEB0F5900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60F1A9E-7A03-4EE0-BD13-18B9AD93101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6ED216-0B17-45D2-B89A-DF4594C7F1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E6B4EAC-87B2-4630-8CD6-FEC5672911A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9456E3E-642E-43CC-A054-AA032FBC4DD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019A6F-6A78-4CB8-8706-7A253C418DE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5AC4197-C4C5-401A-86B4-2A0211F00AF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0D3B12-B284-4131-995A-115A3700EB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335C610-8E12-48D5-8E16-5380C0EBE99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Type="http://schemas.openxmlformats.org/officeDocument/2006/relationships/theme" Target="/ppt/slideMasters/theme/theme2.xml" Id="R58a8657c65d547ef"/><Relationship Type="http://schemas.openxmlformats.org/officeDocument/2006/relationships/slideLayout" Target="/ppt/slideLayouts/slideLayout1.xml" Id="R5c5b1171f1f140bd"/><Relationship Type="http://schemas.openxmlformats.org/officeDocument/2006/relationships/slideLayout" Target="/ppt/slideLayouts/slideLayout2.xml" Id="R004938a12606403c"/><Relationship Type="http://schemas.openxmlformats.org/officeDocument/2006/relationships/slideLayout" Target="/ppt/slideLayouts/slideLayout3.xml" Id="Rfa530819cb5b47e1"/><Relationship Type="http://schemas.openxmlformats.org/officeDocument/2006/relationships/slideLayout" Target="/ppt/slideLayouts/slideLayout4.xml" Id="R3e5e385d886e48b7"/><Relationship Type="http://schemas.openxmlformats.org/officeDocument/2006/relationships/slideLayout" Target="/ppt/slideLayouts/slideLayout5.xml" Id="R2a6454d79ba54f9d"/><Relationship Type="http://schemas.openxmlformats.org/officeDocument/2006/relationships/slideLayout" Target="/ppt/slideLayouts/slideLayout6.xml" Id="R5153fcda86da42e4"/></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5b1171f1f140bd"/>
    <p:sldLayoutId xmlns:r="http://schemas.openxmlformats.org/officeDocument/2006/relationships" id="2147483650" r:id="R004938a12606403c"/>
    <p:sldLayoutId xmlns:r="http://schemas.openxmlformats.org/officeDocument/2006/relationships" id="2147483651" r:id="Rfa530819cb5b47e1"/>
    <p:sldLayoutId xmlns:r="http://schemas.openxmlformats.org/officeDocument/2006/relationships" id="2147483652" r:id="R3e5e385d886e48b7"/>
    <p:sldLayoutId xmlns:r="http://schemas.openxmlformats.org/officeDocument/2006/relationships" id="2147483653" r:id="R2a6454d79ba54f9d"/>
    <p:sldLayoutId xmlns:r="http://schemas.openxmlformats.org/officeDocument/2006/relationships" id="2147483654" r:id="R5153fcda86da42e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6.xml" Id="R6b6fffe1f72b400b"/><Relationship Type="http://schemas.openxmlformats.org/officeDocument/2006/relationships/notesSlide" Target="/ppt/notesSlides/notesSlide1.xml" Id="Rab24ccdc6fe541c1"/></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2895617d626d4dde"/><Relationship Type="http://schemas.openxmlformats.org/officeDocument/2006/relationships/notesSlide" Target="/ppt/notesSlides/notesSlide2.xml" Id="R09bd4af9e06841a2"/></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f25d857155214896"/><Relationship Type="http://schemas.openxmlformats.org/officeDocument/2006/relationships/notesSlide" Target="/ppt/notesSlides/notesSlide3.xml" Id="R3e5e472a4be24014"/></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6.xml" Id="R2a35f7af8ec44a16"/><Relationship Type="http://schemas.openxmlformats.org/officeDocument/2006/relationships/notesSlide" Target="/ppt/notesSlides/notesSlide4.xml" Id="R246cc5b36d8e4e5f"/></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6.xml" Id="Ra3a3dee809464407"/><Relationship Type="http://schemas.openxmlformats.org/officeDocument/2006/relationships/notesSlide" Target="/ppt/notesSlides/notesSlide5.xml" Id="Rd203243d22a84ed0"/></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6.xml" Id="Ra805090aa7834453"/><Relationship Type="http://schemas.openxmlformats.org/officeDocument/2006/relationships/notesSlide" Target="/ppt/notesSlides/notesSlide6.xml" Id="Raa7fea8b99984ef9"/></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6.xml" Id="Raae01fc49c2d4925"/><Relationship Type="http://schemas.openxmlformats.org/officeDocument/2006/relationships/image" Target="/ppt/media/image.png" Id="R17e07fd10bb640ce"/><Relationship Type="http://schemas.openxmlformats.org/officeDocument/2006/relationships/notesSlide" Target="/ppt/notesSlides/notesSlide7.xml" Id="Reb751226f6d24b5f"/></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6.xml" Id="Racc967f7487440c9"/><Relationship Type="http://schemas.openxmlformats.org/officeDocument/2006/relationships/notesSlide" Target="/ppt/notesSlides/notesSlide8.xml" Id="R9f774aa8eb384275"/></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1">
            <a:extLst xmlns:a="http://schemas.openxmlformats.org/drawingml/2006/main">
              <a:ext uri="{FF2B5EF4-FFF2-40B4-BE49-F238E27FC236}">
                <a16:creationId xmlns:a16="http://schemas.microsoft.com/office/drawing/2014/main" id="{16F54AF5-07A8-4668-A0C9-931A2B6FF9B1}"/>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FPGAを用いた二次元ゲーム機の設計と実装</a:t>
            </a:r>
          </a:p>
        </p:txBody>
      </p:sp>
      <p:sp>
        <p:nvSpPr>
          <p:cNvPr id="2" name="text-2">
            <a:extLst xmlns:a="http://schemas.openxmlformats.org/drawingml/2006/main">
              <a:ext uri="{FF2B5EF4-FFF2-40B4-BE49-F238E27FC236}">
                <a16:creationId xmlns:a16="http://schemas.microsoft.com/office/drawing/2014/main" id="{7FA92F81-A7F5-42A2-ADCF-CBA7A3322D7C}"/>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1</a:t>
            </a:r>
          </a:p>
        </p:txBody>
      </p:sp>
      <p:sp>
        <p:nvSpPr>
          <p:cNvPr id="3" name="text-3">
            <a:extLst xmlns:a="http://schemas.openxmlformats.org/drawingml/2006/main">
              <a:ext uri="{FF2B5EF4-FFF2-40B4-BE49-F238E27FC236}">
                <a16:creationId xmlns:a16="http://schemas.microsoft.com/office/drawing/2014/main" id="{FAC886D0-58D1-45E9-A961-0962ED6B47A8}"/>
              </a:ext>
            </a:extLst>
          </p:cNvPr>
          <p:cNvSpPr>
            <a:spLocks xmlns:a="http://schemas.openxmlformats.org/drawingml/2006/main" noGrp="1"/>
          </p:cNvSpPr>
          <p:nvPr/>
        </p:nvSpPr>
        <p:spPr>
          <a:xfrm xmlns:a="http://schemas.openxmlformats.org/drawingml/2006/main">
            <a:off x="819150" y="1952625"/>
            <a:ext cx="100965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675" b="1">
                <a:solidFill>
                  <a:srgbClr val="231F20"/>
                </a:solidFill>
                <a:latin typeface="Meiryo"/>
                <a:ea typeface="Meiryo"/>
                <a:cs typeface="Meiryo"/>
              </a:defRPr>
            </a:defPPr>
          </a:lstStyle>
          <a:p xmlns:a="http://schemas.openxmlformats.org/drawingml/2006/main">
            <a:pPr algn="l">
              <a:defRPr sz="3675" b="1">
                <a:solidFill>
                  <a:srgbClr val="231F20"/>
                </a:solidFill>
                <a:latin typeface="Meiryo"/>
                <a:ea typeface="Meiryo"/>
                <a:cs typeface="Meiryo"/>
              </a:defRPr>
            </a:pPr>
            <a:r>
              <a:rPr sz="3675" b="1">
                <a:solidFill>
                  <a:srgbClr val="231F20"/>
                </a:solidFill>
                <a:latin typeface="Meiryo"/>
                <a:ea typeface="Meiryo"/>
                <a:cs typeface="Meiryo"/>
              </a:rPr>
              <a:t>公開CPUに描画機能を追加し、</a:t>
            </a:r>
          </a:p>
          <a:p xmlns:a="http://schemas.openxmlformats.org/drawingml/2006/main">
            <a:pPr algn="l">
              <a:defRPr sz="3675" b="1">
                <a:solidFill>
                  <a:srgbClr val="231F20"/>
                </a:solidFill>
                <a:latin typeface="Meiryo"/>
                <a:ea typeface="Meiryo"/>
                <a:cs typeface="Meiryo"/>
              </a:defRPr>
            </a:pPr>
            <a:r>
              <a:rPr sz="3675" b="1">
                <a:solidFill>
                  <a:srgbClr val="231F20"/>
                </a:solidFill>
                <a:latin typeface="Meiryo"/>
                <a:ea typeface="Meiryo"/>
                <a:cs typeface="Meiryo"/>
              </a:rPr>
              <a:t>ブロック崩しを動かす</a:t>
            </a:r>
          </a:p>
        </p:txBody>
      </p:sp>
      <p:sp>
        <p:nvSpPr>
          <p:cNvPr id="4" name="text-4">
            <a:extLst xmlns:a="http://schemas.openxmlformats.org/drawingml/2006/main">
              <a:ext uri="{FF2B5EF4-FFF2-40B4-BE49-F238E27FC236}">
                <a16:creationId xmlns:a16="http://schemas.microsoft.com/office/drawing/2014/main" id="{26ADEE64-904F-4AB4-A881-8CD224A29C03}"/>
              </a:ext>
            </a:extLst>
          </p:cNvPr>
          <p:cNvSpPr>
            <a:spLocks xmlns:a="http://schemas.openxmlformats.org/drawingml/2006/main" noGrp="1"/>
          </p:cNvSpPr>
          <p:nvPr/>
        </p:nvSpPr>
        <p:spPr>
          <a:xfrm xmlns:a="http://schemas.openxmlformats.org/drawingml/2006/main">
            <a:off x="819150" y="4210050"/>
            <a:ext cx="1028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0">
                <a:solidFill>
                  <a:srgbClr val="231F20"/>
                </a:solidFill>
                <a:latin typeface="Meiryo"/>
                <a:ea typeface="Meiryo"/>
                <a:cs typeface="Meiryo"/>
              </a:defRPr>
            </a:defPPr>
          </a:lstStyle>
          <a:p xmlns:a="http://schemas.openxmlformats.org/drawingml/2006/main">
            <a:pPr algn="l">
              <a:defRPr sz="2325" b="0">
                <a:solidFill>
                  <a:srgbClr val="231F20"/>
                </a:solidFill>
                <a:latin typeface="Meiryo"/>
                <a:ea typeface="Meiryo"/>
                <a:cs typeface="Meiryo"/>
              </a:defRPr>
            </a:pPr>
            <a:r>
              <a:rPr sz="2325" b="0">
                <a:solidFill>
                  <a:srgbClr val="231F20"/>
                </a:solidFill>
                <a:latin typeface="Meiryo"/>
                <a:ea typeface="Meiryo"/>
                <a:cs typeface="Meiryo"/>
              </a:rPr>
              <a:t>Wallyの学習者が参照できる接続設計と動作例</a:t>
            </a:r>
          </a:p>
        </p:txBody>
      </p:sp>
      <p:sp>
        <p:nvSpPr>
          <p:cNvPr id="5" name="text-5">
            <a:extLst xmlns:a="http://schemas.openxmlformats.org/drawingml/2006/main">
              <a:ext uri="{FF2B5EF4-FFF2-40B4-BE49-F238E27FC236}">
                <a16:creationId xmlns:a16="http://schemas.microsoft.com/office/drawing/2014/main" id="{FDF8A897-F569-4D98-A81B-3EFE437D9245}"/>
              </a:ext>
            </a:extLst>
          </p:cNvPr>
          <p:cNvSpPr>
            <a:spLocks xmlns:a="http://schemas.openxmlformats.org/drawingml/2006/main" noGrp="1"/>
          </p:cNvSpPr>
          <p:nvPr/>
        </p:nvSpPr>
        <p:spPr>
          <a:xfrm xmlns:a="http://schemas.openxmlformats.org/drawingml/2006/main">
            <a:off x="819150" y="55816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0">
                <a:solidFill>
                  <a:srgbClr val="231F20"/>
                </a:solidFill>
                <a:latin typeface="Meiryo"/>
                <a:ea typeface="Meiryo"/>
                <a:cs typeface="Meiryo"/>
              </a:defRPr>
            </a:defPPr>
          </a:lstStyle>
          <a:p xmlns:a="http://schemas.openxmlformats.org/drawingml/2006/main">
            <a:pPr algn="l">
              <a:defRPr sz="1875" b="0">
                <a:solidFill>
                  <a:srgbClr val="231F20"/>
                </a:solidFill>
                <a:latin typeface="Meiryo"/>
                <a:ea typeface="Meiryo"/>
                <a:cs typeface="Meiryo"/>
              </a:defRPr>
            </a:pPr>
            <a:r>
              <a:rPr sz="1875" b="0">
                <a:solidFill>
                  <a:srgbClr val="231F20"/>
                </a:solidFill>
                <a:latin typeface="Meiryo"/>
                <a:ea typeface="Meiryo"/>
                <a:cs typeface="Meiryo"/>
              </a:rPr>
              <a:t>Wally：CPUの公開設計　　RasterIX：描画回路の公開設計</a:t>
            </a:r>
          </a:p>
        </p:txBody>
      </p:sp>
    </p:spTree>
    <p:extLst>
      <p:ext uri="{BB962C8B-B14F-4D97-AF65-F5344CB8AC3E}">
        <p14:creationId xmlns:p14="http://schemas.microsoft.com/office/powerpoint/2010/main" val="1570903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text-6">
            <a:extLst xmlns:a="http://schemas.openxmlformats.org/drawingml/2006/main">
              <a:ext uri="{FF2B5EF4-FFF2-40B4-BE49-F238E27FC236}">
                <a16:creationId xmlns:a16="http://schemas.microsoft.com/office/drawing/2014/main" id="{F2C8D9B1-7618-4A33-ABF6-0F9621F16FB9}"/>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FPGAボードに回路を実装する</a:t>
            </a:r>
          </a:p>
        </p:txBody>
      </p:sp>
      <p:sp>
        <p:nvSpPr>
          <p:cNvPr id="2" name="text-7">
            <a:extLst xmlns:a="http://schemas.openxmlformats.org/drawingml/2006/main">
              <a:ext uri="{FF2B5EF4-FFF2-40B4-BE49-F238E27FC236}">
                <a16:creationId xmlns:a16="http://schemas.microsoft.com/office/drawing/2014/main" id="{8EA03B32-9F3E-4F83-A3D0-7A3500FDEA84}"/>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2</a:t>
            </a:r>
          </a:p>
        </p:txBody>
      </p:sp>
      <p:sp>
        <p:nvSpPr>
          <p:cNvPr id="3" name="circuit-8">
            <a:extLst xmlns:a="http://schemas.openxmlformats.org/drawingml/2006/main">
              <a:ext uri="{FF2B5EF4-FFF2-40B4-BE49-F238E27FC236}">
                <a16:creationId xmlns:a16="http://schemas.microsoft.com/office/drawing/2014/main" id="{FAF5D3EA-7894-42BD-9EF7-F1A370B7D44C}"/>
              </a:ext>
            </a:extLst>
          </p:cNvPr>
          <p:cNvSpPr>
            <a:spLocks xmlns:a="http://schemas.openxmlformats.org/drawingml/2006/main" noGrp="1"/>
          </p:cNvSpPr>
          <p:nvPr/>
        </p:nvSpPr>
        <p:spPr>
          <a:xfrm xmlns:a="http://schemas.openxmlformats.org/drawingml/2006/main">
            <a:off x="876300" y="1762125"/>
            <a:ext cx="10439400" cy="39052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4" name="text-9">
            <a:extLst xmlns:a="http://schemas.openxmlformats.org/drawingml/2006/main">
              <a:ext uri="{FF2B5EF4-FFF2-40B4-BE49-F238E27FC236}">
                <a16:creationId xmlns:a16="http://schemas.microsoft.com/office/drawing/2014/main" id="{FBCD2EB3-CE24-4BAF-837E-225BCD80ABAB}"/>
              </a:ext>
            </a:extLst>
          </p:cNvPr>
          <p:cNvSpPr>
            <a:spLocks xmlns:a="http://schemas.openxmlformats.org/drawingml/2006/main" noGrp="1"/>
          </p:cNvSpPr>
          <p:nvPr/>
        </p:nvSpPr>
        <p:spPr>
          <a:xfrm xmlns:a="http://schemas.openxmlformats.org/drawingml/2006/main">
            <a:off x="1066800" y="525780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Meiryo"/>
                <a:ea typeface="Meiryo"/>
                <a:cs typeface="Meiryo"/>
              </a:defRPr>
            </a:defPPr>
          </a:lstStyle>
          <a:p xmlns:a="http://schemas.openxmlformats.org/drawingml/2006/main">
            <a:pPr algn="l">
              <a:defRPr sz="1800" b="0">
                <a:solidFill>
                  <a:srgbClr val="231F20"/>
                </a:solidFill>
                <a:latin typeface="Meiryo"/>
                <a:ea typeface="Meiryo"/>
                <a:cs typeface="Meiryo"/>
              </a:defRPr>
            </a:pPr>
            <a:r>
              <a:rPr sz="1800" b="0">
                <a:solidFill>
                  <a:srgbClr val="231F20"/>
                </a:solidFill>
                <a:latin typeface="Meiryo"/>
                <a:ea typeface="Meiryo"/>
                <a:cs typeface="Meiryo"/>
              </a:rPr>
              <a:t>Nexys Video ボード</a:t>
            </a:r>
          </a:p>
        </p:txBody>
      </p:sp>
      <p:sp>
        <p:nvSpPr>
          <p:cNvPr id="5" name="circuit-10">
            <a:extLst xmlns:a="http://schemas.openxmlformats.org/drawingml/2006/main">
              <a:ext uri="{FF2B5EF4-FFF2-40B4-BE49-F238E27FC236}">
                <a16:creationId xmlns:a16="http://schemas.microsoft.com/office/drawing/2014/main" id="{55A66019-F9B6-408D-85DC-146A3C189200}"/>
              </a:ext>
            </a:extLst>
          </p:cNvPr>
          <p:cNvSpPr>
            <a:spLocks xmlns:a="http://schemas.openxmlformats.org/drawingml/2006/main" noGrp="1"/>
          </p:cNvSpPr>
          <p:nvPr/>
        </p:nvSpPr>
        <p:spPr>
          <a:xfrm xmlns:a="http://schemas.openxmlformats.org/drawingml/2006/main">
            <a:off x="1314450" y="1962150"/>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6" name="text-11">
            <a:extLst xmlns:a="http://schemas.openxmlformats.org/drawingml/2006/main">
              <a:ext uri="{FF2B5EF4-FFF2-40B4-BE49-F238E27FC236}">
                <a16:creationId xmlns:a16="http://schemas.microsoft.com/office/drawing/2014/main" id="{EDCF921A-0932-4936-8B8F-A84D47AD42F7}"/>
              </a:ext>
            </a:extLst>
          </p:cNvPr>
          <p:cNvSpPr>
            <a:spLocks xmlns:a="http://schemas.openxmlformats.org/drawingml/2006/main" noGrp="1"/>
          </p:cNvSpPr>
          <p:nvPr/>
        </p:nvSpPr>
        <p:spPr>
          <a:xfrm xmlns:a="http://schemas.openxmlformats.org/drawingml/2006/main">
            <a:off x="1428750" y="2019300"/>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SDカード</a:t>
            </a:r>
          </a:p>
        </p:txBody>
      </p:sp>
      <p:sp>
        <p:nvSpPr>
          <p:cNvPr id="7" name="wire-12">
            <a:extLst xmlns:a="http://schemas.openxmlformats.org/drawingml/2006/main">
              <a:ext uri="{FF2B5EF4-FFF2-40B4-BE49-F238E27FC236}">
                <a16:creationId xmlns:a16="http://schemas.microsoft.com/office/drawing/2014/main" id="{FCEAD2B4-BA61-4A7C-8B86-51F1CE74A725}"/>
              </a:ext>
            </a:extLst>
          </p:cNvPr>
          <p:cNvSpPr>
            <a:spLocks xmlns:a="http://schemas.openxmlformats.org/drawingml/2006/main" noGrp="1"/>
          </p:cNvSpPr>
          <p:nvPr/>
        </p:nvSpPr>
        <p:spPr>
          <a:xfrm xmlns:a="http://schemas.openxmlformats.org/drawingml/2006/main">
            <a:off x="2657475" y="25527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0955">
            <a:solidFill>
              <a:srgbClr val="231F20"/>
            </a:solidFill>
          </a:ln>
        </p:spPr>
      </p:sp>
      <p:sp>
        <p:nvSpPr>
          <p:cNvPr id="8" name="circuit-13">
            <a:extLst xmlns:a="http://schemas.openxmlformats.org/drawingml/2006/main">
              <a:ext uri="{FF2B5EF4-FFF2-40B4-BE49-F238E27FC236}">
                <a16:creationId xmlns:a16="http://schemas.microsoft.com/office/drawing/2014/main" id="{89467821-BFB1-4946-A4EC-948A59FE369D}"/>
              </a:ext>
            </a:extLst>
          </p:cNvPr>
          <p:cNvSpPr>
            <a:spLocks xmlns:a="http://schemas.openxmlformats.org/drawingml/2006/main" noGrp="1"/>
          </p:cNvSpPr>
          <p:nvPr/>
        </p:nvSpPr>
        <p:spPr>
          <a:xfrm xmlns:a="http://schemas.openxmlformats.org/drawingml/2006/main">
            <a:off x="4733925" y="1962150"/>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9" name="text-14">
            <a:extLst xmlns:a="http://schemas.openxmlformats.org/drawingml/2006/main">
              <a:ext uri="{FF2B5EF4-FFF2-40B4-BE49-F238E27FC236}">
                <a16:creationId xmlns:a16="http://schemas.microsoft.com/office/drawing/2014/main" id="{145ABB00-5A75-491D-A893-3486E8EB98C6}"/>
              </a:ext>
            </a:extLst>
          </p:cNvPr>
          <p:cNvSpPr>
            <a:spLocks xmlns:a="http://schemas.openxmlformats.org/drawingml/2006/main" noGrp="1"/>
          </p:cNvSpPr>
          <p:nvPr/>
        </p:nvSpPr>
        <p:spPr>
          <a:xfrm xmlns:a="http://schemas.openxmlformats.org/drawingml/2006/main">
            <a:off x="4848225" y="2019300"/>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DDR3メモリ</a:t>
            </a:r>
          </a:p>
        </p:txBody>
      </p:sp>
      <p:sp>
        <p:nvSpPr>
          <p:cNvPr id="10" name="wire-15">
            <a:extLst xmlns:a="http://schemas.openxmlformats.org/drawingml/2006/main">
              <a:ext uri="{FF2B5EF4-FFF2-40B4-BE49-F238E27FC236}">
                <a16:creationId xmlns:a16="http://schemas.microsoft.com/office/drawing/2014/main" id="{5F905DAA-7788-415D-A318-E4B47499A41D}"/>
              </a:ext>
            </a:extLst>
          </p:cNvPr>
          <p:cNvSpPr>
            <a:spLocks xmlns:a="http://schemas.openxmlformats.org/drawingml/2006/main" noGrp="1"/>
          </p:cNvSpPr>
          <p:nvPr/>
        </p:nvSpPr>
        <p:spPr>
          <a:xfrm xmlns:a="http://schemas.openxmlformats.org/drawingml/2006/main">
            <a:off x="6076950" y="25527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0955">
            <a:solidFill>
              <a:srgbClr val="231F20"/>
            </a:solidFill>
          </a:ln>
        </p:spPr>
      </p:sp>
      <p:sp>
        <p:nvSpPr>
          <p:cNvPr id="11" name="circuit-16">
            <a:extLst xmlns:a="http://schemas.openxmlformats.org/drawingml/2006/main">
              <a:ext uri="{FF2B5EF4-FFF2-40B4-BE49-F238E27FC236}">
                <a16:creationId xmlns:a16="http://schemas.microsoft.com/office/drawing/2014/main" id="{B3E50FD1-EB7C-438D-B872-66919CA54650}"/>
              </a:ext>
            </a:extLst>
          </p:cNvPr>
          <p:cNvSpPr>
            <a:spLocks xmlns:a="http://schemas.openxmlformats.org/drawingml/2006/main" noGrp="1"/>
          </p:cNvSpPr>
          <p:nvPr/>
        </p:nvSpPr>
        <p:spPr>
          <a:xfrm xmlns:a="http://schemas.openxmlformats.org/drawingml/2006/main">
            <a:off x="8153400" y="1962150"/>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2" name="text-17">
            <a:extLst xmlns:a="http://schemas.openxmlformats.org/drawingml/2006/main">
              <a:ext uri="{FF2B5EF4-FFF2-40B4-BE49-F238E27FC236}">
                <a16:creationId xmlns:a16="http://schemas.microsoft.com/office/drawing/2014/main" id="{E36ED939-9E2E-4708-9866-329F6F66C46D}"/>
              </a:ext>
            </a:extLst>
          </p:cNvPr>
          <p:cNvSpPr>
            <a:spLocks xmlns:a="http://schemas.openxmlformats.org/drawingml/2006/main" noGrp="1"/>
          </p:cNvSpPr>
          <p:nvPr/>
        </p:nvSpPr>
        <p:spPr>
          <a:xfrm xmlns:a="http://schemas.openxmlformats.org/drawingml/2006/main">
            <a:off x="8267700" y="2019300"/>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HDMI端子</a:t>
            </a:r>
          </a:p>
        </p:txBody>
      </p:sp>
      <p:sp>
        <p:nvSpPr>
          <p:cNvPr id="13" name="wire-18">
            <a:extLst xmlns:a="http://schemas.openxmlformats.org/drawingml/2006/main">
              <a:ext uri="{FF2B5EF4-FFF2-40B4-BE49-F238E27FC236}">
                <a16:creationId xmlns:a16="http://schemas.microsoft.com/office/drawing/2014/main" id="{B6B979BC-3DB6-4089-A473-47808D5B89C6}"/>
              </a:ext>
            </a:extLst>
          </p:cNvPr>
          <p:cNvSpPr>
            <a:spLocks xmlns:a="http://schemas.openxmlformats.org/drawingml/2006/main" noGrp="1"/>
          </p:cNvSpPr>
          <p:nvPr/>
        </p:nvSpPr>
        <p:spPr>
          <a:xfrm xmlns:a="http://schemas.openxmlformats.org/drawingml/2006/main">
            <a:off x="9496425" y="25527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0955">
            <a:solidFill>
              <a:srgbClr val="231F20"/>
            </a:solidFill>
          </a:ln>
        </p:spPr>
      </p:sp>
      <p:sp>
        <p:nvSpPr>
          <p:cNvPr id="14" name="circuit-19">
            <a:extLst xmlns:a="http://schemas.openxmlformats.org/drawingml/2006/main">
              <a:ext uri="{FF2B5EF4-FFF2-40B4-BE49-F238E27FC236}">
                <a16:creationId xmlns:a16="http://schemas.microsoft.com/office/drawing/2014/main" id="{562D1E6C-3E91-46C7-A8F1-5E929FFDF7CE}"/>
              </a:ext>
            </a:extLst>
          </p:cNvPr>
          <p:cNvSpPr>
            <a:spLocks xmlns:a="http://schemas.openxmlformats.org/drawingml/2006/main" noGrp="1"/>
          </p:cNvSpPr>
          <p:nvPr/>
        </p:nvSpPr>
        <p:spPr>
          <a:xfrm xmlns:a="http://schemas.openxmlformats.org/drawingml/2006/main">
            <a:off x="1733550" y="3143250"/>
            <a:ext cx="8724900" cy="190500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15" name="text-20">
            <a:extLst xmlns:a="http://schemas.openxmlformats.org/drawingml/2006/main">
              <a:ext uri="{FF2B5EF4-FFF2-40B4-BE49-F238E27FC236}">
                <a16:creationId xmlns:a16="http://schemas.microsoft.com/office/drawing/2014/main" id="{F8EEDA16-3247-447C-B3FE-F120F2F1B267}"/>
              </a:ext>
            </a:extLst>
          </p:cNvPr>
          <p:cNvSpPr>
            <a:spLocks xmlns:a="http://schemas.openxmlformats.org/drawingml/2006/main" noGrp="1"/>
          </p:cNvSpPr>
          <p:nvPr/>
        </p:nvSpPr>
        <p:spPr>
          <a:xfrm xmlns:a="http://schemas.openxmlformats.org/drawingml/2006/main">
            <a:off x="2000250" y="33337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Meiryo"/>
                <a:ea typeface="Meiryo"/>
                <a:cs typeface="Meiryo"/>
              </a:defRPr>
            </a:defPPr>
          </a:lstStyle>
          <a:p xmlns:a="http://schemas.openxmlformats.org/drawingml/2006/main">
            <a:pPr algn="l">
              <a:defRPr sz="2100" b="1">
                <a:solidFill>
                  <a:srgbClr val="231F20"/>
                </a:solidFill>
                <a:latin typeface="Meiryo"/>
                <a:ea typeface="Meiryo"/>
                <a:cs typeface="Meiryo"/>
              </a:defRPr>
            </a:pPr>
            <a:r>
              <a:rPr sz="2100" b="1">
                <a:solidFill>
                  <a:srgbClr val="231F20"/>
                </a:solidFill>
                <a:latin typeface="Meiryo"/>
                <a:ea typeface="Meiryo"/>
                <a:cs typeface="Meiryo"/>
              </a:rPr>
              <a:t>FPGAチップ</a:t>
            </a:r>
          </a:p>
        </p:txBody>
      </p:sp>
      <p:sp>
        <p:nvSpPr>
          <p:cNvPr id="16" name="and-gate-21">
            <a:extLst xmlns:a="http://schemas.openxmlformats.org/drawingml/2006/main">
              <a:ext uri="{FF2B5EF4-FFF2-40B4-BE49-F238E27FC236}">
                <a16:creationId xmlns:a16="http://schemas.microsoft.com/office/drawing/2014/main" id="{D2B3AA27-7EA5-4940-9D72-B33631B5E644}"/>
              </a:ext>
            </a:extLst>
          </p:cNvPr>
          <p:cNvSpPr>
            <a:spLocks xmlns:a="http://schemas.openxmlformats.org/drawingml/2006/main" noGrp="1"/>
          </p:cNvSpPr>
          <p:nvPr/>
        </p:nvSpPr>
        <p:spPr>
          <a:xfrm xmlns:a="http://schemas.openxmlformats.org/drawingml/2006/main">
            <a:off x="3333750" y="4019550"/>
            <a:ext cx="628650" cy="609600"/>
          </a:xfrm>
          <a:custGeom xmlns:a="http://schemas.openxmlformats.org/drawingml/2006/main">
            <a:pathLst>
              <a:path w="628650" h="609600">
                <a:moveTo>
                  <a:pt x="0" y="0"/>
                </a:moveTo>
                <a:lnTo>
                  <a:pt x="304800" y="0"/>
                </a:lnTo>
                <a:cubicBezTo>
                  <a:pt x="723900" y="0"/>
                  <a:pt x="723900" y="609600"/>
                  <a:pt x="304800" y="609600"/>
                </a:cubicBezTo>
                <a:lnTo>
                  <a:pt x="0" y="609600"/>
                </a:lnTo>
                <a:close/>
              </a:path>
            </a:pathLst>
          </a:custGeom>
          <a:solidFill xmlns:a="http://schemas.openxmlformats.org/drawingml/2006/main">
            <a:srgbClr val="FFFFFF"/>
          </a:solidFill>
          <a:ln xmlns:a="http://schemas.openxmlformats.org/drawingml/2006/main" w="19050">
            <a:solidFill>
              <a:srgbClr val="231F20"/>
            </a:solidFill>
          </a:ln>
        </p:spPr>
      </p:sp>
      <p:sp>
        <p:nvSpPr>
          <p:cNvPr id="17" name="wire-22">
            <a:extLst xmlns:a="http://schemas.openxmlformats.org/drawingml/2006/main">
              <a:ext uri="{FF2B5EF4-FFF2-40B4-BE49-F238E27FC236}">
                <a16:creationId xmlns:a16="http://schemas.microsoft.com/office/drawing/2014/main" id="{0F8A381A-C249-4A17-889A-668F6169238D}"/>
              </a:ext>
            </a:extLst>
          </p:cNvPr>
          <p:cNvSpPr>
            <a:spLocks xmlns:a="http://schemas.openxmlformats.org/drawingml/2006/main" noGrp="1"/>
          </p:cNvSpPr>
          <p:nvPr/>
        </p:nvSpPr>
        <p:spPr>
          <a:xfrm xmlns:a="http://schemas.openxmlformats.org/drawingml/2006/main">
            <a:off x="3048000" y="416242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0955">
            <a:solidFill>
              <a:srgbClr val="231F20"/>
            </a:solidFill>
          </a:ln>
        </p:spPr>
      </p:sp>
      <p:sp>
        <p:nvSpPr>
          <p:cNvPr id="18" name="wire-23">
            <a:extLst xmlns:a="http://schemas.openxmlformats.org/drawingml/2006/main">
              <a:ext uri="{FF2B5EF4-FFF2-40B4-BE49-F238E27FC236}">
                <a16:creationId xmlns:a16="http://schemas.microsoft.com/office/drawing/2014/main" id="{2A736FC0-2EF1-42BB-BEB5-BF4539960DB4}"/>
              </a:ext>
            </a:extLst>
          </p:cNvPr>
          <p:cNvSpPr>
            <a:spLocks xmlns:a="http://schemas.openxmlformats.org/drawingml/2006/main" noGrp="1"/>
          </p:cNvSpPr>
          <p:nvPr/>
        </p:nvSpPr>
        <p:spPr>
          <a:xfrm xmlns:a="http://schemas.openxmlformats.org/drawingml/2006/main">
            <a:off x="3048000" y="448627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0955">
            <a:solidFill>
              <a:srgbClr val="231F20"/>
            </a:solidFill>
          </a:ln>
        </p:spPr>
      </p:sp>
      <p:sp>
        <p:nvSpPr>
          <p:cNvPr id="19" name="wire-24">
            <a:extLst xmlns:a="http://schemas.openxmlformats.org/drawingml/2006/main">
              <a:ext uri="{FF2B5EF4-FFF2-40B4-BE49-F238E27FC236}">
                <a16:creationId xmlns:a16="http://schemas.microsoft.com/office/drawing/2014/main" id="{0F7E930A-B5C8-410A-8F98-240C6A198D37}"/>
              </a:ext>
            </a:extLst>
          </p:cNvPr>
          <p:cNvSpPr>
            <a:spLocks xmlns:a="http://schemas.openxmlformats.org/drawingml/2006/main" noGrp="1"/>
          </p:cNvSpPr>
          <p:nvPr/>
        </p:nvSpPr>
        <p:spPr>
          <a:xfrm xmlns:a="http://schemas.openxmlformats.org/drawingml/2006/main">
            <a:off x="3962400" y="432435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0955">
            <a:solidFill>
              <a:srgbClr val="231F20"/>
            </a:solidFill>
          </a:ln>
        </p:spPr>
      </p:sp>
      <p:sp>
        <p:nvSpPr>
          <p:cNvPr id="20" name="and-gate-25">
            <a:extLst xmlns:a="http://schemas.openxmlformats.org/drawingml/2006/main">
              <a:ext uri="{FF2B5EF4-FFF2-40B4-BE49-F238E27FC236}">
                <a16:creationId xmlns:a16="http://schemas.microsoft.com/office/drawing/2014/main" id="{DDBCAA7A-4101-4BDF-B8D0-27CA3E029283}"/>
              </a:ext>
            </a:extLst>
          </p:cNvPr>
          <p:cNvSpPr>
            <a:spLocks xmlns:a="http://schemas.openxmlformats.org/drawingml/2006/main" noGrp="1"/>
          </p:cNvSpPr>
          <p:nvPr/>
        </p:nvSpPr>
        <p:spPr>
          <a:xfrm xmlns:a="http://schemas.openxmlformats.org/drawingml/2006/main">
            <a:off x="4953000" y="4019550"/>
            <a:ext cx="628650" cy="609600"/>
          </a:xfrm>
          <a:custGeom xmlns:a="http://schemas.openxmlformats.org/drawingml/2006/main">
            <a:pathLst>
              <a:path w="628650" h="609600">
                <a:moveTo>
                  <a:pt x="0" y="0"/>
                </a:moveTo>
                <a:lnTo>
                  <a:pt x="304800" y="0"/>
                </a:lnTo>
                <a:cubicBezTo>
                  <a:pt x="723900" y="0"/>
                  <a:pt x="723900" y="609600"/>
                  <a:pt x="304800" y="609600"/>
                </a:cubicBezTo>
                <a:lnTo>
                  <a:pt x="0" y="609600"/>
                </a:lnTo>
                <a:close/>
              </a:path>
            </a:pathLst>
          </a:custGeom>
          <a:solidFill xmlns:a="http://schemas.openxmlformats.org/drawingml/2006/main">
            <a:srgbClr val="FFFFFF"/>
          </a:solidFill>
          <a:ln xmlns:a="http://schemas.openxmlformats.org/drawingml/2006/main" w="19050">
            <a:solidFill>
              <a:srgbClr val="231F20"/>
            </a:solidFill>
          </a:ln>
        </p:spPr>
      </p:sp>
      <p:sp>
        <p:nvSpPr>
          <p:cNvPr id="21" name="wire-26">
            <a:extLst xmlns:a="http://schemas.openxmlformats.org/drawingml/2006/main">
              <a:ext uri="{FF2B5EF4-FFF2-40B4-BE49-F238E27FC236}">
                <a16:creationId xmlns:a16="http://schemas.microsoft.com/office/drawing/2014/main" id="{3602C9C0-A21D-4445-8F6B-6AA2CE6999E1}"/>
              </a:ext>
            </a:extLst>
          </p:cNvPr>
          <p:cNvSpPr>
            <a:spLocks xmlns:a="http://schemas.openxmlformats.org/drawingml/2006/main" noGrp="1"/>
          </p:cNvSpPr>
          <p:nvPr/>
        </p:nvSpPr>
        <p:spPr>
          <a:xfrm xmlns:a="http://schemas.openxmlformats.org/drawingml/2006/main">
            <a:off x="4667250" y="416242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0955">
            <a:solidFill>
              <a:srgbClr val="231F20"/>
            </a:solidFill>
          </a:ln>
        </p:spPr>
      </p:sp>
      <p:sp>
        <p:nvSpPr>
          <p:cNvPr id="22" name="wire-27">
            <a:extLst xmlns:a="http://schemas.openxmlformats.org/drawingml/2006/main">
              <a:ext uri="{FF2B5EF4-FFF2-40B4-BE49-F238E27FC236}">
                <a16:creationId xmlns:a16="http://schemas.microsoft.com/office/drawing/2014/main" id="{5EC2B3F0-11FA-4129-A07F-041FA13837A8}"/>
              </a:ext>
            </a:extLst>
          </p:cNvPr>
          <p:cNvSpPr>
            <a:spLocks xmlns:a="http://schemas.openxmlformats.org/drawingml/2006/main" noGrp="1"/>
          </p:cNvSpPr>
          <p:nvPr/>
        </p:nvSpPr>
        <p:spPr>
          <a:xfrm xmlns:a="http://schemas.openxmlformats.org/drawingml/2006/main">
            <a:off x="4667250" y="448627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0955">
            <a:solidFill>
              <a:srgbClr val="231F20"/>
            </a:solidFill>
          </a:ln>
        </p:spPr>
      </p:sp>
      <p:sp>
        <p:nvSpPr>
          <p:cNvPr id="23" name="wire-28">
            <a:extLst xmlns:a="http://schemas.openxmlformats.org/drawingml/2006/main">
              <a:ext uri="{FF2B5EF4-FFF2-40B4-BE49-F238E27FC236}">
                <a16:creationId xmlns:a16="http://schemas.microsoft.com/office/drawing/2014/main" id="{281AFA48-5631-4B9C-A962-0E849CA3C43F}"/>
              </a:ext>
            </a:extLst>
          </p:cNvPr>
          <p:cNvSpPr>
            <a:spLocks xmlns:a="http://schemas.openxmlformats.org/drawingml/2006/main" noGrp="1"/>
          </p:cNvSpPr>
          <p:nvPr/>
        </p:nvSpPr>
        <p:spPr>
          <a:xfrm xmlns:a="http://schemas.openxmlformats.org/drawingml/2006/main">
            <a:off x="5581650" y="432435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0955">
            <a:solidFill>
              <a:srgbClr val="231F20"/>
            </a:solidFill>
          </a:ln>
        </p:spPr>
      </p:sp>
      <p:sp>
        <p:nvSpPr>
          <p:cNvPr id="24" name="logic-29">
            <a:extLst xmlns:a="http://schemas.openxmlformats.org/drawingml/2006/main">
              <a:ext uri="{FF2B5EF4-FFF2-40B4-BE49-F238E27FC236}">
                <a16:creationId xmlns:a16="http://schemas.microsoft.com/office/drawing/2014/main" id="{30B72BE8-5F75-404A-A672-3B01C9B8A31F}"/>
              </a:ext>
            </a:extLst>
          </p:cNvPr>
          <p:cNvSpPr>
            <a:spLocks xmlns:a="http://schemas.openxmlformats.org/drawingml/2006/main" noGrp="1"/>
          </p:cNvSpPr>
          <p:nvPr/>
        </p:nvSpPr>
        <p:spPr>
          <a:xfrm xmlns:a="http://schemas.openxmlformats.org/drawingml/2006/main">
            <a:off x="7162800" y="4019550"/>
            <a:ext cx="552450" cy="609600"/>
          </a:xfrm>
          <a:custGeom xmlns:a="http://schemas.openxmlformats.org/drawingml/2006/main">
            <a:pathLst>
              <a:path w="552450" h="609600">
                <a:moveTo>
                  <a:pt x="0" y="0"/>
                </a:moveTo>
                <a:lnTo>
                  <a:pt x="0" y="609600"/>
                </a:lnTo>
                <a:lnTo>
                  <a:pt x="552450" y="304800"/>
                </a:lnTo>
                <a:close/>
              </a:path>
            </a:pathLst>
          </a:custGeom>
          <a:solidFill xmlns:a="http://schemas.openxmlformats.org/drawingml/2006/main">
            <a:srgbClr val="FFFFFF"/>
          </a:solidFill>
          <a:ln xmlns:a="http://schemas.openxmlformats.org/drawingml/2006/main" w="19050">
            <a:solidFill>
              <a:srgbClr val="231F20"/>
            </a:solidFill>
          </a:ln>
        </p:spPr>
      </p:sp>
      <p:sp>
        <p:nvSpPr>
          <p:cNvPr id="25" name="wire-30">
            <a:extLst xmlns:a="http://schemas.openxmlformats.org/drawingml/2006/main">
              <a:ext uri="{FF2B5EF4-FFF2-40B4-BE49-F238E27FC236}">
                <a16:creationId xmlns:a16="http://schemas.microsoft.com/office/drawing/2014/main" id="{BE9315F2-9C4E-42BD-A3A8-DCCCD3028E8E}"/>
              </a:ext>
            </a:extLst>
          </p:cNvPr>
          <p:cNvSpPr>
            <a:spLocks xmlns:a="http://schemas.openxmlformats.org/drawingml/2006/main" noGrp="1"/>
          </p:cNvSpPr>
          <p:nvPr/>
        </p:nvSpPr>
        <p:spPr>
          <a:xfrm xmlns:a="http://schemas.openxmlformats.org/drawingml/2006/main">
            <a:off x="5905500" y="4324350"/>
            <a:ext cx="1257300" cy="9525"/>
          </a:xfrm>
          <a:custGeom xmlns:a="http://schemas.openxmlformats.org/drawingml/2006/main">
            <a:pathLst>
              <a:path w="1257300" h="9525">
                <a:moveTo>
                  <a:pt x="0" y="0"/>
                </a:moveTo>
                <a:lnTo>
                  <a:pt x="1257300" y="0"/>
                </a:lnTo>
              </a:path>
            </a:pathLst>
          </a:custGeom>
          <a:noFill xmlns:a="http://schemas.openxmlformats.org/drawingml/2006/main"/>
          <a:ln xmlns:a="http://schemas.openxmlformats.org/drawingml/2006/main" w="20955">
            <a:solidFill>
              <a:srgbClr val="231F20"/>
            </a:solidFill>
          </a:ln>
        </p:spPr>
      </p:sp>
      <p:sp>
        <p:nvSpPr>
          <p:cNvPr id="26" name="wire-31">
            <a:extLst xmlns:a="http://schemas.openxmlformats.org/drawingml/2006/main">
              <a:ext uri="{FF2B5EF4-FFF2-40B4-BE49-F238E27FC236}">
                <a16:creationId xmlns:a16="http://schemas.microsoft.com/office/drawing/2014/main" id="{26026D6B-2AA8-438C-AD69-36A1898563ED}"/>
              </a:ext>
            </a:extLst>
          </p:cNvPr>
          <p:cNvSpPr>
            <a:spLocks xmlns:a="http://schemas.openxmlformats.org/drawingml/2006/main" noGrp="1"/>
          </p:cNvSpPr>
          <p:nvPr/>
        </p:nvSpPr>
        <p:spPr>
          <a:xfrm xmlns:a="http://schemas.openxmlformats.org/drawingml/2006/main">
            <a:off x="7715250" y="4324350"/>
            <a:ext cx="990600" cy="9525"/>
          </a:xfrm>
          <a:custGeom xmlns:a="http://schemas.openxmlformats.org/drawingml/2006/main">
            <a:pathLst>
              <a:path w="990600" h="9525">
                <a:moveTo>
                  <a:pt x="0" y="0"/>
                </a:moveTo>
                <a:lnTo>
                  <a:pt x="990600" y="0"/>
                </a:lnTo>
              </a:path>
            </a:pathLst>
          </a:custGeom>
          <a:noFill xmlns:a="http://schemas.openxmlformats.org/drawingml/2006/main"/>
          <a:ln xmlns:a="http://schemas.openxmlformats.org/drawingml/2006/main" w="20955">
            <a:solidFill>
              <a:srgbClr val="231F20"/>
            </a:solidFill>
          </a:ln>
        </p:spPr>
      </p:sp>
      <p:sp>
        <p:nvSpPr>
          <p:cNvPr id="27" name="text-32">
            <a:extLst xmlns:a="http://schemas.openxmlformats.org/drawingml/2006/main">
              <a:ext uri="{FF2B5EF4-FFF2-40B4-BE49-F238E27FC236}">
                <a16:creationId xmlns:a16="http://schemas.microsoft.com/office/drawing/2014/main" id="{1C9D6968-27CF-4ED9-BD78-7CFDFAAC18D5}"/>
              </a:ext>
            </a:extLst>
          </p:cNvPr>
          <p:cNvSpPr>
            <a:spLocks xmlns:a="http://schemas.openxmlformats.org/drawingml/2006/main" noGrp="1"/>
          </p:cNvSpPr>
          <p:nvPr/>
        </p:nvSpPr>
        <p:spPr>
          <a:xfrm xmlns:a="http://schemas.openxmlformats.org/drawingml/2006/main">
            <a:off x="3095625" y="57721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0">
                <a:solidFill>
                  <a:srgbClr val="231F20"/>
                </a:solidFill>
                <a:latin typeface="Meiryo"/>
                <a:ea typeface="Meiryo"/>
                <a:cs typeface="Meiryo"/>
              </a:defRPr>
            </a:defPPr>
          </a:lstStyle>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設定に応じて論理ゲートなどを接続</a:t>
            </a:r>
          </a:p>
        </p:txBody>
      </p:sp>
    </p:spTree>
    <p:extLst>
      <p:ext uri="{BB962C8B-B14F-4D97-AF65-F5344CB8AC3E}">
        <p14:creationId xmlns:p14="http://schemas.microsoft.com/office/powerpoint/2010/main" val="21812600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text-33">
            <a:extLst xmlns:a="http://schemas.openxmlformats.org/drawingml/2006/main">
              <a:ext uri="{FF2B5EF4-FFF2-40B4-BE49-F238E27FC236}">
                <a16:creationId xmlns:a16="http://schemas.microsoft.com/office/drawing/2014/main" id="{90051105-E33E-4190-BBBA-539CA16833F0}"/>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CPUと描画回路を一つのチップに接続する</a:t>
            </a:r>
          </a:p>
        </p:txBody>
      </p:sp>
      <p:sp>
        <p:nvSpPr>
          <p:cNvPr id="2" name="text-34">
            <a:extLst xmlns:a="http://schemas.openxmlformats.org/drawingml/2006/main">
              <a:ext uri="{FF2B5EF4-FFF2-40B4-BE49-F238E27FC236}">
                <a16:creationId xmlns:a16="http://schemas.microsoft.com/office/drawing/2014/main" id="{ACC26168-FBF3-44C6-B54B-87E866206CF4}"/>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3</a:t>
            </a:r>
          </a:p>
        </p:txBody>
      </p:sp>
      <p:sp>
        <p:nvSpPr>
          <p:cNvPr id="3" name="circuit-35">
            <a:extLst xmlns:a="http://schemas.openxmlformats.org/drawingml/2006/main">
              <a:ext uri="{FF2B5EF4-FFF2-40B4-BE49-F238E27FC236}">
                <a16:creationId xmlns:a16="http://schemas.microsoft.com/office/drawing/2014/main" id="{257A3222-B58A-4399-A57B-BA3CFC339A34}"/>
              </a:ext>
            </a:extLst>
          </p:cNvPr>
          <p:cNvSpPr>
            <a:spLocks xmlns:a="http://schemas.openxmlformats.org/drawingml/2006/main" noGrp="1"/>
          </p:cNvSpPr>
          <p:nvPr/>
        </p:nvSpPr>
        <p:spPr>
          <a:xfrm xmlns:a="http://schemas.openxmlformats.org/drawingml/2006/main">
            <a:off x="781050" y="1466850"/>
            <a:ext cx="10629900" cy="46863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4" name="circuit-36">
            <a:extLst xmlns:a="http://schemas.openxmlformats.org/drawingml/2006/main">
              <a:ext uri="{FF2B5EF4-FFF2-40B4-BE49-F238E27FC236}">
                <a16:creationId xmlns:a16="http://schemas.microsoft.com/office/drawing/2014/main" id="{970F8EE6-020F-42E3-91E4-283EBD3C16BC}"/>
              </a:ext>
            </a:extLst>
          </p:cNvPr>
          <p:cNvSpPr>
            <a:spLocks xmlns:a="http://schemas.openxmlformats.org/drawingml/2006/main" noGrp="1"/>
          </p:cNvSpPr>
          <p:nvPr/>
        </p:nvSpPr>
        <p:spPr>
          <a:xfrm xmlns:a="http://schemas.openxmlformats.org/drawingml/2006/main">
            <a:off x="1085850" y="1628775"/>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5" name="text-37">
            <a:extLst xmlns:a="http://schemas.openxmlformats.org/drawingml/2006/main">
              <a:ext uri="{FF2B5EF4-FFF2-40B4-BE49-F238E27FC236}">
                <a16:creationId xmlns:a16="http://schemas.microsoft.com/office/drawing/2014/main" id="{D95408E6-BD9E-481F-BAB7-AE6F335B6F82}"/>
              </a:ext>
            </a:extLst>
          </p:cNvPr>
          <p:cNvSpPr>
            <a:spLocks xmlns:a="http://schemas.openxmlformats.org/drawingml/2006/main" noGrp="1"/>
          </p:cNvSpPr>
          <p:nvPr/>
        </p:nvSpPr>
        <p:spPr>
          <a:xfrm xmlns:a="http://schemas.openxmlformats.org/drawingml/2006/main">
            <a:off x="1200150" y="1685925"/>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SDカード</a:t>
            </a:r>
          </a:p>
        </p:txBody>
      </p:sp>
      <p:sp>
        <p:nvSpPr>
          <p:cNvPr id="6" name="circuit-38">
            <a:extLst xmlns:a="http://schemas.openxmlformats.org/drawingml/2006/main">
              <a:ext uri="{FF2B5EF4-FFF2-40B4-BE49-F238E27FC236}">
                <a16:creationId xmlns:a16="http://schemas.microsoft.com/office/drawing/2014/main" id="{EA60743A-318D-4E0F-ADF7-3DD39102BC0B}"/>
              </a:ext>
            </a:extLst>
          </p:cNvPr>
          <p:cNvSpPr>
            <a:spLocks xmlns:a="http://schemas.openxmlformats.org/drawingml/2006/main" noGrp="1"/>
          </p:cNvSpPr>
          <p:nvPr/>
        </p:nvSpPr>
        <p:spPr>
          <a:xfrm xmlns:a="http://schemas.openxmlformats.org/drawingml/2006/main">
            <a:off x="4752975" y="1628775"/>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7" name="text-39">
            <a:extLst xmlns:a="http://schemas.openxmlformats.org/drawingml/2006/main">
              <a:ext uri="{FF2B5EF4-FFF2-40B4-BE49-F238E27FC236}">
                <a16:creationId xmlns:a16="http://schemas.microsoft.com/office/drawing/2014/main" id="{FD691EB3-87B0-4FB3-BC71-B46DCF3A5276}"/>
              </a:ext>
            </a:extLst>
          </p:cNvPr>
          <p:cNvSpPr>
            <a:spLocks xmlns:a="http://schemas.openxmlformats.org/drawingml/2006/main" noGrp="1"/>
          </p:cNvSpPr>
          <p:nvPr/>
        </p:nvSpPr>
        <p:spPr>
          <a:xfrm xmlns:a="http://schemas.openxmlformats.org/drawingml/2006/main">
            <a:off x="4867275" y="1685925"/>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DDR3メモリ</a:t>
            </a:r>
          </a:p>
        </p:txBody>
      </p:sp>
      <p:sp>
        <p:nvSpPr>
          <p:cNvPr id="8" name="circuit-40">
            <a:extLst xmlns:a="http://schemas.openxmlformats.org/drawingml/2006/main">
              <a:ext uri="{FF2B5EF4-FFF2-40B4-BE49-F238E27FC236}">
                <a16:creationId xmlns:a16="http://schemas.microsoft.com/office/drawing/2014/main" id="{B475EA97-FD6A-44E6-85BE-66071A83BB07}"/>
              </a:ext>
            </a:extLst>
          </p:cNvPr>
          <p:cNvSpPr>
            <a:spLocks xmlns:a="http://schemas.openxmlformats.org/drawingml/2006/main" noGrp="1"/>
          </p:cNvSpPr>
          <p:nvPr/>
        </p:nvSpPr>
        <p:spPr>
          <a:xfrm xmlns:a="http://schemas.openxmlformats.org/drawingml/2006/main">
            <a:off x="8420100" y="1628775"/>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9" name="text-41">
            <a:extLst xmlns:a="http://schemas.openxmlformats.org/drawingml/2006/main">
              <a:ext uri="{FF2B5EF4-FFF2-40B4-BE49-F238E27FC236}">
                <a16:creationId xmlns:a16="http://schemas.microsoft.com/office/drawing/2014/main" id="{786711B3-E476-43FF-8ACC-19A5FC677707}"/>
              </a:ext>
            </a:extLst>
          </p:cNvPr>
          <p:cNvSpPr>
            <a:spLocks xmlns:a="http://schemas.openxmlformats.org/drawingml/2006/main" noGrp="1"/>
          </p:cNvSpPr>
          <p:nvPr/>
        </p:nvSpPr>
        <p:spPr>
          <a:xfrm xmlns:a="http://schemas.openxmlformats.org/drawingml/2006/main">
            <a:off x="8534400" y="1685925"/>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HDMI端子</a:t>
            </a:r>
          </a:p>
        </p:txBody>
      </p:sp>
      <p:sp>
        <p:nvSpPr>
          <p:cNvPr id="10" name="circuit-42">
            <a:extLst xmlns:a="http://schemas.openxmlformats.org/drawingml/2006/main">
              <a:ext uri="{FF2B5EF4-FFF2-40B4-BE49-F238E27FC236}">
                <a16:creationId xmlns:a16="http://schemas.microsoft.com/office/drawing/2014/main" id="{02BDC713-1077-4E00-B314-4E01A170B795}"/>
              </a:ext>
            </a:extLst>
          </p:cNvPr>
          <p:cNvSpPr>
            <a:spLocks xmlns:a="http://schemas.openxmlformats.org/drawingml/2006/main" noGrp="1"/>
          </p:cNvSpPr>
          <p:nvPr/>
        </p:nvSpPr>
        <p:spPr>
          <a:xfrm xmlns:a="http://schemas.openxmlformats.org/drawingml/2006/main">
            <a:off x="1009650" y="2581275"/>
            <a:ext cx="10172700" cy="335280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11" name="text-43">
            <a:extLst xmlns:a="http://schemas.openxmlformats.org/drawingml/2006/main">
              <a:ext uri="{FF2B5EF4-FFF2-40B4-BE49-F238E27FC236}">
                <a16:creationId xmlns:a16="http://schemas.microsoft.com/office/drawing/2014/main" id="{1813439B-6CD1-4C50-A0FC-3EAC35C7D8D1}"/>
              </a:ext>
            </a:extLst>
          </p:cNvPr>
          <p:cNvSpPr>
            <a:spLocks xmlns:a="http://schemas.openxmlformats.org/drawingml/2006/main" noGrp="1"/>
          </p:cNvSpPr>
          <p:nvPr/>
        </p:nvSpPr>
        <p:spPr>
          <a:xfrm xmlns:a="http://schemas.openxmlformats.org/drawingml/2006/main">
            <a:off x="1200150" y="2667000"/>
            <a:ext cx="23336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231F20"/>
                </a:solidFill>
                <a:latin typeface="Meiryo"/>
                <a:ea typeface="Meiryo"/>
                <a:cs typeface="Meiryo"/>
              </a:defRPr>
            </a:defPPr>
          </a:lstStyle>
          <a:p xmlns:a="http://schemas.openxmlformats.org/drawingml/2006/main">
            <a:pPr algn="l">
              <a:defRPr sz="1725" b="1">
                <a:solidFill>
                  <a:srgbClr val="231F20"/>
                </a:solidFill>
                <a:latin typeface="Meiryo"/>
                <a:ea typeface="Meiryo"/>
                <a:cs typeface="Meiryo"/>
              </a:defRPr>
            </a:pPr>
            <a:r>
              <a:rPr sz="1725" b="1">
                <a:solidFill>
                  <a:srgbClr val="231F20"/>
                </a:solidFill>
                <a:latin typeface="Meiryo"/>
                <a:ea typeface="Meiryo"/>
                <a:cs typeface="Meiryo"/>
              </a:rPr>
              <a:t>FPGAチップ</a:t>
            </a:r>
          </a:p>
        </p:txBody>
      </p:sp>
      <p:sp>
        <p:nvSpPr>
          <p:cNvPr id="12" name="circuit-44">
            <a:extLst xmlns:a="http://schemas.openxmlformats.org/drawingml/2006/main">
              <a:ext uri="{FF2B5EF4-FFF2-40B4-BE49-F238E27FC236}">
                <a16:creationId xmlns:a16="http://schemas.microsoft.com/office/drawing/2014/main" id="{7A41FDDF-41B7-4251-961C-59ADDCFE770D}"/>
              </a:ext>
            </a:extLst>
          </p:cNvPr>
          <p:cNvSpPr>
            <a:spLocks xmlns:a="http://schemas.openxmlformats.org/drawingml/2006/main" noGrp="1"/>
          </p:cNvSpPr>
          <p:nvPr/>
        </p:nvSpPr>
        <p:spPr>
          <a:xfrm xmlns:a="http://schemas.openxmlformats.org/drawingml/2006/main">
            <a:off x="1304925" y="3143250"/>
            <a:ext cx="1695450" cy="5715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3" name="text-45">
            <a:extLst xmlns:a="http://schemas.openxmlformats.org/drawingml/2006/main">
              <a:ext uri="{FF2B5EF4-FFF2-40B4-BE49-F238E27FC236}">
                <a16:creationId xmlns:a16="http://schemas.microsoft.com/office/drawing/2014/main" id="{20D4E46F-13A0-49B4-AC62-ABB7D93A2BF2}"/>
              </a:ext>
            </a:extLst>
          </p:cNvPr>
          <p:cNvSpPr>
            <a:spLocks xmlns:a="http://schemas.openxmlformats.org/drawingml/2006/main" noGrp="1"/>
          </p:cNvSpPr>
          <p:nvPr/>
        </p:nvSpPr>
        <p:spPr>
          <a:xfrm xmlns:a="http://schemas.openxmlformats.org/drawingml/2006/main">
            <a:off x="1419225" y="3200400"/>
            <a:ext cx="1466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0">
                <a:solidFill>
                  <a:srgbClr val="231F20"/>
                </a:solidFill>
                <a:latin typeface="Meiryo"/>
                <a:ea typeface="Meiryo"/>
                <a:cs typeface="Meiryo"/>
              </a:defRPr>
            </a:defPPr>
          </a:lstStyle>
          <a:p xmlns:a="http://schemas.openxmlformats.org/drawingml/2006/main">
            <a:pPr algn="ctr">
              <a:defRPr sz="2025" b="0">
                <a:solidFill>
                  <a:srgbClr val="231F20"/>
                </a:solidFill>
                <a:latin typeface="Meiryo"/>
                <a:ea typeface="Meiryo"/>
                <a:cs typeface="Meiryo"/>
              </a:defRPr>
            </a:pPr>
            <a:r>
              <a:rPr sz="2025" b="0">
                <a:solidFill>
                  <a:srgbClr val="231F20"/>
                </a:solidFill>
                <a:latin typeface="Meiryo"/>
                <a:ea typeface="Meiryo"/>
                <a:cs typeface="Meiryo"/>
              </a:rPr>
              <a:t>SD制御</a:t>
            </a:r>
          </a:p>
        </p:txBody>
      </p:sp>
      <p:sp>
        <p:nvSpPr>
          <p:cNvPr id="14" name="wire-46">
            <a:extLst xmlns:a="http://schemas.openxmlformats.org/drawingml/2006/main">
              <a:ext uri="{FF2B5EF4-FFF2-40B4-BE49-F238E27FC236}">
                <a16:creationId xmlns:a16="http://schemas.microsoft.com/office/drawing/2014/main" id="{877863DE-6BD9-4CAE-BE66-40A43EFD174E}"/>
              </a:ext>
            </a:extLst>
          </p:cNvPr>
          <p:cNvSpPr>
            <a:spLocks xmlns:a="http://schemas.openxmlformats.org/drawingml/2006/main" noGrp="1"/>
          </p:cNvSpPr>
          <p:nvPr/>
        </p:nvSpPr>
        <p:spPr>
          <a:xfrm xmlns:a="http://schemas.openxmlformats.org/drawingml/2006/main">
            <a:off x="2428875" y="2219325"/>
            <a:ext cx="9525" cy="923925"/>
          </a:xfrm>
          <a:custGeom xmlns:a="http://schemas.openxmlformats.org/drawingml/2006/main">
            <a:pathLst>
              <a:path w="9525" h="923925">
                <a:moveTo>
                  <a:pt x="0" y="0"/>
                </a:moveTo>
                <a:lnTo>
                  <a:pt x="0" y="923925"/>
                </a:lnTo>
              </a:path>
            </a:pathLst>
          </a:custGeom>
          <a:noFill xmlns:a="http://schemas.openxmlformats.org/drawingml/2006/main"/>
          <a:ln xmlns:a="http://schemas.openxmlformats.org/drawingml/2006/main" w="20955">
            <a:solidFill>
              <a:srgbClr val="231F20"/>
            </a:solidFill>
          </a:ln>
        </p:spPr>
      </p:sp>
      <p:sp>
        <p:nvSpPr>
          <p:cNvPr id="15" name="circuit-47">
            <a:extLst xmlns:a="http://schemas.openxmlformats.org/drawingml/2006/main">
              <a:ext uri="{FF2B5EF4-FFF2-40B4-BE49-F238E27FC236}">
                <a16:creationId xmlns:a16="http://schemas.microsoft.com/office/drawing/2014/main" id="{E7015D89-08FC-48F8-A919-5051022732B5}"/>
              </a:ext>
            </a:extLst>
          </p:cNvPr>
          <p:cNvSpPr>
            <a:spLocks xmlns:a="http://schemas.openxmlformats.org/drawingml/2006/main" noGrp="1"/>
          </p:cNvSpPr>
          <p:nvPr/>
        </p:nvSpPr>
        <p:spPr>
          <a:xfrm xmlns:a="http://schemas.openxmlformats.org/drawingml/2006/main">
            <a:off x="4962525" y="3143250"/>
            <a:ext cx="2266950" cy="5715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6" name="text-48">
            <a:extLst xmlns:a="http://schemas.openxmlformats.org/drawingml/2006/main">
              <a:ext uri="{FF2B5EF4-FFF2-40B4-BE49-F238E27FC236}">
                <a16:creationId xmlns:a16="http://schemas.microsoft.com/office/drawing/2014/main" id="{904630D2-FBCC-4BB1-AAC6-012B8C03D992}"/>
              </a:ext>
            </a:extLst>
          </p:cNvPr>
          <p:cNvSpPr>
            <a:spLocks xmlns:a="http://schemas.openxmlformats.org/drawingml/2006/main" noGrp="1"/>
          </p:cNvSpPr>
          <p:nvPr/>
        </p:nvSpPr>
        <p:spPr>
          <a:xfrm xmlns:a="http://schemas.openxmlformats.org/drawingml/2006/main">
            <a:off x="5076825" y="320040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0">
                <a:solidFill>
                  <a:srgbClr val="231F20"/>
                </a:solidFill>
                <a:latin typeface="Meiryo"/>
                <a:ea typeface="Meiryo"/>
                <a:cs typeface="Meiryo"/>
              </a:defRPr>
            </a:defPPr>
          </a:lstStyle>
          <a:p xmlns:a="http://schemas.openxmlformats.org/drawingml/2006/main">
            <a:pPr algn="ctr">
              <a:defRPr sz="2025" b="0">
                <a:solidFill>
                  <a:srgbClr val="231F20"/>
                </a:solidFill>
                <a:latin typeface="Meiryo"/>
                <a:ea typeface="Meiryo"/>
                <a:cs typeface="Meiryo"/>
              </a:defRPr>
            </a:pPr>
            <a:r>
              <a:rPr sz="2025" b="0">
                <a:solidFill>
                  <a:srgbClr val="231F20"/>
                </a:solidFill>
                <a:latin typeface="Meiryo"/>
                <a:ea typeface="Meiryo"/>
                <a:cs typeface="Meiryo"/>
              </a:rPr>
              <a:t>メモリ制御</a:t>
            </a:r>
          </a:p>
        </p:txBody>
      </p:sp>
      <p:sp>
        <p:nvSpPr>
          <p:cNvPr id="17" name="wire-49">
            <a:extLst xmlns:a="http://schemas.openxmlformats.org/drawingml/2006/main">
              <a:ext uri="{FF2B5EF4-FFF2-40B4-BE49-F238E27FC236}">
                <a16:creationId xmlns:a16="http://schemas.microsoft.com/office/drawing/2014/main" id="{A8757415-8DF6-4388-AD91-0F15601476D0}"/>
              </a:ext>
            </a:extLst>
          </p:cNvPr>
          <p:cNvSpPr>
            <a:spLocks xmlns:a="http://schemas.openxmlformats.org/drawingml/2006/main" noGrp="1"/>
          </p:cNvSpPr>
          <p:nvPr/>
        </p:nvSpPr>
        <p:spPr>
          <a:xfrm xmlns:a="http://schemas.openxmlformats.org/drawingml/2006/main">
            <a:off x="6096000" y="2219325"/>
            <a:ext cx="9525" cy="923925"/>
          </a:xfrm>
          <a:custGeom xmlns:a="http://schemas.openxmlformats.org/drawingml/2006/main">
            <a:pathLst>
              <a:path w="9525" h="923925">
                <a:moveTo>
                  <a:pt x="0" y="0"/>
                </a:moveTo>
                <a:lnTo>
                  <a:pt x="0" y="923925"/>
                </a:lnTo>
              </a:path>
            </a:pathLst>
          </a:custGeom>
          <a:noFill xmlns:a="http://schemas.openxmlformats.org/drawingml/2006/main"/>
          <a:ln xmlns:a="http://schemas.openxmlformats.org/drawingml/2006/main" w="20955">
            <a:solidFill>
              <a:srgbClr val="231F20"/>
            </a:solidFill>
          </a:ln>
        </p:spPr>
      </p:sp>
      <p:sp>
        <p:nvSpPr>
          <p:cNvPr id="18" name="circuit-50">
            <a:extLst xmlns:a="http://schemas.openxmlformats.org/drawingml/2006/main">
              <a:ext uri="{FF2B5EF4-FFF2-40B4-BE49-F238E27FC236}">
                <a16:creationId xmlns:a16="http://schemas.microsoft.com/office/drawing/2014/main" id="{3407F24A-E881-40F4-BC9A-2331EAFA01BA}"/>
              </a:ext>
            </a:extLst>
          </p:cNvPr>
          <p:cNvSpPr>
            <a:spLocks xmlns:a="http://schemas.openxmlformats.org/drawingml/2006/main" noGrp="1"/>
          </p:cNvSpPr>
          <p:nvPr/>
        </p:nvSpPr>
        <p:spPr>
          <a:xfrm xmlns:a="http://schemas.openxmlformats.org/drawingml/2006/main">
            <a:off x="9163050" y="3143250"/>
            <a:ext cx="1733550" cy="5715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9" name="text-51">
            <a:extLst xmlns:a="http://schemas.openxmlformats.org/drawingml/2006/main">
              <a:ext uri="{FF2B5EF4-FFF2-40B4-BE49-F238E27FC236}">
                <a16:creationId xmlns:a16="http://schemas.microsoft.com/office/drawing/2014/main" id="{EC730C21-59DC-4190-BB21-A9C47C7FB791}"/>
              </a:ext>
            </a:extLst>
          </p:cNvPr>
          <p:cNvSpPr>
            <a:spLocks xmlns:a="http://schemas.openxmlformats.org/drawingml/2006/main" noGrp="1"/>
          </p:cNvSpPr>
          <p:nvPr/>
        </p:nvSpPr>
        <p:spPr>
          <a:xfrm xmlns:a="http://schemas.openxmlformats.org/drawingml/2006/main">
            <a:off x="9277350" y="3200400"/>
            <a:ext cx="1504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0">
                <a:solidFill>
                  <a:srgbClr val="231F20"/>
                </a:solidFill>
                <a:latin typeface="Meiryo"/>
                <a:ea typeface="Meiryo"/>
                <a:cs typeface="Meiryo"/>
              </a:defRPr>
            </a:defPPr>
          </a:lstStyle>
          <a:p xmlns:a="http://schemas.openxmlformats.org/drawingml/2006/main">
            <a:pPr algn="ctr">
              <a:defRPr sz="2025" b="0">
                <a:solidFill>
                  <a:srgbClr val="231F20"/>
                </a:solidFill>
                <a:latin typeface="Meiryo"/>
                <a:ea typeface="Meiryo"/>
                <a:cs typeface="Meiryo"/>
              </a:defRPr>
            </a:pPr>
            <a:r>
              <a:rPr sz="2025" b="0">
                <a:solidFill>
                  <a:srgbClr val="231F20"/>
                </a:solidFill>
                <a:latin typeface="Meiryo"/>
                <a:ea typeface="Meiryo"/>
                <a:cs typeface="Meiryo"/>
              </a:rPr>
              <a:t>表示回路</a:t>
            </a:r>
          </a:p>
        </p:txBody>
      </p:sp>
      <p:sp>
        <p:nvSpPr>
          <p:cNvPr id="20" name="wire-52">
            <a:extLst xmlns:a="http://schemas.openxmlformats.org/drawingml/2006/main">
              <a:ext uri="{FF2B5EF4-FFF2-40B4-BE49-F238E27FC236}">
                <a16:creationId xmlns:a16="http://schemas.microsoft.com/office/drawing/2014/main" id="{89C8A8B7-3F40-4425-A152-7D8CEBD52783}"/>
              </a:ext>
            </a:extLst>
          </p:cNvPr>
          <p:cNvSpPr>
            <a:spLocks xmlns:a="http://schemas.openxmlformats.org/drawingml/2006/main" noGrp="1"/>
          </p:cNvSpPr>
          <p:nvPr/>
        </p:nvSpPr>
        <p:spPr>
          <a:xfrm xmlns:a="http://schemas.openxmlformats.org/drawingml/2006/main">
            <a:off x="10029825" y="2219325"/>
            <a:ext cx="9525" cy="923925"/>
          </a:xfrm>
          <a:custGeom xmlns:a="http://schemas.openxmlformats.org/drawingml/2006/main">
            <a:pathLst>
              <a:path w="9525" h="923925">
                <a:moveTo>
                  <a:pt x="0" y="923925"/>
                </a:moveTo>
                <a:lnTo>
                  <a:pt x="0" y="0"/>
                </a:lnTo>
              </a:path>
            </a:pathLst>
          </a:custGeom>
          <a:noFill xmlns:a="http://schemas.openxmlformats.org/drawingml/2006/main"/>
          <a:ln xmlns:a="http://schemas.openxmlformats.org/drawingml/2006/main" w="20955">
            <a:solidFill>
              <a:srgbClr val="231F20"/>
            </a:solidFill>
          </a:ln>
        </p:spPr>
      </p:sp>
      <p:sp>
        <p:nvSpPr>
          <p:cNvPr id="21" name="logic-53">
            <a:extLst xmlns:a="http://schemas.openxmlformats.org/drawingml/2006/main">
              <a:ext uri="{FF2B5EF4-FFF2-40B4-BE49-F238E27FC236}">
                <a16:creationId xmlns:a16="http://schemas.microsoft.com/office/drawing/2014/main" id="{9301B44C-6C34-43C3-9B82-4161E4BAB5AE}"/>
              </a:ext>
            </a:extLst>
          </p:cNvPr>
          <p:cNvSpPr>
            <a:spLocks xmlns:a="http://schemas.openxmlformats.org/drawingml/2006/main" noGrp="1"/>
          </p:cNvSpPr>
          <p:nvPr/>
        </p:nvSpPr>
        <p:spPr>
          <a:xfrm xmlns:a="http://schemas.openxmlformats.org/drawingml/2006/main">
            <a:off x="9982200" y="2219325"/>
            <a:ext cx="95250" cy="114300"/>
          </a:xfrm>
          <a:custGeom xmlns:a="http://schemas.openxmlformats.org/drawingml/2006/main">
            <a:pathLst>
              <a:path w="95250" h="114300">
                <a:moveTo>
                  <a:pt x="47625" y="0"/>
                </a:moveTo>
                <a:lnTo>
                  <a:pt x="0" y="114300"/>
                </a:lnTo>
                <a:lnTo>
                  <a:pt x="95250" y="114300"/>
                </a:lnTo>
                <a:close/>
              </a:path>
            </a:pathLst>
          </a:custGeom>
          <a:solidFill xmlns:a="http://schemas.openxmlformats.org/drawingml/2006/main">
            <a:srgbClr val="231F20"/>
          </a:solidFill>
          <a:ln xmlns:a="http://schemas.openxmlformats.org/drawingml/2006/main" w="19050">
            <a:solidFill>
              <a:srgbClr val="231F20"/>
            </a:solidFill>
          </a:ln>
        </p:spPr>
      </p:sp>
      <p:sp>
        <p:nvSpPr>
          <p:cNvPr id="22" name="circuit-54">
            <a:extLst xmlns:a="http://schemas.openxmlformats.org/drawingml/2006/main">
              <a:ext uri="{FF2B5EF4-FFF2-40B4-BE49-F238E27FC236}">
                <a16:creationId xmlns:a16="http://schemas.microsoft.com/office/drawing/2014/main" id="{BADDCCDF-F065-4AF1-B31C-FD0BC4DD9655}"/>
              </a:ext>
            </a:extLst>
          </p:cNvPr>
          <p:cNvSpPr>
            <a:spLocks xmlns:a="http://schemas.openxmlformats.org/drawingml/2006/main" noGrp="1"/>
          </p:cNvSpPr>
          <p:nvPr/>
        </p:nvSpPr>
        <p:spPr>
          <a:xfrm xmlns:a="http://schemas.openxmlformats.org/drawingml/2006/main">
            <a:off x="1409700" y="4181475"/>
            <a:ext cx="5705475" cy="438150"/>
          </a:xfrm>
          <a:prstGeom xmlns:a="http://schemas.openxmlformats.org/drawingml/2006/main" prst="rect">
            <a:avLst/>
          </a:prstGeom>
          <a:solidFill xmlns:a="http://schemas.openxmlformats.org/drawingml/2006/main">
            <a:srgbClr val="CCD9F1"/>
          </a:solidFill>
          <a:ln xmlns:a="http://schemas.openxmlformats.org/drawingml/2006/main" w="19050">
            <a:solidFill>
              <a:srgbClr val="231F20"/>
            </a:solidFill>
          </a:ln>
        </p:spPr>
      </p:sp>
      <p:sp>
        <p:nvSpPr>
          <p:cNvPr id="23" name="text-55">
            <a:extLst xmlns:a="http://schemas.openxmlformats.org/drawingml/2006/main">
              <a:ext uri="{FF2B5EF4-FFF2-40B4-BE49-F238E27FC236}">
                <a16:creationId xmlns:a16="http://schemas.microsoft.com/office/drawing/2014/main" id="{5F1E1097-E6DA-4A36-9704-918ED9DE6E20}"/>
              </a:ext>
            </a:extLst>
          </p:cNvPr>
          <p:cNvSpPr>
            <a:spLocks xmlns:a="http://schemas.openxmlformats.org/drawingml/2006/main" noGrp="1"/>
          </p:cNvSpPr>
          <p:nvPr/>
        </p:nvSpPr>
        <p:spPr>
          <a:xfrm xmlns:a="http://schemas.openxmlformats.org/drawingml/2006/main">
            <a:off x="1524000" y="4238625"/>
            <a:ext cx="5476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0">
                <a:solidFill>
                  <a:srgbClr val="231F20"/>
                </a:solidFill>
                <a:latin typeface="Meiryo"/>
                <a:ea typeface="Meiryo"/>
                <a:cs typeface="Meiryo"/>
              </a:defRPr>
            </a:defPPr>
          </a:lstStyle>
          <a:p xmlns:a="http://schemas.openxmlformats.org/drawingml/2006/main">
            <a:pPr algn="ctr">
              <a:defRPr sz="1875" b="0">
                <a:solidFill>
                  <a:srgbClr val="231F20"/>
                </a:solidFill>
                <a:latin typeface="Meiryo"/>
                <a:ea typeface="Meiryo"/>
                <a:cs typeface="Meiryo"/>
              </a:defRPr>
            </a:pPr>
            <a:r>
              <a:rPr sz="1875" b="0">
                <a:solidFill>
                  <a:srgbClr val="231F20"/>
                </a:solidFill>
                <a:latin typeface="Meiryo"/>
                <a:ea typeface="Meiryo"/>
                <a:cs typeface="Meiryo"/>
              </a:rPr>
              <a:t>CPUのバス</a:t>
            </a:r>
          </a:p>
        </p:txBody>
      </p:sp>
      <p:sp>
        <p:nvSpPr>
          <p:cNvPr id="24" name="wire-56">
            <a:extLst xmlns:a="http://schemas.openxmlformats.org/drawingml/2006/main">
              <a:ext uri="{FF2B5EF4-FFF2-40B4-BE49-F238E27FC236}">
                <a16:creationId xmlns:a16="http://schemas.microsoft.com/office/drawing/2014/main" id="{C8185FCD-9F12-4C02-B116-930E218A66CE}"/>
              </a:ext>
            </a:extLst>
          </p:cNvPr>
          <p:cNvSpPr>
            <a:spLocks xmlns:a="http://schemas.openxmlformats.org/drawingml/2006/main" noGrp="1"/>
          </p:cNvSpPr>
          <p:nvPr/>
        </p:nvSpPr>
        <p:spPr>
          <a:xfrm xmlns:a="http://schemas.openxmlformats.org/drawingml/2006/main">
            <a:off x="2152650" y="3714750"/>
            <a:ext cx="9525" cy="466725"/>
          </a:xfrm>
          <a:custGeom xmlns:a="http://schemas.openxmlformats.org/drawingml/2006/main">
            <a:pathLst>
              <a:path w="9525" h="466725">
                <a:moveTo>
                  <a:pt x="0" y="0"/>
                </a:moveTo>
                <a:lnTo>
                  <a:pt x="0" y="466725"/>
                </a:lnTo>
              </a:path>
            </a:pathLst>
          </a:custGeom>
          <a:noFill xmlns:a="http://schemas.openxmlformats.org/drawingml/2006/main"/>
          <a:ln xmlns:a="http://schemas.openxmlformats.org/drawingml/2006/main" w="20955">
            <a:solidFill>
              <a:srgbClr val="231F20"/>
            </a:solidFill>
          </a:ln>
        </p:spPr>
      </p:sp>
      <p:sp>
        <p:nvSpPr>
          <p:cNvPr id="25" name="wire-57">
            <a:extLst xmlns:a="http://schemas.openxmlformats.org/drawingml/2006/main">
              <a:ext uri="{FF2B5EF4-FFF2-40B4-BE49-F238E27FC236}">
                <a16:creationId xmlns:a16="http://schemas.microsoft.com/office/drawing/2014/main" id="{36BA6320-909F-49E5-A2E4-6BC3DF25DBB7}"/>
              </a:ext>
            </a:extLst>
          </p:cNvPr>
          <p:cNvSpPr>
            <a:spLocks xmlns:a="http://schemas.openxmlformats.org/drawingml/2006/main" noGrp="1"/>
          </p:cNvSpPr>
          <p:nvPr/>
        </p:nvSpPr>
        <p:spPr>
          <a:xfrm xmlns:a="http://schemas.openxmlformats.org/drawingml/2006/main">
            <a:off x="6096000" y="3714750"/>
            <a:ext cx="9525" cy="466725"/>
          </a:xfrm>
          <a:custGeom xmlns:a="http://schemas.openxmlformats.org/drawingml/2006/main">
            <a:pathLst>
              <a:path w="9525" h="466725">
                <a:moveTo>
                  <a:pt x="0" y="0"/>
                </a:moveTo>
                <a:lnTo>
                  <a:pt x="0" y="466725"/>
                </a:lnTo>
              </a:path>
            </a:pathLst>
          </a:custGeom>
          <a:noFill xmlns:a="http://schemas.openxmlformats.org/drawingml/2006/main"/>
          <a:ln xmlns:a="http://schemas.openxmlformats.org/drawingml/2006/main" w="20955">
            <a:solidFill>
              <a:srgbClr val="231F20"/>
            </a:solidFill>
          </a:ln>
        </p:spPr>
      </p:sp>
      <p:sp>
        <p:nvSpPr>
          <p:cNvPr id="26" name="circuit-58">
            <a:extLst xmlns:a="http://schemas.openxmlformats.org/drawingml/2006/main">
              <a:ext uri="{FF2B5EF4-FFF2-40B4-BE49-F238E27FC236}">
                <a16:creationId xmlns:a16="http://schemas.microsoft.com/office/drawing/2014/main" id="{1CD55789-9B41-4AD5-8111-6DCA36E7A7B3}"/>
              </a:ext>
            </a:extLst>
          </p:cNvPr>
          <p:cNvSpPr>
            <a:spLocks xmlns:a="http://schemas.openxmlformats.org/drawingml/2006/main" noGrp="1"/>
          </p:cNvSpPr>
          <p:nvPr/>
        </p:nvSpPr>
        <p:spPr>
          <a:xfrm xmlns:a="http://schemas.openxmlformats.org/drawingml/2006/main">
            <a:off x="2543175" y="4943475"/>
            <a:ext cx="2952750" cy="7239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27" name="text-59">
            <a:extLst xmlns:a="http://schemas.openxmlformats.org/drawingml/2006/main">
              <a:ext uri="{FF2B5EF4-FFF2-40B4-BE49-F238E27FC236}">
                <a16:creationId xmlns:a16="http://schemas.microsoft.com/office/drawing/2014/main" id="{DDF15DD0-9EAF-49EC-880E-38C92BC1445D}"/>
              </a:ext>
            </a:extLst>
          </p:cNvPr>
          <p:cNvSpPr>
            <a:spLocks xmlns:a="http://schemas.openxmlformats.org/drawingml/2006/main" noGrp="1"/>
          </p:cNvSpPr>
          <p:nvPr/>
        </p:nvSpPr>
        <p:spPr>
          <a:xfrm xmlns:a="http://schemas.openxmlformats.org/drawingml/2006/main">
            <a:off x="2657475" y="5000625"/>
            <a:ext cx="27241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Meiryo"/>
                <a:ea typeface="Meiryo"/>
                <a:cs typeface="Meiryo"/>
              </a:defRPr>
            </a:defPPr>
          </a:lstStyle>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Wally</a:t>
            </a:r>
          </a:p>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CPU</a:t>
            </a:r>
          </a:p>
        </p:txBody>
      </p:sp>
      <p:sp>
        <p:nvSpPr>
          <p:cNvPr id="28" name="wire-60">
            <a:extLst xmlns:a="http://schemas.openxmlformats.org/drawingml/2006/main">
              <a:ext uri="{FF2B5EF4-FFF2-40B4-BE49-F238E27FC236}">
                <a16:creationId xmlns:a16="http://schemas.microsoft.com/office/drawing/2014/main" id="{8D59060C-D187-4C10-81B1-53198DAF634F}"/>
              </a:ext>
            </a:extLst>
          </p:cNvPr>
          <p:cNvSpPr>
            <a:spLocks xmlns:a="http://schemas.openxmlformats.org/drawingml/2006/main" noGrp="1"/>
          </p:cNvSpPr>
          <p:nvPr/>
        </p:nvSpPr>
        <p:spPr>
          <a:xfrm xmlns:a="http://schemas.openxmlformats.org/drawingml/2006/main">
            <a:off x="4019550" y="4619625"/>
            <a:ext cx="9525" cy="323850"/>
          </a:xfrm>
          <a:custGeom xmlns:a="http://schemas.openxmlformats.org/drawingml/2006/main">
            <a:pathLst>
              <a:path w="9525" h="323850">
                <a:moveTo>
                  <a:pt x="0" y="323850"/>
                </a:moveTo>
                <a:lnTo>
                  <a:pt x="0" y="0"/>
                </a:lnTo>
              </a:path>
            </a:pathLst>
          </a:custGeom>
          <a:noFill xmlns:a="http://schemas.openxmlformats.org/drawingml/2006/main"/>
          <a:ln xmlns:a="http://schemas.openxmlformats.org/drawingml/2006/main" w="20955">
            <a:solidFill>
              <a:srgbClr val="231F20"/>
            </a:solidFill>
          </a:ln>
        </p:spPr>
      </p:sp>
      <p:sp>
        <p:nvSpPr>
          <p:cNvPr id="29" name="circuit-61">
            <a:extLst xmlns:a="http://schemas.openxmlformats.org/drawingml/2006/main">
              <a:ext uri="{FF2B5EF4-FFF2-40B4-BE49-F238E27FC236}">
                <a16:creationId xmlns:a16="http://schemas.microsoft.com/office/drawing/2014/main" id="{D8E562B5-8F3D-4489-BE5F-2F72A8F8A66F}"/>
              </a:ext>
            </a:extLst>
          </p:cNvPr>
          <p:cNvSpPr>
            <a:spLocks xmlns:a="http://schemas.openxmlformats.org/drawingml/2006/main" noGrp="1"/>
          </p:cNvSpPr>
          <p:nvPr/>
        </p:nvSpPr>
        <p:spPr>
          <a:xfrm xmlns:a="http://schemas.openxmlformats.org/drawingml/2006/main">
            <a:off x="7553325" y="4181475"/>
            <a:ext cx="1809750" cy="4381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30" name="text-62">
            <a:extLst xmlns:a="http://schemas.openxmlformats.org/drawingml/2006/main">
              <a:ext uri="{FF2B5EF4-FFF2-40B4-BE49-F238E27FC236}">
                <a16:creationId xmlns:a16="http://schemas.microsoft.com/office/drawing/2014/main" id="{6B51C162-02C1-4BB0-9025-65B9EA98FCF7}"/>
              </a:ext>
            </a:extLst>
          </p:cNvPr>
          <p:cNvSpPr>
            <a:spLocks xmlns:a="http://schemas.openxmlformats.org/drawingml/2006/main" noGrp="1"/>
          </p:cNvSpPr>
          <p:nvPr/>
        </p:nvSpPr>
        <p:spPr>
          <a:xfrm xmlns:a="http://schemas.openxmlformats.org/drawingml/2006/main">
            <a:off x="7667625" y="4238625"/>
            <a:ext cx="158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231F20"/>
                </a:solidFill>
                <a:latin typeface="Meiryo"/>
                <a:ea typeface="Meiryo"/>
                <a:cs typeface="Meiryo"/>
              </a:defRPr>
            </a:defPPr>
          </a:lstStyle>
          <a:p xmlns:a="http://schemas.openxmlformats.org/drawingml/2006/main">
            <a:pPr algn="ctr">
              <a:defRPr sz="1800" b="0">
                <a:solidFill>
                  <a:srgbClr val="231F20"/>
                </a:solidFill>
                <a:latin typeface="Meiryo"/>
                <a:ea typeface="Meiryo"/>
                <a:cs typeface="Meiryo"/>
              </a:defRPr>
            </a:pPr>
            <a:r>
              <a:rPr sz="1800" b="0">
                <a:solidFill>
                  <a:srgbClr val="231F20"/>
                </a:solidFill>
                <a:latin typeface="Meiryo"/>
                <a:ea typeface="Meiryo"/>
                <a:cs typeface="Meiryo"/>
              </a:rPr>
              <a:t>命令の接続</a:t>
            </a:r>
          </a:p>
        </p:txBody>
      </p:sp>
      <p:sp>
        <p:nvSpPr>
          <p:cNvPr id="31" name="wire-63">
            <a:extLst xmlns:a="http://schemas.openxmlformats.org/drawingml/2006/main">
              <a:ext uri="{FF2B5EF4-FFF2-40B4-BE49-F238E27FC236}">
                <a16:creationId xmlns:a16="http://schemas.microsoft.com/office/drawing/2014/main" id="{B65D87B7-DE36-485B-9AF5-8EB5B3CCF66C}"/>
              </a:ext>
            </a:extLst>
          </p:cNvPr>
          <p:cNvSpPr>
            <a:spLocks xmlns:a="http://schemas.openxmlformats.org/drawingml/2006/main" noGrp="1"/>
          </p:cNvSpPr>
          <p:nvPr/>
        </p:nvSpPr>
        <p:spPr>
          <a:xfrm xmlns:a="http://schemas.openxmlformats.org/drawingml/2006/main">
            <a:off x="7115175" y="4400550"/>
            <a:ext cx="438150" cy="9525"/>
          </a:xfrm>
          <a:custGeom xmlns:a="http://schemas.openxmlformats.org/drawingml/2006/main">
            <a:pathLst>
              <a:path w="438150" h="9525">
                <a:moveTo>
                  <a:pt x="0" y="0"/>
                </a:moveTo>
                <a:lnTo>
                  <a:pt x="438150" y="0"/>
                </a:lnTo>
              </a:path>
            </a:pathLst>
          </a:custGeom>
          <a:noFill xmlns:a="http://schemas.openxmlformats.org/drawingml/2006/main"/>
          <a:ln xmlns:a="http://schemas.openxmlformats.org/drawingml/2006/main" w="20955">
            <a:solidFill>
              <a:srgbClr val="231F20"/>
            </a:solidFill>
          </a:ln>
        </p:spPr>
      </p:sp>
      <p:sp>
        <p:nvSpPr>
          <p:cNvPr id="32" name="logic-64">
            <a:extLst xmlns:a="http://schemas.openxmlformats.org/drawingml/2006/main">
              <a:ext uri="{FF2B5EF4-FFF2-40B4-BE49-F238E27FC236}">
                <a16:creationId xmlns:a16="http://schemas.microsoft.com/office/drawing/2014/main" id="{DB7D8458-2E6C-4E72-BBA7-4CE1A64699E6}"/>
              </a:ext>
            </a:extLst>
          </p:cNvPr>
          <p:cNvSpPr>
            <a:spLocks xmlns:a="http://schemas.openxmlformats.org/drawingml/2006/main" noGrp="1"/>
          </p:cNvSpPr>
          <p:nvPr/>
        </p:nvSpPr>
        <p:spPr>
          <a:xfrm xmlns:a="http://schemas.openxmlformats.org/drawingml/2006/main">
            <a:off x="7439025" y="435292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33" name="circuit-65">
            <a:extLst xmlns:a="http://schemas.openxmlformats.org/drawingml/2006/main">
              <a:ext uri="{FF2B5EF4-FFF2-40B4-BE49-F238E27FC236}">
                <a16:creationId xmlns:a16="http://schemas.microsoft.com/office/drawing/2014/main" id="{A55E8EFE-226A-49B2-A01A-E2E99C38E873}"/>
              </a:ext>
            </a:extLst>
          </p:cNvPr>
          <p:cNvSpPr>
            <a:spLocks xmlns:a="http://schemas.openxmlformats.org/drawingml/2006/main" noGrp="1"/>
          </p:cNvSpPr>
          <p:nvPr/>
        </p:nvSpPr>
        <p:spPr>
          <a:xfrm xmlns:a="http://schemas.openxmlformats.org/drawingml/2006/main">
            <a:off x="7553325" y="4943475"/>
            <a:ext cx="3343275" cy="7239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34" name="text-66">
            <a:extLst xmlns:a="http://schemas.openxmlformats.org/drawingml/2006/main">
              <a:ext uri="{FF2B5EF4-FFF2-40B4-BE49-F238E27FC236}">
                <a16:creationId xmlns:a16="http://schemas.microsoft.com/office/drawing/2014/main" id="{6FE839DC-BAED-4051-9D12-F169CADF50F4}"/>
              </a:ext>
            </a:extLst>
          </p:cNvPr>
          <p:cNvSpPr>
            <a:spLocks xmlns:a="http://schemas.openxmlformats.org/drawingml/2006/main" noGrp="1"/>
          </p:cNvSpPr>
          <p:nvPr/>
        </p:nvSpPr>
        <p:spPr>
          <a:xfrm xmlns:a="http://schemas.openxmlformats.org/drawingml/2006/main">
            <a:off x="7667625" y="5000625"/>
            <a:ext cx="31146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RasterIX</a:t>
            </a:r>
          </a:p>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描画回路</a:t>
            </a:r>
          </a:p>
        </p:txBody>
      </p:sp>
      <p:sp>
        <p:nvSpPr>
          <p:cNvPr id="35" name="wire-67">
            <a:extLst xmlns:a="http://schemas.openxmlformats.org/drawingml/2006/main">
              <a:ext uri="{FF2B5EF4-FFF2-40B4-BE49-F238E27FC236}">
                <a16:creationId xmlns:a16="http://schemas.microsoft.com/office/drawing/2014/main" id="{EDC18D8C-2A19-496D-ACDD-401E6C1865E9}"/>
              </a:ext>
            </a:extLst>
          </p:cNvPr>
          <p:cNvSpPr>
            <a:spLocks xmlns:a="http://schemas.openxmlformats.org/drawingml/2006/main" noGrp="1"/>
          </p:cNvSpPr>
          <p:nvPr/>
        </p:nvSpPr>
        <p:spPr>
          <a:xfrm xmlns:a="http://schemas.openxmlformats.org/drawingml/2006/main">
            <a:off x="8467725" y="4619625"/>
            <a:ext cx="9525" cy="323850"/>
          </a:xfrm>
          <a:custGeom xmlns:a="http://schemas.openxmlformats.org/drawingml/2006/main">
            <a:pathLst>
              <a:path w="9525" h="323850">
                <a:moveTo>
                  <a:pt x="0" y="0"/>
                </a:moveTo>
                <a:lnTo>
                  <a:pt x="0" y="323850"/>
                </a:lnTo>
              </a:path>
            </a:pathLst>
          </a:custGeom>
          <a:noFill xmlns:a="http://schemas.openxmlformats.org/drawingml/2006/main"/>
          <a:ln xmlns:a="http://schemas.openxmlformats.org/drawingml/2006/main" w="20955">
            <a:solidFill>
              <a:srgbClr val="231F20"/>
            </a:solidFill>
          </a:ln>
        </p:spPr>
      </p:sp>
      <p:sp>
        <p:nvSpPr>
          <p:cNvPr id="36" name="logic-68">
            <a:extLst xmlns:a="http://schemas.openxmlformats.org/drawingml/2006/main">
              <a:ext uri="{FF2B5EF4-FFF2-40B4-BE49-F238E27FC236}">
                <a16:creationId xmlns:a16="http://schemas.microsoft.com/office/drawing/2014/main" id="{AFECB2BA-AB6C-43FE-9CDD-23BA78D02584}"/>
              </a:ext>
            </a:extLst>
          </p:cNvPr>
          <p:cNvSpPr>
            <a:spLocks xmlns:a="http://schemas.openxmlformats.org/drawingml/2006/main" noGrp="1"/>
          </p:cNvSpPr>
          <p:nvPr/>
        </p:nvSpPr>
        <p:spPr>
          <a:xfrm xmlns:a="http://schemas.openxmlformats.org/drawingml/2006/main">
            <a:off x="8420100" y="4829175"/>
            <a:ext cx="95250" cy="114300"/>
          </a:xfrm>
          <a:custGeom xmlns:a="http://schemas.openxmlformats.org/drawingml/2006/main">
            <a:pathLst>
              <a:path w="95250" h="114300">
                <a:moveTo>
                  <a:pt x="47625" y="114300"/>
                </a:moveTo>
                <a:lnTo>
                  <a:pt x="95250" y="0"/>
                </a:lnTo>
                <a:lnTo>
                  <a:pt x="0" y="0"/>
                </a:lnTo>
                <a:close/>
              </a:path>
            </a:pathLst>
          </a:custGeom>
          <a:solidFill xmlns:a="http://schemas.openxmlformats.org/drawingml/2006/main">
            <a:srgbClr val="231F20"/>
          </a:solidFill>
          <a:ln xmlns:a="http://schemas.openxmlformats.org/drawingml/2006/main" w="19050">
            <a:solidFill>
              <a:srgbClr val="231F20"/>
            </a:solidFill>
          </a:ln>
        </p:spPr>
      </p:sp>
      <p:sp>
        <p:nvSpPr>
          <p:cNvPr id="37" name="wire-69">
            <a:extLst xmlns:a="http://schemas.openxmlformats.org/drawingml/2006/main">
              <a:ext uri="{FF2B5EF4-FFF2-40B4-BE49-F238E27FC236}">
                <a16:creationId xmlns:a16="http://schemas.microsoft.com/office/drawing/2014/main" id="{758701A5-63BC-44AC-8858-C1EB70590939}"/>
              </a:ext>
            </a:extLst>
          </p:cNvPr>
          <p:cNvSpPr>
            <a:spLocks xmlns:a="http://schemas.openxmlformats.org/drawingml/2006/main" noGrp="1"/>
          </p:cNvSpPr>
          <p:nvPr/>
        </p:nvSpPr>
        <p:spPr>
          <a:xfrm xmlns:a="http://schemas.openxmlformats.org/drawingml/2006/main">
            <a:off x="7229475" y="3400425"/>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0955">
            <a:solidFill>
              <a:srgbClr val="231F20"/>
            </a:solidFill>
          </a:ln>
        </p:spPr>
      </p:sp>
      <p:sp>
        <p:nvSpPr>
          <p:cNvPr id="38" name="wire-70">
            <a:extLst xmlns:a="http://schemas.openxmlformats.org/drawingml/2006/main">
              <a:ext uri="{FF2B5EF4-FFF2-40B4-BE49-F238E27FC236}">
                <a16:creationId xmlns:a16="http://schemas.microsoft.com/office/drawing/2014/main" id="{28CD32E0-81FE-48D2-A99A-8EA0C27B3DF3}"/>
              </a:ext>
            </a:extLst>
          </p:cNvPr>
          <p:cNvSpPr>
            <a:spLocks xmlns:a="http://schemas.openxmlformats.org/drawingml/2006/main" noGrp="1"/>
          </p:cNvSpPr>
          <p:nvPr/>
        </p:nvSpPr>
        <p:spPr>
          <a:xfrm xmlns:a="http://schemas.openxmlformats.org/drawingml/2006/main">
            <a:off x="7477125" y="3400425"/>
            <a:ext cx="9525" cy="1838325"/>
          </a:xfrm>
          <a:custGeom xmlns:a="http://schemas.openxmlformats.org/drawingml/2006/main">
            <a:pathLst>
              <a:path w="9525" h="1838325">
                <a:moveTo>
                  <a:pt x="0" y="0"/>
                </a:moveTo>
                <a:lnTo>
                  <a:pt x="0" y="1838325"/>
                </a:lnTo>
              </a:path>
            </a:pathLst>
          </a:custGeom>
          <a:noFill xmlns:a="http://schemas.openxmlformats.org/drawingml/2006/main"/>
          <a:ln xmlns:a="http://schemas.openxmlformats.org/drawingml/2006/main" w="20955">
            <a:solidFill>
              <a:srgbClr val="231F20"/>
            </a:solidFill>
          </a:ln>
        </p:spPr>
      </p:sp>
      <p:sp>
        <p:nvSpPr>
          <p:cNvPr id="39" name="wire-71">
            <a:extLst xmlns:a="http://schemas.openxmlformats.org/drawingml/2006/main">
              <a:ext uri="{FF2B5EF4-FFF2-40B4-BE49-F238E27FC236}">
                <a16:creationId xmlns:a16="http://schemas.microsoft.com/office/drawing/2014/main" id="{472D53EC-A841-492B-AB1D-C88B66FCE8FD}"/>
              </a:ext>
            </a:extLst>
          </p:cNvPr>
          <p:cNvSpPr>
            <a:spLocks xmlns:a="http://schemas.openxmlformats.org/drawingml/2006/main" noGrp="1"/>
          </p:cNvSpPr>
          <p:nvPr/>
        </p:nvSpPr>
        <p:spPr>
          <a:xfrm xmlns:a="http://schemas.openxmlformats.org/drawingml/2006/main">
            <a:off x="7477125" y="523875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20955">
            <a:solidFill>
              <a:srgbClr val="231F20"/>
            </a:solidFill>
          </a:ln>
        </p:spPr>
      </p:sp>
      <p:sp>
        <p:nvSpPr>
          <p:cNvPr id="40" name="wire-72">
            <a:extLst xmlns:a="http://schemas.openxmlformats.org/drawingml/2006/main">
              <a:ext uri="{FF2B5EF4-FFF2-40B4-BE49-F238E27FC236}">
                <a16:creationId xmlns:a16="http://schemas.microsoft.com/office/drawing/2014/main" id="{792C77D9-2046-4E92-A6FC-9B2964FE74EC}"/>
              </a:ext>
            </a:extLst>
          </p:cNvPr>
          <p:cNvSpPr>
            <a:spLocks xmlns:a="http://schemas.openxmlformats.org/drawingml/2006/main" noGrp="1"/>
          </p:cNvSpPr>
          <p:nvPr/>
        </p:nvSpPr>
        <p:spPr>
          <a:xfrm xmlns:a="http://schemas.openxmlformats.org/drawingml/2006/main">
            <a:off x="7229475" y="3314700"/>
            <a:ext cx="1933575" cy="9525"/>
          </a:xfrm>
          <a:custGeom xmlns:a="http://schemas.openxmlformats.org/drawingml/2006/main">
            <a:pathLst>
              <a:path w="1933575" h="9525">
                <a:moveTo>
                  <a:pt x="0" y="0"/>
                </a:moveTo>
                <a:lnTo>
                  <a:pt x="1933575" y="0"/>
                </a:lnTo>
              </a:path>
            </a:pathLst>
          </a:custGeom>
          <a:noFill xmlns:a="http://schemas.openxmlformats.org/drawingml/2006/main"/>
          <a:ln xmlns:a="http://schemas.openxmlformats.org/drawingml/2006/main" w="20955">
            <a:solidFill>
              <a:srgbClr val="231F20"/>
            </a:solidFill>
          </a:ln>
        </p:spPr>
      </p:sp>
      <p:sp>
        <p:nvSpPr>
          <p:cNvPr id="41" name="logic-73">
            <a:extLst xmlns:a="http://schemas.openxmlformats.org/drawingml/2006/main">
              <a:ext uri="{FF2B5EF4-FFF2-40B4-BE49-F238E27FC236}">
                <a16:creationId xmlns:a16="http://schemas.microsoft.com/office/drawing/2014/main" id="{5E38A258-5464-47A1-8106-84074A1B82DF}"/>
              </a:ext>
            </a:extLst>
          </p:cNvPr>
          <p:cNvSpPr>
            <a:spLocks xmlns:a="http://schemas.openxmlformats.org/drawingml/2006/main" noGrp="1"/>
          </p:cNvSpPr>
          <p:nvPr/>
        </p:nvSpPr>
        <p:spPr>
          <a:xfrm xmlns:a="http://schemas.openxmlformats.org/drawingml/2006/main">
            <a:off x="9048750" y="326707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42" name="text-74">
            <a:extLst xmlns:a="http://schemas.openxmlformats.org/drawingml/2006/main">
              <a:ext uri="{FF2B5EF4-FFF2-40B4-BE49-F238E27FC236}">
                <a16:creationId xmlns:a16="http://schemas.microsoft.com/office/drawing/2014/main" id="{14D43B27-7C9F-4988-B64E-BF6A97802B6B}"/>
              </a:ext>
            </a:extLst>
          </p:cNvPr>
          <p:cNvSpPr>
            <a:spLocks xmlns:a="http://schemas.openxmlformats.org/drawingml/2006/main" noGrp="1"/>
          </p:cNvSpPr>
          <p:nvPr/>
        </p:nvSpPr>
        <p:spPr>
          <a:xfrm xmlns:a="http://schemas.openxmlformats.org/drawingml/2006/main">
            <a:off x="7419975" y="2971800"/>
            <a:ext cx="1676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Meiryo"/>
                <a:ea typeface="Meiryo"/>
                <a:cs typeface="Meiryo"/>
              </a:defRPr>
            </a:defPPr>
          </a:lstStyle>
          <a:p xmlns:a="http://schemas.openxmlformats.org/drawingml/2006/main">
            <a:pPr algn="l">
              <a:defRPr sz="1500" b="0">
                <a:solidFill>
                  <a:srgbClr val="231F20"/>
                </a:solidFill>
                <a:latin typeface="Meiryo"/>
                <a:ea typeface="Meiryo"/>
                <a:cs typeface="Meiryo"/>
              </a:defRPr>
            </a:pPr>
            <a:r>
              <a:rPr sz="1500" b="0">
                <a:solidFill>
                  <a:srgbClr val="231F20"/>
                </a:solidFill>
                <a:latin typeface="Meiryo"/>
                <a:ea typeface="Meiryo"/>
                <a:cs typeface="Meiryo"/>
              </a:rPr>
              <a:t>画像の読出し</a:t>
            </a:r>
          </a:p>
        </p:txBody>
      </p:sp>
      <p:sp>
        <p:nvSpPr>
          <p:cNvPr id="43" name="wire-75">
            <a:extLst xmlns:a="http://schemas.openxmlformats.org/drawingml/2006/main">
              <a:ext uri="{FF2B5EF4-FFF2-40B4-BE49-F238E27FC236}">
                <a16:creationId xmlns:a16="http://schemas.microsoft.com/office/drawing/2014/main" id="{F6656DB9-34DB-4136-9471-5F8ECF888E5C}"/>
              </a:ext>
            </a:extLst>
          </p:cNvPr>
          <p:cNvSpPr>
            <a:spLocks xmlns:a="http://schemas.openxmlformats.org/drawingml/2006/main" noGrp="1"/>
          </p:cNvSpPr>
          <p:nvPr/>
        </p:nvSpPr>
        <p:spPr>
          <a:xfrm xmlns:a="http://schemas.openxmlformats.org/drawingml/2006/main">
            <a:off x="10391775" y="3714750"/>
            <a:ext cx="9525" cy="1228725"/>
          </a:xfrm>
          <a:custGeom xmlns:a="http://schemas.openxmlformats.org/drawingml/2006/main">
            <a:pathLst>
              <a:path w="9525" h="1228725">
                <a:moveTo>
                  <a:pt x="0" y="1228725"/>
                </a:moveTo>
                <a:lnTo>
                  <a:pt x="0" y="0"/>
                </a:lnTo>
              </a:path>
            </a:pathLst>
          </a:custGeom>
          <a:noFill xmlns:a="http://schemas.openxmlformats.org/drawingml/2006/main"/>
          <a:ln xmlns:a="http://schemas.openxmlformats.org/drawingml/2006/main" w="20955">
            <a:solidFill>
              <a:srgbClr val="1673C3"/>
            </a:solidFill>
          </a:ln>
        </p:spPr>
      </p:sp>
      <p:sp>
        <p:nvSpPr>
          <p:cNvPr id="44" name="logic-76">
            <a:extLst xmlns:a="http://schemas.openxmlformats.org/drawingml/2006/main">
              <a:ext uri="{FF2B5EF4-FFF2-40B4-BE49-F238E27FC236}">
                <a16:creationId xmlns:a16="http://schemas.microsoft.com/office/drawing/2014/main" id="{3710DE30-9E67-42AA-88D9-D7A3E74DD38E}"/>
              </a:ext>
            </a:extLst>
          </p:cNvPr>
          <p:cNvSpPr>
            <a:spLocks xmlns:a="http://schemas.openxmlformats.org/drawingml/2006/main" noGrp="1"/>
          </p:cNvSpPr>
          <p:nvPr/>
        </p:nvSpPr>
        <p:spPr>
          <a:xfrm xmlns:a="http://schemas.openxmlformats.org/drawingml/2006/main">
            <a:off x="10344150" y="3714750"/>
            <a:ext cx="95250" cy="114300"/>
          </a:xfrm>
          <a:custGeom xmlns:a="http://schemas.openxmlformats.org/drawingml/2006/main">
            <a:pathLst>
              <a:path w="95250" h="114300">
                <a:moveTo>
                  <a:pt x="47625" y="0"/>
                </a:moveTo>
                <a:lnTo>
                  <a:pt x="0" y="114300"/>
                </a:lnTo>
                <a:lnTo>
                  <a:pt x="95250" y="114300"/>
                </a:lnTo>
                <a:close/>
              </a:path>
            </a:pathLst>
          </a:custGeom>
          <a:solidFill xmlns:a="http://schemas.openxmlformats.org/drawingml/2006/main">
            <a:srgbClr val="1673C3"/>
          </a:solidFill>
          <a:ln xmlns:a="http://schemas.openxmlformats.org/drawingml/2006/main" w="19050">
            <a:solidFill>
              <a:srgbClr val="1673C3"/>
            </a:solidFill>
          </a:ln>
        </p:spPr>
      </p:sp>
      <p:sp>
        <p:nvSpPr>
          <p:cNvPr id="45" name="text-77">
            <a:extLst xmlns:a="http://schemas.openxmlformats.org/drawingml/2006/main">
              <a:ext uri="{FF2B5EF4-FFF2-40B4-BE49-F238E27FC236}">
                <a16:creationId xmlns:a16="http://schemas.microsoft.com/office/drawing/2014/main" id="{5402DB49-7297-4025-87DE-E8CF043BE518}"/>
              </a:ext>
            </a:extLst>
          </p:cNvPr>
          <p:cNvSpPr>
            <a:spLocks xmlns:a="http://schemas.openxmlformats.org/drawingml/2006/main" noGrp="1"/>
          </p:cNvSpPr>
          <p:nvPr/>
        </p:nvSpPr>
        <p:spPr>
          <a:xfrm xmlns:a="http://schemas.openxmlformats.org/drawingml/2006/main">
            <a:off x="9410700" y="3790950"/>
            <a:ext cx="9334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1673C3"/>
                </a:solidFill>
                <a:latin typeface="Meiryo"/>
                <a:ea typeface="Meiryo"/>
                <a:cs typeface="Meiryo"/>
              </a:defRPr>
            </a:defPPr>
          </a:lstStyle>
          <a:p xmlns:a="http://schemas.openxmlformats.org/drawingml/2006/main">
            <a:pPr algn="ctr">
              <a:defRPr sz="1500" b="0">
                <a:solidFill>
                  <a:srgbClr val="1673C3"/>
                </a:solidFill>
                <a:latin typeface="Meiryo"/>
                <a:ea typeface="Meiryo"/>
                <a:cs typeface="Meiryo"/>
              </a:defRPr>
            </a:pPr>
            <a:r>
              <a:rPr sz="1500" b="0">
                <a:solidFill>
                  <a:srgbClr val="1673C3"/>
                </a:solidFill>
                <a:latin typeface="Meiryo"/>
                <a:ea typeface="Meiryo"/>
                <a:cs typeface="Meiryo"/>
              </a:rPr>
              <a:t>表示先の</a:t>
            </a:r>
          </a:p>
          <a:p xmlns:a="http://schemas.openxmlformats.org/drawingml/2006/main">
            <a:pPr algn="ctr">
              <a:defRPr sz="1500" b="0">
                <a:solidFill>
                  <a:srgbClr val="1673C3"/>
                </a:solidFill>
                <a:latin typeface="Meiryo"/>
                <a:ea typeface="Meiryo"/>
                <a:cs typeface="Meiryo"/>
              </a:defRPr>
            </a:pPr>
            <a:r>
              <a:rPr sz="1500" b="0">
                <a:solidFill>
                  <a:srgbClr val="1673C3"/>
                </a:solidFill>
                <a:latin typeface="Meiryo"/>
                <a:ea typeface="Meiryo"/>
                <a:cs typeface="Meiryo"/>
              </a:rPr>
              <a:t>指定</a:t>
            </a:r>
          </a:p>
        </p:txBody>
      </p:sp>
      <p:sp>
        <p:nvSpPr>
          <p:cNvPr id="46" name="text-78">
            <a:extLst xmlns:a="http://schemas.openxmlformats.org/drawingml/2006/main">
              <a:ext uri="{FF2B5EF4-FFF2-40B4-BE49-F238E27FC236}">
                <a16:creationId xmlns:a16="http://schemas.microsoft.com/office/drawing/2014/main" id="{FD624AFE-44C5-482F-BC5B-07AD594830E1}"/>
              </a:ext>
            </a:extLst>
          </p:cNvPr>
          <p:cNvSpPr>
            <a:spLocks xmlns:a="http://schemas.openxmlformats.org/drawingml/2006/main" noGrp="1"/>
          </p:cNvSpPr>
          <p:nvPr/>
        </p:nvSpPr>
        <p:spPr>
          <a:xfrm xmlns:a="http://schemas.openxmlformats.org/drawingml/2006/main">
            <a:off x="4095750" y="6315075"/>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Meiryo"/>
                <a:ea typeface="Meiryo"/>
                <a:cs typeface="Meiryo"/>
              </a:defRPr>
            </a:defPPr>
          </a:lstStyle>
          <a:p xmlns:a="http://schemas.openxmlformats.org/drawingml/2006/main">
            <a:pPr algn="ctr">
              <a:defRPr sz="1725" b="0">
                <a:solidFill>
                  <a:srgbClr val="231F20"/>
                </a:solidFill>
                <a:latin typeface="Meiryo"/>
                <a:ea typeface="Meiryo"/>
                <a:cs typeface="Meiryo"/>
              </a:defRPr>
            </a:pPr>
            <a:r>
              <a:rPr sz="1725" b="0">
                <a:solidFill>
                  <a:srgbClr val="231F20"/>
                </a:solidFill>
                <a:latin typeface="Meiryo"/>
                <a:ea typeface="Meiryo"/>
                <a:cs typeface="Meiryo"/>
              </a:rPr>
              <a:t>CPUと描画側がDDR3を共有する</a:t>
            </a:r>
          </a:p>
        </p:txBody>
      </p:sp>
    </p:spTree>
    <p:extLst>
      <p:ext uri="{BB962C8B-B14F-4D97-AF65-F5344CB8AC3E}">
        <p14:creationId xmlns:p14="http://schemas.microsoft.com/office/powerpoint/2010/main" val="17286991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text-79">
            <a:extLst xmlns:a="http://schemas.openxmlformats.org/drawingml/2006/main">
              <a:ext uri="{FF2B5EF4-FFF2-40B4-BE49-F238E27FC236}">
                <a16:creationId xmlns:a16="http://schemas.microsoft.com/office/drawing/2014/main" id="{8D2F374B-8E5F-4C50-A0A7-FC99BF86A66B}"/>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ゲームの状態を画像に変える</a:t>
            </a:r>
          </a:p>
        </p:txBody>
      </p:sp>
      <p:sp>
        <p:nvSpPr>
          <p:cNvPr id="2" name="text-80">
            <a:extLst xmlns:a="http://schemas.openxmlformats.org/drawingml/2006/main">
              <a:ext uri="{FF2B5EF4-FFF2-40B4-BE49-F238E27FC236}">
                <a16:creationId xmlns:a16="http://schemas.microsoft.com/office/drawing/2014/main" id="{CF71AE6A-379C-47E5-BE40-7FDFDDA7B2B3}"/>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4</a:t>
            </a:r>
          </a:p>
        </p:txBody>
      </p:sp>
      <p:sp>
        <p:nvSpPr>
          <p:cNvPr id="3" name="circuit-81">
            <a:extLst xmlns:a="http://schemas.openxmlformats.org/drawingml/2006/main">
              <a:ext uri="{FF2B5EF4-FFF2-40B4-BE49-F238E27FC236}">
                <a16:creationId xmlns:a16="http://schemas.microsoft.com/office/drawing/2014/main" id="{3999FFAA-9B5C-41CC-90E5-EA4CEA415C49}"/>
              </a:ext>
            </a:extLst>
          </p:cNvPr>
          <p:cNvSpPr>
            <a:spLocks xmlns:a="http://schemas.openxmlformats.org/drawingml/2006/main" noGrp="1"/>
          </p:cNvSpPr>
          <p:nvPr/>
        </p:nvSpPr>
        <p:spPr>
          <a:xfrm xmlns:a="http://schemas.openxmlformats.org/drawingml/2006/main">
            <a:off x="609600" y="1847850"/>
            <a:ext cx="2343150" cy="666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4" name="text-82">
            <a:extLst xmlns:a="http://schemas.openxmlformats.org/drawingml/2006/main">
              <a:ext uri="{FF2B5EF4-FFF2-40B4-BE49-F238E27FC236}">
                <a16:creationId xmlns:a16="http://schemas.microsoft.com/office/drawing/2014/main" id="{3EBAF4C9-73CA-492B-A9F1-908F44D0977D}"/>
              </a:ext>
            </a:extLst>
          </p:cNvPr>
          <p:cNvSpPr>
            <a:spLocks xmlns:a="http://schemas.openxmlformats.org/drawingml/2006/main" noGrp="1"/>
          </p:cNvSpPr>
          <p:nvPr/>
        </p:nvSpPr>
        <p:spPr>
          <a:xfrm xmlns:a="http://schemas.openxmlformats.org/drawingml/2006/main">
            <a:off x="723900" y="190500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CPUで位置を更新</a:t>
            </a:r>
          </a:p>
        </p:txBody>
      </p:sp>
      <p:sp>
        <p:nvSpPr>
          <p:cNvPr id="5" name="circuit-83">
            <a:extLst xmlns:a="http://schemas.openxmlformats.org/drawingml/2006/main">
              <a:ext uri="{FF2B5EF4-FFF2-40B4-BE49-F238E27FC236}">
                <a16:creationId xmlns:a16="http://schemas.microsoft.com/office/drawing/2014/main" id="{85154BFF-2126-4E68-827C-D612826A0367}"/>
              </a:ext>
            </a:extLst>
          </p:cNvPr>
          <p:cNvSpPr>
            <a:spLocks xmlns:a="http://schemas.openxmlformats.org/drawingml/2006/main" noGrp="1"/>
          </p:cNvSpPr>
          <p:nvPr/>
        </p:nvSpPr>
        <p:spPr>
          <a:xfrm xmlns:a="http://schemas.openxmlformats.org/drawingml/2006/main">
            <a:off x="3514725" y="1847850"/>
            <a:ext cx="2343150" cy="666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6" name="text-84">
            <a:extLst xmlns:a="http://schemas.openxmlformats.org/drawingml/2006/main">
              <a:ext uri="{FF2B5EF4-FFF2-40B4-BE49-F238E27FC236}">
                <a16:creationId xmlns:a16="http://schemas.microsoft.com/office/drawing/2014/main" id="{2D648D1B-3AD2-41DA-ACFB-264206F97F5C}"/>
              </a:ext>
            </a:extLst>
          </p:cNvPr>
          <p:cNvSpPr>
            <a:spLocks xmlns:a="http://schemas.openxmlformats.org/drawingml/2006/main" noGrp="1"/>
          </p:cNvSpPr>
          <p:nvPr/>
        </p:nvSpPr>
        <p:spPr>
          <a:xfrm xmlns:a="http://schemas.openxmlformats.org/drawingml/2006/main">
            <a:off x="3629025" y="190500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描画命令を用意</a:t>
            </a:r>
          </a:p>
        </p:txBody>
      </p:sp>
      <p:sp>
        <p:nvSpPr>
          <p:cNvPr id="7" name="circuit-85">
            <a:extLst xmlns:a="http://schemas.openxmlformats.org/drawingml/2006/main">
              <a:ext uri="{FF2B5EF4-FFF2-40B4-BE49-F238E27FC236}">
                <a16:creationId xmlns:a16="http://schemas.microsoft.com/office/drawing/2014/main" id="{8E7D37F9-85C4-431B-A2B5-17AC53E0BB44}"/>
              </a:ext>
            </a:extLst>
          </p:cNvPr>
          <p:cNvSpPr>
            <a:spLocks xmlns:a="http://schemas.openxmlformats.org/drawingml/2006/main" noGrp="1"/>
          </p:cNvSpPr>
          <p:nvPr/>
        </p:nvSpPr>
        <p:spPr>
          <a:xfrm xmlns:a="http://schemas.openxmlformats.org/drawingml/2006/main">
            <a:off x="6419850" y="1847850"/>
            <a:ext cx="2343150" cy="666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8" name="text-86">
            <a:extLst xmlns:a="http://schemas.openxmlformats.org/drawingml/2006/main">
              <a:ext uri="{FF2B5EF4-FFF2-40B4-BE49-F238E27FC236}">
                <a16:creationId xmlns:a16="http://schemas.microsoft.com/office/drawing/2014/main" id="{310B3AC9-8005-48B5-B625-E1BA4633F9AE}"/>
              </a:ext>
            </a:extLst>
          </p:cNvPr>
          <p:cNvSpPr>
            <a:spLocks xmlns:a="http://schemas.openxmlformats.org/drawingml/2006/main" noGrp="1"/>
          </p:cNvSpPr>
          <p:nvPr/>
        </p:nvSpPr>
        <p:spPr>
          <a:xfrm xmlns:a="http://schemas.openxmlformats.org/drawingml/2006/main">
            <a:off x="6534150" y="190500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RasterIXで描画</a:t>
            </a:r>
          </a:p>
        </p:txBody>
      </p:sp>
      <p:sp>
        <p:nvSpPr>
          <p:cNvPr id="9" name="circuit-87">
            <a:extLst xmlns:a="http://schemas.openxmlformats.org/drawingml/2006/main">
              <a:ext uri="{FF2B5EF4-FFF2-40B4-BE49-F238E27FC236}">
                <a16:creationId xmlns:a16="http://schemas.microsoft.com/office/drawing/2014/main" id="{02BDA81B-27C2-42F9-AFAF-E989DBF0E513}"/>
              </a:ext>
            </a:extLst>
          </p:cNvPr>
          <p:cNvSpPr>
            <a:spLocks xmlns:a="http://schemas.openxmlformats.org/drawingml/2006/main" noGrp="1"/>
          </p:cNvSpPr>
          <p:nvPr/>
        </p:nvSpPr>
        <p:spPr>
          <a:xfrm xmlns:a="http://schemas.openxmlformats.org/drawingml/2006/main">
            <a:off x="9324975" y="1847850"/>
            <a:ext cx="2257425" cy="666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10" name="text-88">
            <a:extLst xmlns:a="http://schemas.openxmlformats.org/drawingml/2006/main">
              <a:ext uri="{FF2B5EF4-FFF2-40B4-BE49-F238E27FC236}">
                <a16:creationId xmlns:a16="http://schemas.microsoft.com/office/drawing/2014/main" id="{4F6ADF2D-FC97-4484-84B6-0074905FDCEC}"/>
              </a:ext>
            </a:extLst>
          </p:cNvPr>
          <p:cNvSpPr>
            <a:spLocks xmlns:a="http://schemas.openxmlformats.org/drawingml/2006/main" noGrp="1"/>
          </p:cNvSpPr>
          <p:nvPr/>
        </p:nvSpPr>
        <p:spPr>
          <a:xfrm xmlns:a="http://schemas.openxmlformats.org/drawingml/2006/main">
            <a:off x="9439275" y="1905000"/>
            <a:ext cx="2028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画面へ表示</a:t>
            </a:r>
          </a:p>
        </p:txBody>
      </p:sp>
      <p:sp>
        <p:nvSpPr>
          <p:cNvPr id="11" name="wire-89">
            <a:extLst xmlns:a="http://schemas.openxmlformats.org/drawingml/2006/main">
              <a:ext uri="{FF2B5EF4-FFF2-40B4-BE49-F238E27FC236}">
                <a16:creationId xmlns:a16="http://schemas.microsoft.com/office/drawing/2014/main" id="{0BA7AAB9-903F-414A-9E44-FC1B73B8045C}"/>
              </a:ext>
            </a:extLst>
          </p:cNvPr>
          <p:cNvSpPr>
            <a:spLocks xmlns:a="http://schemas.openxmlformats.org/drawingml/2006/main" noGrp="1"/>
          </p:cNvSpPr>
          <p:nvPr/>
        </p:nvSpPr>
        <p:spPr>
          <a:xfrm xmlns:a="http://schemas.openxmlformats.org/drawingml/2006/main">
            <a:off x="3009900" y="218122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20955">
            <a:solidFill>
              <a:srgbClr val="231F20"/>
            </a:solidFill>
          </a:ln>
        </p:spPr>
      </p:sp>
      <p:sp>
        <p:nvSpPr>
          <p:cNvPr id="12" name="logic-90">
            <a:extLst xmlns:a="http://schemas.openxmlformats.org/drawingml/2006/main">
              <a:ext uri="{FF2B5EF4-FFF2-40B4-BE49-F238E27FC236}">
                <a16:creationId xmlns:a16="http://schemas.microsoft.com/office/drawing/2014/main" id="{52B70F18-1741-4546-A686-424CDFA932BD}"/>
              </a:ext>
            </a:extLst>
          </p:cNvPr>
          <p:cNvSpPr>
            <a:spLocks xmlns:a="http://schemas.openxmlformats.org/drawingml/2006/main" noGrp="1"/>
          </p:cNvSpPr>
          <p:nvPr/>
        </p:nvSpPr>
        <p:spPr>
          <a:xfrm xmlns:a="http://schemas.openxmlformats.org/drawingml/2006/main">
            <a:off x="3324225" y="2133600"/>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3" name="wire-91">
            <a:extLst xmlns:a="http://schemas.openxmlformats.org/drawingml/2006/main">
              <a:ext uri="{FF2B5EF4-FFF2-40B4-BE49-F238E27FC236}">
                <a16:creationId xmlns:a16="http://schemas.microsoft.com/office/drawing/2014/main" id="{2426357E-9D1A-4220-B989-396651277A56}"/>
              </a:ext>
            </a:extLst>
          </p:cNvPr>
          <p:cNvSpPr>
            <a:spLocks xmlns:a="http://schemas.openxmlformats.org/drawingml/2006/main" noGrp="1"/>
          </p:cNvSpPr>
          <p:nvPr/>
        </p:nvSpPr>
        <p:spPr>
          <a:xfrm xmlns:a="http://schemas.openxmlformats.org/drawingml/2006/main">
            <a:off x="5915025" y="218122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20955">
            <a:solidFill>
              <a:srgbClr val="231F20"/>
            </a:solidFill>
          </a:ln>
        </p:spPr>
      </p:sp>
      <p:sp>
        <p:nvSpPr>
          <p:cNvPr id="14" name="logic-92">
            <a:extLst xmlns:a="http://schemas.openxmlformats.org/drawingml/2006/main">
              <a:ext uri="{FF2B5EF4-FFF2-40B4-BE49-F238E27FC236}">
                <a16:creationId xmlns:a16="http://schemas.microsoft.com/office/drawing/2014/main" id="{20E62580-5197-4C03-8F46-377563E6F918}"/>
              </a:ext>
            </a:extLst>
          </p:cNvPr>
          <p:cNvSpPr>
            <a:spLocks xmlns:a="http://schemas.openxmlformats.org/drawingml/2006/main" noGrp="1"/>
          </p:cNvSpPr>
          <p:nvPr/>
        </p:nvSpPr>
        <p:spPr>
          <a:xfrm xmlns:a="http://schemas.openxmlformats.org/drawingml/2006/main">
            <a:off x="6229350" y="2133600"/>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5" name="wire-93">
            <a:extLst xmlns:a="http://schemas.openxmlformats.org/drawingml/2006/main">
              <a:ext uri="{FF2B5EF4-FFF2-40B4-BE49-F238E27FC236}">
                <a16:creationId xmlns:a16="http://schemas.microsoft.com/office/drawing/2014/main" id="{2A801BAE-FBC3-44ED-BF17-B69A6CB22D4A}"/>
              </a:ext>
            </a:extLst>
          </p:cNvPr>
          <p:cNvSpPr>
            <a:spLocks xmlns:a="http://schemas.openxmlformats.org/drawingml/2006/main" noGrp="1"/>
          </p:cNvSpPr>
          <p:nvPr/>
        </p:nvSpPr>
        <p:spPr>
          <a:xfrm xmlns:a="http://schemas.openxmlformats.org/drawingml/2006/main">
            <a:off x="8820150" y="218122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20955">
            <a:solidFill>
              <a:srgbClr val="231F20"/>
            </a:solidFill>
          </a:ln>
        </p:spPr>
      </p:sp>
      <p:sp>
        <p:nvSpPr>
          <p:cNvPr id="16" name="logic-94">
            <a:extLst xmlns:a="http://schemas.openxmlformats.org/drawingml/2006/main">
              <a:ext uri="{FF2B5EF4-FFF2-40B4-BE49-F238E27FC236}">
                <a16:creationId xmlns:a16="http://schemas.microsoft.com/office/drawing/2014/main" id="{D2045AD7-A3DE-4B47-9890-13542C0263E9}"/>
              </a:ext>
            </a:extLst>
          </p:cNvPr>
          <p:cNvSpPr>
            <a:spLocks xmlns:a="http://schemas.openxmlformats.org/drawingml/2006/main" noGrp="1"/>
          </p:cNvSpPr>
          <p:nvPr/>
        </p:nvSpPr>
        <p:spPr>
          <a:xfrm xmlns:a="http://schemas.openxmlformats.org/drawingml/2006/main">
            <a:off x="9134475" y="2133600"/>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7" name="text-95">
            <a:extLst xmlns:a="http://schemas.openxmlformats.org/drawingml/2006/main">
              <a:ext uri="{FF2B5EF4-FFF2-40B4-BE49-F238E27FC236}">
                <a16:creationId xmlns:a16="http://schemas.microsoft.com/office/drawing/2014/main" id="{D2B31596-797F-4721-8314-F3C3008284C7}"/>
              </a:ext>
            </a:extLst>
          </p:cNvPr>
          <p:cNvSpPr>
            <a:spLocks xmlns:a="http://schemas.openxmlformats.org/drawingml/2006/main" noGrp="1"/>
          </p:cNvSpPr>
          <p:nvPr/>
        </p:nvSpPr>
        <p:spPr>
          <a:xfrm xmlns:a="http://schemas.openxmlformats.org/drawingml/2006/main">
            <a:off x="704850" y="3143250"/>
            <a:ext cx="2152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0">
                <a:solidFill>
                  <a:srgbClr val="231F20"/>
                </a:solidFill>
                <a:latin typeface="Meiryo"/>
                <a:ea typeface="Meiryo"/>
                <a:cs typeface="Meiryo"/>
              </a:defRPr>
            </a:defPPr>
          </a:lstStyle>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ボールの位置</a:t>
            </a:r>
          </a:p>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(x, y)</a:t>
            </a:r>
          </a:p>
        </p:txBody>
      </p:sp>
      <p:sp>
        <p:nvSpPr>
          <p:cNvPr id="18" name="text-96">
            <a:extLst xmlns:a="http://schemas.openxmlformats.org/drawingml/2006/main">
              <a:ext uri="{FF2B5EF4-FFF2-40B4-BE49-F238E27FC236}">
                <a16:creationId xmlns:a16="http://schemas.microsoft.com/office/drawing/2014/main" id="{7157200F-7480-4B7D-89C9-3C39F8A601CF}"/>
              </a:ext>
            </a:extLst>
          </p:cNvPr>
          <p:cNvSpPr>
            <a:spLocks xmlns:a="http://schemas.openxmlformats.org/drawingml/2006/main" noGrp="1"/>
          </p:cNvSpPr>
          <p:nvPr/>
        </p:nvSpPr>
        <p:spPr>
          <a:xfrm xmlns:a="http://schemas.openxmlformats.org/drawingml/2006/main">
            <a:off x="3609975" y="3067050"/>
            <a:ext cx="21526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0">
                <a:solidFill>
                  <a:srgbClr val="231F20"/>
                </a:solidFill>
                <a:latin typeface="Meiryo"/>
                <a:ea typeface="Meiryo"/>
                <a:cs typeface="Meiryo"/>
              </a:defRPr>
            </a:defPPr>
          </a:lstStyle>
          <a:p xmlns:a="http://schemas.openxmlformats.org/drawingml/2006/main">
            <a:pPr algn="ctr">
              <a:defRPr sz="1875" b="0">
                <a:solidFill>
                  <a:srgbClr val="231F20"/>
                </a:solidFill>
                <a:latin typeface="Meiryo"/>
                <a:ea typeface="Meiryo"/>
                <a:cs typeface="Meiryo"/>
              </a:defRPr>
            </a:pPr>
            <a:r>
              <a:rPr sz="1875" b="0">
                <a:solidFill>
                  <a:srgbClr val="231F20"/>
                </a:solidFill>
                <a:latin typeface="Meiryo"/>
                <a:ea typeface="Meiryo"/>
                <a:cs typeface="Meiryo"/>
              </a:rPr>
              <a:t>位置・大きさ・色を</a:t>
            </a:r>
          </a:p>
          <a:p xmlns:a="http://schemas.openxmlformats.org/drawingml/2006/main">
            <a:pPr algn="ctr">
              <a:defRPr sz="1875" b="0">
                <a:solidFill>
                  <a:srgbClr val="231F20"/>
                </a:solidFill>
                <a:latin typeface="Meiryo"/>
                <a:ea typeface="Meiryo"/>
                <a:cs typeface="Meiryo"/>
              </a:defRPr>
            </a:pPr>
            <a:r>
              <a:rPr sz="1875" b="0">
                <a:solidFill>
                  <a:srgbClr val="231F20"/>
                </a:solidFill>
                <a:latin typeface="Meiryo"/>
                <a:ea typeface="Meiryo"/>
                <a:cs typeface="Meiryo"/>
              </a:rPr>
              <a:t>数値列にして</a:t>
            </a:r>
          </a:p>
          <a:p xmlns:a="http://schemas.openxmlformats.org/drawingml/2006/main">
            <a:pPr algn="ctr">
              <a:defRPr sz="1875" b="0">
                <a:solidFill>
                  <a:srgbClr val="231F20"/>
                </a:solidFill>
                <a:latin typeface="Meiryo"/>
                <a:ea typeface="Meiryo"/>
                <a:cs typeface="Meiryo"/>
              </a:defRPr>
            </a:pPr>
            <a:r>
              <a:rPr sz="1875" b="0">
                <a:solidFill>
                  <a:srgbClr val="231F20"/>
                </a:solidFill>
                <a:latin typeface="Meiryo"/>
                <a:ea typeface="Meiryo"/>
                <a:cs typeface="Meiryo"/>
              </a:rPr>
              <a:t>メモリに保存</a:t>
            </a:r>
          </a:p>
        </p:txBody>
      </p:sp>
      <p:sp>
        <p:nvSpPr>
          <p:cNvPr id="19" name="text-97">
            <a:extLst xmlns:a="http://schemas.openxmlformats.org/drawingml/2006/main">
              <a:ext uri="{FF2B5EF4-FFF2-40B4-BE49-F238E27FC236}">
                <a16:creationId xmlns:a16="http://schemas.microsoft.com/office/drawing/2014/main" id="{8B42789A-AB31-4167-AB88-C7E8F7E2B596}"/>
              </a:ext>
            </a:extLst>
          </p:cNvPr>
          <p:cNvSpPr>
            <a:spLocks xmlns:a="http://schemas.openxmlformats.org/drawingml/2006/main" noGrp="1"/>
          </p:cNvSpPr>
          <p:nvPr/>
        </p:nvSpPr>
        <p:spPr>
          <a:xfrm xmlns:a="http://schemas.openxmlformats.org/drawingml/2006/main">
            <a:off x="6515100" y="3143250"/>
            <a:ext cx="2152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画素の色を</a:t>
            </a:r>
          </a:p>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メモリへ保存</a:t>
            </a:r>
          </a:p>
        </p:txBody>
      </p:sp>
      <p:sp>
        <p:nvSpPr>
          <p:cNvPr id="20" name="circuit-98">
            <a:extLst xmlns:a="http://schemas.openxmlformats.org/drawingml/2006/main">
              <a:ext uri="{FF2B5EF4-FFF2-40B4-BE49-F238E27FC236}">
                <a16:creationId xmlns:a16="http://schemas.microsoft.com/office/drawing/2014/main" id="{6C654746-AC76-430A-B981-B73DB9F25CF6}"/>
              </a:ext>
            </a:extLst>
          </p:cNvPr>
          <p:cNvSpPr>
            <a:spLocks xmlns:a="http://schemas.openxmlformats.org/drawingml/2006/main" noGrp="1"/>
          </p:cNvSpPr>
          <p:nvPr/>
        </p:nvSpPr>
        <p:spPr>
          <a:xfrm xmlns:a="http://schemas.openxmlformats.org/drawingml/2006/main">
            <a:off x="9553575" y="3105150"/>
            <a:ext cx="1704975" cy="12382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21" name="circuit-99">
            <a:extLst xmlns:a="http://schemas.openxmlformats.org/drawingml/2006/main">
              <a:ext uri="{FF2B5EF4-FFF2-40B4-BE49-F238E27FC236}">
                <a16:creationId xmlns:a16="http://schemas.microsoft.com/office/drawing/2014/main" id="{815A3381-8171-4D6E-A567-1F4242F6A6BC}"/>
              </a:ext>
            </a:extLst>
          </p:cNvPr>
          <p:cNvSpPr>
            <a:spLocks xmlns:a="http://schemas.openxmlformats.org/drawingml/2006/main" noGrp="1"/>
          </p:cNvSpPr>
          <p:nvPr/>
        </p:nvSpPr>
        <p:spPr>
          <a:xfrm xmlns:a="http://schemas.openxmlformats.org/drawingml/2006/main">
            <a:off x="10106025" y="3562350"/>
            <a:ext cx="333375" cy="333375"/>
          </a:xfrm>
          <a:prstGeom xmlns:a="http://schemas.openxmlformats.org/drawingml/2006/main" prst="rect">
            <a:avLst/>
          </a:prstGeom>
          <a:solidFill xmlns:a="http://schemas.openxmlformats.org/drawingml/2006/main">
            <a:srgbClr val="1673C3"/>
          </a:solidFill>
          <a:ln xmlns:a="http://schemas.openxmlformats.org/drawingml/2006/main" w="19050">
            <a:solidFill>
              <a:srgbClr val="231F20"/>
            </a:solidFill>
          </a:ln>
        </p:spPr>
      </p:sp>
      <p:sp>
        <p:nvSpPr>
          <p:cNvPr id="22" name="wire-100">
            <a:extLst xmlns:a="http://schemas.openxmlformats.org/drawingml/2006/main">
              <a:ext uri="{FF2B5EF4-FFF2-40B4-BE49-F238E27FC236}">
                <a16:creationId xmlns:a16="http://schemas.microsoft.com/office/drawing/2014/main" id="{46931CDE-23AE-492B-900A-A83583AD1F1D}"/>
              </a:ext>
            </a:extLst>
          </p:cNvPr>
          <p:cNvSpPr>
            <a:spLocks xmlns:a="http://schemas.openxmlformats.org/drawingml/2006/main" noGrp="1"/>
          </p:cNvSpPr>
          <p:nvPr/>
        </p:nvSpPr>
        <p:spPr>
          <a:xfrm xmlns:a="http://schemas.openxmlformats.org/drawingml/2006/main">
            <a:off x="10410825" y="4343400"/>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20955">
            <a:solidFill>
              <a:srgbClr val="231F20"/>
            </a:solidFill>
          </a:ln>
        </p:spPr>
      </p:sp>
      <p:sp>
        <p:nvSpPr>
          <p:cNvPr id="23" name="wire-101">
            <a:extLst xmlns:a="http://schemas.openxmlformats.org/drawingml/2006/main">
              <a:ext uri="{FF2B5EF4-FFF2-40B4-BE49-F238E27FC236}">
                <a16:creationId xmlns:a16="http://schemas.microsoft.com/office/drawing/2014/main" id="{3670CE56-33A7-4CF6-9097-20C4A31F2776}"/>
              </a:ext>
            </a:extLst>
          </p:cNvPr>
          <p:cNvSpPr>
            <a:spLocks xmlns:a="http://schemas.openxmlformats.org/drawingml/2006/main" noGrp="1"/>
          </p:cNvSpPr>
          <p:nvPr/>
        </p:nvSpPr>
        <p:spPr>
          <a:xfrm xmlns:a="http://schemas.openxmlformats.org/drawingml/2006/main">
            <a:off x="10172700" y="4562475"/>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20955">
            <a:solidFill>
              <a:srgbClr val="231F20"/>
            </a:solidFill>
          </a:ln>
        </p:spPr>
      </p:sp>
      <p:sp>
        <p:nvSpPr>
          <p:cNvPr id="24" name="text-102">
            <a:extLst xmlns:a="http://schemas.openxmlformats.org/drawingml/2006/main">
              <a:ext uri="{FF2B5EF4-FFF2-40B4-BE49-F238E27FC236}">
                <a16:creationId xmlns:a16="http://schemas.microsoft.com/office/drawing/2014/main" id="{B8B6D1BC-AEA6-43AB-BFDD-F8A64B3036F3}"/>
              </a:ext>
            </a:extLst>
          </p:cNvPr>
          <p:cNvSpPr>
            <a:spLocks xmlns:a="http://schemas.openxmlformats.org/drawingml/2006/main" noGrp="1"/>
          </p:cNvSpPr>
          <p:nvPr/>
        </p:nvSpPr>
        <p:spPr>
          <a:xfrm xmlns:a="http://schemas.openxmlformats.org/drawingml/2006/main">
            <a:off x="3000375" y="4857750"/>
            <a:ext cx="657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400" b="1">
                <a:solidFill>
                  <a:srgbClr val="231F20"/>
                </a:solidFill>
                <a:latin typeface="Meiryo"/>
                <a:ea typeface="Meiryo"/>
                <a:cs typeface="Meiryo"/>
              </a:defRPr>
            </a:defPPr>
          </a:lstStyle>
          <a:p xmlns:a="http://schemas.openxmlformats.org/drawingml/2006/main">
            <a:pPr algn="ctr">
              <a:defRPr sz="2400" b="1">
                <a:solidFill>
                  <a:srgbClr val="231F20"/>
                </a:solidFill>
                <a:latin typeface="Meiryo"/>
                <a:ea typeface="Meiryo"/>
                <a:cs typeface="Meiryo"/>
              </a:defRPr>
            </a:pPr>
            <a:r>
              <a:rPr sz="2400" b="1">
                <a:solidFill>
                  <a:srgbClr val="231F20"/>
                </a:solidFill>
                <a:latin typeface="Meiryo"/>
                <a:ea typeface="Meiryo"/>
                <a:cs typeface="Meiryo"/>
              </a:rPr>
              <a:t>一画面分の処理を繰り返す</a:t>
            </a:r>
          </a:p>
        </p:txBody>
      </p:sp>
      <p:sp>
        <p:nvSpPr>
          <p:cNvPr id="25" name="text-103">
            <a:extLst xmlns:a="http://schemas.openxmlformats.org/drawingml/2006/main">
              <a:ext uri="{FF2B5EF4-FFF2-40B4-BE49-F238E27FC236}">
                <a16:creationId xmlns:a16="http://schemas.microsoft.com/office/drawing/2014/main" id="{9272B35B-3283-4330-BDB2-D40207EBF3FC}"/>
              </a:ext>
            </a:extLst>
          </p:cNvPr>
          <p:cNvSpPr>
            <a:spLocks xmlns:a="http://schemas.openxmlformats.org/drawingml/2006/main" noGrp="1"/>
          </p:cNvSpPr>
          <p:nvPr/>
        </p:nvSpPr>
        <p:spPr>
          <a:xfrm xmlns:a="http://schemas.openxmlformats.org/drawingml/2006/main">
            <a:off x="762000" y="56197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Meiryo"/>
                <a:ea typeface="Meiryo"/>
                <a:cs typeface="Meiryo"/>
              </a:defRPr>
            </a:defPPr>
          </a:lstStyle>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CPUは位置を計算し、描画回路は画素の色を作る</a:t>
            </a:r>
          </a:p>
        </p:txBody>
      </p:sp>
    </p:spTree>
    <p:extLst>
      <p:ext uri="{BB962C8B-B14F-4D97-AF65-F5344CB8AC3E}">
        <p14:creationId xmlns:p14="http://schemas.microsoft.com/office/powerpoint/2010/main" val="153246431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text-104">
            <a:extLst xmlns:a="http://schemas.openxmlformats.org/drawingml/2006/main">
              <a:ext uri="{FF2B5EF4-FFF2-40B4-BE49-F238E27FC236}">
                <a16:creationId xmlns:a16="http://schemas.microsoft.com/office/drawing/2014/main" id="{7C7AC933-8077-4F52-8FC6-6D7CA23402BD}"/>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命令を預けて、CPUの待ちを減らす</a:t>
            </a:r>
          </a:p>
        </p:txBody>
      </p:sp>
      <p:sp>
        <p:nvSpPr>
          <p:cNvPr id="2" name="text-105">
            <a:extLst xmlns:a="http://schemas.openxmlformats.org/drawingml/2006/main">
              <a:ext uri="{FF2B5EF4-FFF2-40B4-BE49-F238E27FC236}">
                <a16:creationId xmlns:a16="http://schemas.microsoft.com/office/drawing/2014/main" id="{C36C4831-DFA2-4ACB-A770-F834D0215FB8}"/>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5</a:t>
            </a:r>
          </a:p>
        </p:txBody>
      </p:sp>
      <p:sp>
        <p:nvSpPr>
          <p:cNvPr id="3" name="circuit-106">
            <a:extLst xmlns:a="http://schemas.openxmlformats.org/drawingml/2006/main">
              <a:ext uri="{FF2B5EF4-FFF2-40B4-BE49-F238E27FC236}">
                <a16:creationId xmlns:a16="http://schemas.microsoft.com/office/drawing/2014/main" id="{C5964ADD-C748-4ECD-A6E3-CF9E99D3B015}"/>
              </a:ext>
            </a:extLst>
          </p:cNvPr>
          <p:cNvSpPr>
            <a:spLocks xmlns:a="http://schemas.openxmlformats.org/drawingml/2006/main" noGrp="1"/>
          </p:cNvSpPr>
          <p:nvPr/>
        </p:nvSpPr>
        <p:spPr>
          <a:xfrm xmlns:a="http://schemas.openxmlformats.org/drawingml/2006/main">
            <a:off x="819150" y="1695450"/>
            <a:ext cx="2381250" cy="10477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4" name="text-107">
            <a:extLst xmlns:a="http://schemas.openxmlformats.org/drawingml/2006/main">
              <a:ext uri="{FF2B5EF4-FFF2-40B4-BE49-F238E27FC236}">
                <a16:creationId xmlns:a16="http://schemas.microsoft.com/office/drawing/2014/main" id="{C096A6AE-D6ED-4DFA-87EA-A5460246B5D6}"/>
              </a:ext>
            </a:extLst>
          </p:cNvPr>
          <p:cNvSpPr>
            <a:spLocks xmlns:a="http://schemas.openxmlformats.org/drawingml/2006/main" noGrp="1"/>
          </p:cNvSpPr>
          <p:nvPr/>
        </p:nvSpPr>
        <p:spPr>
          <a:xfrm xmlns:a="http://schemas.openxmlformats.org/drawingml/2006/main">
            <a:off x="933450" y="1752600"/>
            <a:ext cx="21526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0">
                <a:solidFill>
                  <a:srgbClr val="231F20"/>
                </a:solidFill>
                <a:latin typeface="Meiryo"/>
                <a:ea typeface="Meiryo"/>
                <a:cs typeface="Meiryo"/>
              </a:defRPr>
            </a:defPPr>
          </a:lstStyle>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Wally</a:t>
            </a:r>
          </a:p>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20 MHz</a:t>
            </a:r>
          </a:p>
        </p:txBody>
      </p:sp>
      <p:sp>
        <p:nvSpPr>
          <p:cNvPr id="5" name="circuit-108">
            <a:extLst xmlns:a="http://schemas.openxmlformats.org/drawingml/2006/main">
              <a:ext uri="{FF2B5EF4-FFF2-40B4-BE49-F238E27FC236}">
                <a16:creationId xmlns:a16="http://schemas.microsoft.com/office/drawing/2014/main" id="{7DE53A9A-1E98-407F-991E-0012D5DE06B6}"/>
              </a:ext>
            </a:extLst>
          </p:cNvPr>
          <p:cNvSpPr>
            <a:spLocks xmlns:a="http://schemas.openxmlformats.org/drawingml/2006/main" noGrp="1"/>
          </p:cNvSpPr>
          <p:nvPr/>
        </p:nvSpPr>
        <p:spPr>
          <a:xfrm xmlns:a="http://schemas.openxmlformats.org/drawingml/2006/main">
            <a:off x="4295775" y="1695450"/>
            <a:ext cx="3524250" cy="1047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6" name="text-109">
            <a:extLst xmlns:a="http://schemas.openxmlformats.org/drawingml/2006/main">
              <a:ext uri="{FF2B5EF4-FFF2-40B4-BE49-F238E27FC236}">
                <a16:creationId xmlns:a16="http://schemas.microsoft.com/office/drawing/2014/main" id="{A1A4F632-FE78-43A3-BE4F-0A3C0DD6F228}"/>
              </a:ext>
            </a:extLst>
          </p:cNvPr>
          <p:cNvSpPr>
            <a:spLocks xmlns:a="http://schemas.openxmlformats.org/drawingml/2006/main" noGrp="1"/>
          </p:cNvSpPr>
          <p:nvPr/>
        </p:nvSpPr>
        <p:spPr>
          <a:xfrm xmlns:a="http://schemas.openxmlformats.org/drawingml/2006/main">
            <a:off x="4410075" y="1752600"/>
            <a:ext cx="32956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FIFO</a:t>
            </a:r>
          </a:p>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命令を順番に保存</a:t>
            </a:r>
          </a:p>
        </p:txBody>
      </p:sp>
      <p:sp>
        <p:nvSpPr>
          <p:cNvPr id="7" name="circuit-110">
            <a:extLst xmlns:a="http://schemas.openxmlformats.org/drawingml/2006/main">
              <a:ext uri="{FF2B5EF4-FFF2-40B4-BE49-F238E27FC236}">
                <a16:creationId xmlns:a16="http://schemas.microsoft.com/office/drawing/2014/main" id="{94AEB361-546D-4302-9DA0-6B4AF9B36CC1}"/>
              </a:ext>
            </a:extLst>
          </p:cNvPr>
          <p:cNvSpPr>
            <a:spLocks xmlns:a="http://schemas.openxmlformats.org/drawingml/2006/main" noGrp="1"/>
          </p:cNvSpPr>
          <p:nvPr/>
        </p:nvSpPr>
        <p:spPr>
          <a:xfrm xmlns:a="http://schemas.openxmlformats.org/drawingml/2006/main">
            <a:off x="8915400" y="1695450"/>
            <a:ext cx="2381250" cy="10477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8" name="text-111">
            <a:extLst xmlns:a="http://schemas.openxmlformats.org/drawingml/2006/main">
              <a:ext uri="{FF2B5EF4-FFF2-40B4-BE49-F238E27FC236}">
                <a16:creationId xmlns:a16="http://schemas.microsoft.com/office/drawing/2014/main" id="{F393BB94-ED17-4AA3-A1C6-8FF1B0DC2720}"/>
              </a:ext>
            </a:extLst>
          </p:cNvPr>
          <p:cNvSpPr>
            <a:spLocks xmlns:a="http://schemas.openxmlformats.org/drawingml/2006/main" noGrp="1"/>
          </p:cNvSpPr>
          <p:nvPr/>
        </p:nvSpPr>
        <p:spPr>
          <a:xfrm xmlns:a="http://schemas.openxmlformats.org/drawingml/2006/main">
            <a:off x="9029700" y="1752600"/>
            <a:ext cx="21526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0">
                <a:solidFill>
                  <a:srgbClr val="231F20"/>
                </a:solidFill>
                <a:latin typeface="Meiryo"/>
                <a:ea typeface="Meiryo"/>
                <a:cs typeface="Meiryo"/>
              </a:defRPr>
            </a:defPPr>
          </a:lstStyle>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RasterIX</a:t>
            </a:r>
          </a:p>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100 MHz</a:t>
            </a:r>
          </a:p>
        </p:txBody>
      </p:sp>
      <p:sp>
        <p:nvSpPr>
          <p:cNvPr id="9" name="wire-112">
            <a:extLst xmlns:a="http://schemas.openxmlformats.org/drawingml/2006/main">
              <a:ext uri="{FF2B5EF4-FFF2-40B4-BE49-F238E27FC236}">
                <a16:creationId xmlns:a16="http://schemas.microsoft.com/office/drawing/2014/main" id="{C631FDF4-0916-45DC-837F-9A1494AB346B}"/>
              </a:ext>
            </a:extLst>
          </p:cNvPr>
          <p:cNvSpPr>
            <a:spLocks xmlns:a="http://schemas.openxmlformats.org/drawingml/2006/main" noGrp="1"/>
          </p:cNvSpPr>
          <p:nvPr/>
        </p:nvSpPr>
        <p:spPr>
          <a:xfrm xmlns:a="http://schemas.openxmlformats.org/drawingml/2006/main">
            <a:off x="3200400" y="2209800"/>
            <a:ext cx="1095375" cy="9525"/>
          </a:xfrm>
          <a:custGeom xmlns:a="http://schemas.openxmlformats.org/drawingml/2006/main">
            <a:pathLst>
              <a:path w="1095375" h="9525">
                <a:moveTo>
                  <a:pt x="0" y="0"/>
                </a:moveTo>
                <a:lnTo>
                  <a:pt x="1095375" y="0"/>
                </a:lnTo>
              </a:path>
            </a:pathLst>
          </a:custGeom>
          <a:noFill xmlns:a="http://schemas.openxmlformats.org/drawingml/2006/main"/>
          <a:ln xmlns:a="http://schemas.openxmlformats.org/drawingml/2006/main" w="20955">
            <a:solidFill>
              <a:srgbClr val="231F20"/>
            </a:solidFill>
          </a:ln>
        </p:spPr>
      </p:sp>
      <p:sp>
        <p:nvSpPr>
          <p:cNvPr id="10" name="logic-113">
            <a:extLst xmlns:a="http://schemas.openxmlformats.org/drawingml/2006/main">
              <a:ext uri="{FF2B5EF4-FFF2-40B4-BE49-F238E27FC236}">
                <a16:creationId xmlns:a16="http://schemas.microsoft.com/office/drawing/2014/main" id="{4BA4D2E7-5322-4E04-8F5D-97202718E621}"/>
              </a:ext>
            </a:extLst>
          </p:cNvPr>
          <p:cNvSpPr>
            <a:spLocks xmlns:a="http://schemas.openxmlformats.org/drawingml/2006/main" noGrp="1"/>
          </p:cNvSpPr>
          <p:nvPr/>
        </p:nvSpPr>
        <p:spPr>
          <a:xfrm xmlns:a="http://schemas.openxmlformats.org/drawingml/2006/main">
            <a:off x="4181475" y="216217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1" name="wire-114">
            <a:extLst xmlns:a="http://schemas.openxmlformats.org/drawingml/2006/main">
              <a:ext uri="{FF2B5EF4-FFF2-40B4-BE49-F238E27FC236}">
                <a16:creationId xmlns:a16="http://schemas.microsoft.com/office/drawing/2014/main" id="{091E1164-3C24-4030-89C9-66D4BC450E2E}"/>
              </a:ext>
            </a:extLst>
          </p:cNvPr>
          <p:cNvSpPr>
            <a:spLocks xmlns:a="http://schemas.openxmlformats.org/drawingml/2006/main" noGrp="1"/>
          </p:cNvSpPr>
          <p:nvPr/>
        </p:nvSpPr>
        <p:spPr>
          <a:xfrm xmlns:a="http://schemas.openxmlformats.org/drawingml/2006/main">
            <a:off x="7820025" y="2209800"/>
            <a:ext cx="1095375" cy="9525"/>
          </a:xfrm>
          <a:custGeom xmlns:a="http://schemas.openxmlformats.org/drawingml/2006/main">
            <a:pathLst>
              <a:path w="1095375" h="9525">
                <a:moveTo>
                  <a:pt x="0" y="0"/>
                </a:moveTo>
                <a:lnTo>
                  <a:pt x="1095375" y="0"/>
                </a:lnTo>
              </a:path>
            </a:pathLst>
          </a:custGeom>
          <a:noFill xmlns:a="http://schemas.openxmlformats.org/drawingml/2006/main"/>
          <a:ln xmlns:a="http://schemas.openxmlformats.org/drawingml/2006/main" w="20955">
            <a:solidFill>
              <a:srgbClr val="231F20"/>
            </a:solidFill>
          </a:ln>
        </p:spPr>
      </p:sp>
      <p:sp>
        <p:nvSpPr>
          <p:cNvPr id="12" name="logic-115">
            <a:extLst xmlns:a="http://schemas.openxmlformats.org/drawingml/2006/main">
              <a:ext uri="{FF2B5EF4-FFF2-40B4-BE49-F238E27FC236}">
                <a16:creationId xmlns:a16="http://schemas.microsoft.com/office/drawing/2014/main" id="{9B81035E-7FA4-475C-BAA2-498E5139BFA7}"/>
              </a:ext>
            </a:extLst>
          </p:cNvPr>
          <p:cNvSpPr>
            <a:spLocks xmlns:a="http://schemas.openxmlformats.org/drawingml/2006/main" noGrp="1"/>
          </p:cNvSpPr>
          <p:nvPr/>
        </p:nvSpPr>
        <p:spPr>
          <a:xfrm xmlns:a="http://schemas.openxmlformats.org/drawingml/2006/main">
            <a:off x="8801100" y="216217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3" name="text-116">
            <a:extLst xmlns:a="http://schemas.openxmlformats.org/drawingml/2006/main">
              <a:ext uri="{FF2B5EF4-FFF2-40B4-BE49-F238E27FC236}">
                <a16:creationId xmlns:a16="http://schemas.microsoft.com/office/drawing/2014/main" id="{9EB4D2A7-B9BD-4581-932A-1B876E2BB795}"/>
              </a:ext>
            </a:extLst>
          </p:cNvPr>
          <p:cNvSpPr>
            <a:spLocks xmlns:a="http://schemas.openxmlformats.org/drawingml/2006/main" noGrp="1"/>
          </p:cNvSpPr>
          <p:nvPr/>
        </p:nvSpPr>
        <p:spPr>
          <a:xfrm xmlns:a="http://schemas.openxmlformats.org/drawingml/2006/main">
            <a:off x="2305050" y="2943225"/>
            <a:ext cx="7886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Meiryo"/>
                <a:ea typeface="Meiryo"/>
                <a:cs typeface="Meiryo"/>
              </a:defRPr>
            </a:defPPr>
          </a:lstStyle>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空きがあれば、CPUは次の命令へ進める</a:t>
            </a:r>
          </a:p>
        </p:txBody>
      </p:sp>
      <p:sp>
        <p:nvSpPr>
          <p:cNvPr id="14" name="text-117">
            <a:extLst xmlns:a="http://schemas.openxmlformats.org/drawingml/2006/main">
              <a:ext uri="{FF2B5EF4-FFF2-40B4-BE49-F238E27FC236}">
                <a16:creationId xmlns:a16="http://schemas.microsoft.com/office/drawing/2014/main" id="{BB73D2C2-CEAC-49D1-913D-D30469EED3DB}"/>
              </a:ext>
            </a:extLst>
          </p:cNvPr>
          <p:cNvSpPr>
            <a:spLocks xmlns:a="http://schemas.openxmlformats.org/drawingml/2006/main" noGrp="1"/>
          </p:cNvSpPr>
          <p:nvPr/>
        </p:nvSpPr>
        <p:spPr>
          <a:xfrm xmlns:a="http://schemas.openxmlformats.org/drawingml/2006/main">
            <a:off x="857250" y="38576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1">
                <a:solidFill>
                  <a:srgbClr val="231F20"/>
                </a:solidFill>
                <a:latin typeface="Meiryo"/>
                <a:ea typeface="Meiryo"/>
                <a:cs typeface="Meiryo"/>
              </a:defRPr>
            </a:defPPr>
          </a:lstStyle>
          <a:p xmlns:a="http://schemas.openxmlformats.org/drawingml/2006/main">
            <a:pPr algn="l">
              <a:defRPr sz="2250" b="1">
                <a:solidFill>
                  <a:srgbClr val="231F20"/>
                </a:solidFill>
                <a:latin typeface="Meiryo"/>
                <a:ea typeface="Meiryo"/>
                <a:cs typeface="Meiryo"/>
              </a:defRPr>
            </a:pPr>
            <a:r>
              <a:rPr sz="2250" b="1">
                <a:solidFill>
                  <a:srgbClr val="231F20"/>
                </a:solidFill>
                <a:latin typeface="Meiryo"/>
                <a:ea typeface="Meiryo"/>
                <a:cs typeface="Meiryo"/>
              </a:rPr>
              <a:t>1画面分の命令を送る間の待ち時間</a:t>
            </a:r>
          </a:p>
        </p:txBody>
      </p:sp>
      <p:sp>
        <p:nvSpPr>
          <p:cNvPr id="15" name="text-118">
            <a:extLst xmlns:a="http://schemas.openxmlformats.org/drawingml/2006/main">
              <a:ext uri="{FF2B5EF4-FFF2-40B4-BE49-F238E27FC236}">
                <a16:creationId xmlns:a16="http://schemas.microsoft.com/office/drawing/2014/main" id="{4F0ECE25-CAA4-4A94-8CF0-0AABFEC88EF1}"/>
              </a:ext>
            </a:extLst>
          </p:cNvPr>
          <p:cNvSpPr>
            <a:spLocks xmlns:a="http://schemas.openxmlformats.org/drawingml/2006/main" noGrp="1"/>
          </p:cNvSpPr>
          <p:nvPr/>
        </p:nvSpPr>
        <p:spPr>
          <a:xfrm xmlns:a="http://schemas.openxmlformats.org/drawingml/2006/main">
            <a:off x="990600" y="4514850"/>
            <a:ext cx="2305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1語ずつ渡す</a:t>
            </a:r>
          </a:p>
        </p:txBody>
      </p:sp>
      <p:sp>
        <p:nvSpPr>
          <p:cNvPr id="16" name="circuit-119">
            <a:extLst xmlns:a="http://schemas.openxmlformats.org/drawingml/2006/main">
              <a:ext uri="{FF2B5EF4-FFF2-40B4-BE49-F238E27FC236}">
                <a16:creationId xmlns:a16="http://schemas.microsoft.com/office/drawing/2014/main" id="{A65FC2B3-8738-49CE-97BB-04C1069653D7}"/>
              </a:ext>
            </a:extLst>
          </p:cNvPr>
          <p:cNvSpPr>
            <a:spLocks xmlns:a="http://schemas.openxmlformats.org/drawingml/2006/main" noGrp="1"/>
          </p:cNvSpPr>
          <p:nvPr/>
        </p:nvSpPr>
        <p:spPr>
          <a:xfrm xmlns:a="http://schemas.openxmlformats.org/drawingml/2006/main">
            <a:off x="3371850" y="4552950"/>
            <a:ext cx="5565162" cy="276225"/>
          </a:xfrm>
          <a:prstGeom xmlns:a="http://schemas.openxmlformats.org/drawingml/2006/main" prst="rect">
            <a:avLst/>
          </a:prstGeom>
          <a:solidFill xmlns:a="http://schemas.openxmlformats.org/drawingml/2006/main">
            <a:srgbClr val="77A3DC"/>
          </a:solidFill>
          <a:ln xmlns:a="http://schemas.openxmlformats.org/drawingml/2006/main" w="19050">
            <a:solidFill>
              <a:srgbClr val="231F20"/>
            </a:solidFill>
          </a:ln>
        </p:spPr>
      </p:sp>
      <p:sp>
        <p:nvSpPr>
          <p:cNvPr id="17" name="text-120">
            <a:extLst xmlns:a="http://schemas.openxmlformats.org/drawingml/2006/main">
              <a:ext uri="{FF2B5EF4-FFF2-40B4-BE49-F238E27FC236}">
                <a16:creationId xmlns:a16="http://schemas.microsoft.com/office/drawing/2014/main" id="{93E034CD-87CF-4636-A1F1-E52D492164E5}"/>
              </a:ext>
            </a:extLst>
          </p:cNvPr>
          <p:cNvSpPr>
            <a:spLocks xmlns:a="http://schemas.openxmlformats.org/drawingml/2006/main" noGrp="1"/>
          </p:cNvSpPr>
          <p:nvPr/>
        </p:nvSpPr>
        <p:spPr>
          <a:xfrm xmlns:a="http://schemas.openxmlformats.org/drawingml/2006/main">
            <a:off x="9248775" y="451485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4.393 ms</a:t>
            </a:r>
          </a:p>
        </p:txBody>
      </p:sp>
      <p:sp>
        <p:nvSpPr>
          <p:cNvPr id="18" name="text-121">
            <a:extLst xmlns:a="http://schemas.openxmlformats.org/drawingml/2006/main">
              <a:ext uri="{FF2B5EF4-FFF2-40B4-BE49-F238E27FC236}">
                <a16:creationId xmlns:a16="http://schemas.microsoft.com/office/drawing/2014/main" id="{01F6A79D-6EB9-4B57-ACEF-7757CB3E8001}"/>
              </a:ext>
            </a:extLst>
          </p:cNvPr>
          <p:cNvSpPr>
            <a:spLocks xmlns:a="http://schemas.openxmlformats.org/drawingml/2006/main" noGrp="1"/>
          </p:cNvSpPr>
          <p:nvPr/>
        </p:nvSpPr>
        <p:spPr>
          <a:xfrm xmlns:a="http://schemas.openxmlformats.org/drawingml/2006/main">
            <a:off x="990600" y="5029200"/>
            <a:ext cx="2305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16語FIFO</a:t>
            </a:r>
          </a:p>
        </p:txBody>
      </p:sp>
      <p:sp>
        <p:nvSpPr>
          <p:cNvPr id="19" name="circuit-122">
            <a:extLst xmlns:a="http://schemas.openxmlformats.org/drawingml/2006/main">
              <a:ext uri="{FF2B5EF4-FFF2-40B4-BE49-F238E27FC236}">
                <a16:creationId xmlns:a16="http://schemas.microsoft.com/office/drawing/2014/main" id="{8686FD7C-0092-4651-BDC3-374F79ACC78C}"/>
              </a:ext>
            </a:extLst>
          </p:cNvPr>
          <p:cNvSpPr>
            <a:spLocks xmlns:a="http://schemas.openxmlformats.org/drawingml/2006/main" noGrp="1"/>
          </p:cNvSpPr>
          <p:nvPr/>
        </p:nvSpPr>
        <p:spPr>
          <a:xfrm xmlns:a="http://schemas.openxmlformats.org/drawingml/2006/main">
            <a:off x="3371850" y="5067300"/>
            <a:ext cx="2855424" cy="276225"/>
          </a:xfrm>
          <a:prstGeom xmlns:a="http://schemas.openxmlformats.org/drawingml/2006/main" prst="rect">
            <a:avLst/>
          </a:prstGeom>
          <a:solidFill xmlns:a="http://schemas.openxmlformats.org/drawingml/2006/main">
            <a:srgbClr val="77A3DC"/>
          </a:solidFill>
          <a:ln xmlns:a="http://schemas.openxmlformats.org/drawingml/2006/main" w="19050">
            <a:solidFill>
              <a:srgbClr val="231F20"/>
            </a:solidFill>
          </a:ln>
        </p:spPr>
      </p:sp>
      <p:sp>
        <p:nvSpPr>
          <p:cNvPr id="20" name="text-123">
            <a:extLst xmlns:a="http://schemas.openxmlformats.org/drawingml/2006/main">
              <a:ext uri="{FF2B5EF4-FFF2-40B4-BE49-F238E27FC236}">
                <a16:creationId xmlns:a16="http://schemas.microsoft.com/office/drawing/2014/main" id="{5E4EC65C-0E63-45A0-8B00-9D18B99F7EB1}"/>
              </a:ext>
            </a:extLst>
          </p:cNvPr>
          <p:cNvSpPr>
            <a:spLocks xmlns:a="http://schemas.openxmlformats.org/drawingml/2006/main" noGrp="1"/>
          </p:cNvSpPr>
          <p:nvPr/>
        </p:nvSpPr>
        <p:spPr>
          <a:xfrm xmlns:a="http://schemas.openxmlformats.org/drawingml/2006/main">
            <a:off x="9248775" y="50292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2.254 ms</a:t>
            </a:r>
          </a:p>
        </p:txBody>
      </p:sp>
      <p:sp>
        <p:nvSpPr>
          <p:cNvPr id="21" name="text-124">
            <a:extLst xmlns:a="http://schemas.openxmlformats.org/drawingml/2006/main">
              <a:ext uri="{FF2B5EF4-FFF2-40B4-BE49-F238E27FC236}">
                <a16:creationId xmlns:a16="http://schemas.microsoft.com/office/drawing/2014/main" id="{DD182184-5C06-4782-9D1C-A7580640E06D}"/>
              </a:ext>
            </a:extLst>
          </p:cNvPr>
          <p:cNvSpPr>
            <a:spLocks xmlns:a="http://schemas.openxmlformats.org/drawingml/2006/main" noGrp="1"/>
          </p:cNvSpPr>
          <p:nvPr/>
        </p:nvSpPr>
        <p:spPr>
          <a:xfrm xmlns:a="http://schemas.openxmlformats.org/drawingml/2006/main">
            <a:off x="990600" y="5543550"/>
            <a:ext cx="2305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512語FIFO</a:t>
            </a:r>
          </a:p>
        </p:txBody>
      </p:sp>
      <p:sp>
        <p:nvSpPr>
          <p:cNvPr id="22" name="circuit-125">
            <a:extLst xmlns:a="http://schemas.openxmlformats.org/drawingml/2006/main">
              <a:ext uri="{FF2B5EF4-FFF2-40B4-BE49-F238E27FC236}">
                <a16:creationId xmlns:a16="http://schemas.microsoft.com/office/drawing/2014/main" id="{DF8F08F4-A066-4093-B18C-F05A327F81ED}"/>
              </a:ext>
            </a:extLst>
          </p:cNvPr>
          <p:cNvSpPr>
            <a:spLocks xmlns:a="http://schemas.openxmlformats.org/drawingml/2006/main" noGrp="1"/>
          </p:cNvSpPr>
          <p:nvPr/>
        </p:nvSpPr>
        <p:spPr>
          <a:xfrm xmlns:a="http://schemas.openxmlformats.org/drawingml/2006/main">
            <a:off x="3371850" y="5581650"/>
            <a:ext cx="589074" cy="276225"/>
          </a:xfrm>
          <a:prstGeom xmlns:a="http://schemas.openxmlformats.org/drawingml/2006/main" prst="rect">
            <a:avLst/>
          </a:prstGeom>
          <a:solidFill xmlns:a="http://schemas.openxmlformats.org/drawingml/2006/main">
            <a:srgbClr val="77A3DC"/>
          </a:solidFill>
          <a:ln xmlns:a="http://schemas.openxmlformats.org/drawingml/2006/main" w="19050">
            <a:solidFill>
              <a:srgbClr val="231F20"/>
            </a:solidFill>
          </a:ln>
        </p:spPr>
      </p:sp>
      <p:sp>
        <p:nvSpPr>
          <p:cNvPr id="23" name="text-126">
            <a:extLst xmlns:a="http://schemas.openxmlformats.org/drawingml/2006/main">
              <a:ext uri="{FF2B5EF4-FFF2-40B4-BE49-F238E27FC236}">
                <a16:creationId xmlns:a16="http://schemas.microsoft.com/office/drawing/2014/main" id="{B6E7DBFC-5F55-4486-A7F6-49F240109E42}"/>
              </a:ext>
            </a:extLst>
          </p:cNvPr>
          <p:cNvSpPr>
            <a:spLocks xmlns:a="http://schemas.openxmlformats.org/drawingml/2006/main" noGrp="1"/>
          </p:cNvSpPr>
          <p:nvPr/>
        </p:nvSpPr>
        <p:spPr>
          <a:xfrm xmlns:a="http://schemas.openxmlformats.org/drawingml/2006/main">
            <a:off x="9248775" y="554355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0.465 ms</a:t>
            </a:r>
          </a:p>
        </p:txBody>
      </p:sp>
      <p:sp>
        <p:nvSpPr>
          <p:cNvPr id="24" name="text-127">
            <a:extLst xmlns:a="http://schemas.openxmlformats.org/drawingml/2006/main">
              <a:ext uri="{FF2B5EF4-FFF2-40B4-BE49-F238E27FC236}">
                <a16:creationId xmlns:a16="http://schemas.microsoft.com/office/drawing/2014/main" id="{5F0AC044-6331-445E-A8B9-90FE4E72D1C9}"/>
              </a:ext>
            </a:extLst>
          </p:cNvPr>
          <p:cNvSpPr>
            <a:spLocks xmlns:a="http://schemas.openxmlformats.org/drawingml/2006/main" noGrp="1"/>
          </p:cNvSpPr>
          <p:nvPr/>
        </p:nvSpPr>
        <p:spPr>
          <a:xfrm xmlns:a="http://schemas.openxmlformats.org/drawingml/2006/main">
            <a:off x="990600" y="6172200"/>
            <a:ext cx="971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Meiryo"/>
                <a:ea typeface="Meiryo"/>
                <a:cs typeface="Meiryo"/>
              </a:defRPr>
            </a:defPPr>
          </a:lstStyle>
          <a:p xmlns:a="http://schemas.openxmlformats.org/drawingml/2006/main">
            <a:pPr algn="l">
              <a:defRPr sz="1500" b="0">
                <a:solidFill>
                  <a:srgbClr val="231F20"/>
                </a:solidFill>
                <a:latin typeface="Meiryo"/>
                <a:ea typeface="Meiryo"/>
                <a:cs typeface="Meiryo"/>
              </a:defRPr>
            </a:pPr>
            <a:r>
              <a:rPr sz="1500" b="0">
                <a:solidFill>
                  <a:srgbClr val="231F20"/>
                </a:solidFill>
                <a:latin typeface="Meiryo"/>
                <a:ea typeface="Meiryo"/>
                <a:cs typeface="Meiryo"/>
              </a:rPr>
              <a:t>全体描画・同じ初期状態／各方式180フレーム × 3回</a:t>
            </a:r>
          </a:p>
        </p:txBody>
      </p:sp>
    </p:spTree>
    <p:extLst>
      <p:ext uri="{BB962C8B-B14F-4D97-AF65-F5344CB8AC3E}">
        <p14:creationId xmlns:p14="http://schemas.microsoft.com/office/powerpoint/2010/main" val="111880503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text-128">
            <a:extLst xmlns:a="http://schemas.openxmlformats.org/drawingml/2006/main">
              <a:ext uri="{FF2B5EF4-FFF2-40B4-BE49-F238E27FC236}">
                <a16:creationId xmlns:a16="http://schemas.microsoft.com/office/drawing/2014/main" id="{FDAE753E-FDC8-4ADA-A5A4-DD76526C63AA}"/>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表示中の画像を途中で書き換えない</a:t>
            </a:r>
          </a:p>
        </p:txBody>
      </p:sp>
      <p:sp>
        <p:nvSpPr>
          <p:cNvPr id="2" name="text-129">
            <a:extLst xmlns:a="http://schemas.openxmlformats.org/drawingml/2006/main">
              <a:ext uri="{FF2B5EF4-FFF2-40B4-BE49-F238E27FC236}">
                <a16:creationId xmlns:a16="http://schemas.microsoft.com/office/drawing/2014/main" id="{E393B2AA-5336-4EAC-84B9-47A874DADB8C}"/>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6</a:t>
            </a:r>
          </a:p>
        </p:txBody>
      </p:sp>
      <p:sp>
        <p:nvSpPr>
          <p:cNvPr id="3" name="text-130">
            <a:extLst xmlns:a="http://schemas.openxmlformats.org/drawingml/2006/main">
              <a:ext uri="{FF2B5EF4-FFF2-40B4-BE49-F238E27FC236}">
                <a16:creationId xmlns:a16="http://schemas.microsoft.com/office/drawing/2014/main" id="{0FBA2B06-D1D6-47F8-9A2B-4CFDA538911A}"/>
              </a:ext>
            </a:extLst>
          </p:cNvPr>
          <p:cNvSpPr>
            <a:spLocks xmlns:a="http://schemas.openxmlformats.org/drawingml/2006/main" noGrp="1"/>
          </p:cNvSpPr>
          <p:nvPr/>
        </p:nvSpPr>
        <p:spPr>
          <a:xfrm xmlns:a="http://schemas.openxmlformats.org/drawingml/2006/main">
            <a:off x="1171575" y="15430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400" b="1">
                <a:solidFill>
                  <a:srgbClr val="231F20"/>
                </a:solidFill>
                <a:latin typeface="Meiryo"/>
                <a:ea typeface="Meiryo"/>
                <a:cs typeface="Meiryo"/>
              </a:defRPr>
            </a:defPPr>
          </a:lstStyle>
          <a:p xmlns:a="http://schemas.openxmlformats.org/drawingml/2006/main">
            <a:pPr algn="ctr">
              <a:defRPr sz="2400" b="1">
                <a:solidFill>
                  <a:srgbClr val="231F20"/>
                </a:solidFill>
                <a:latin typeface="Meiryo"/>
                <a:ea typeface="Meiryo"/>
                <a:cs typeface="Meiryo"/>
              </a:defRPr>
            </a:pPr>
            <a:r>
              <a:rPr sz="2400" b="1">
                <a:solidFill>
                  <a:srgbClr val="231F20"/>
                </a:solidFill>
                <a:latin typeface="Meiryo"/>
                <a:ea typeface="Meiryo"/>
                <a:cs typeface="Meiryo"/>
              </a:rPr>
              <a:t>切り替え前</a:t>
            </a:r>
          </a:p>
        </p:txBody>
      </p:sp>
      <p:sp>
        <p:nvSpPr>
          <p:cNvPr id="4" name="text-131">
            <a:extLst xmlns:a="http://schemas.openxmlformats.org/drawingml/2006/main">
              <a:ext uri="{FF2B5EF4-FFF2-40B4-BE49-F238E27FC236}">
                <a16:creationId xmlns:a16="http://schemas.microsoft.com/office/drawing/2014/main" id="{6294289F-4DA6-4954-80C8-EBE8BB066E55}"/>
              </a:ext>
            </a:extLst>
          </p:cNvPr>
          <p:cNvSpPr>
            <a:spLocks xmlns:a="http://schemas.openxmlformats.org/drawingml/2006/main" noGrp="1"/>
          </p:cNvSpPr>
          <p:nvPr/>
        </p:nvSpPr>
        <p:spPr>
          <a:xfrm xmlns:a="http://schemas.openxmlformats.org/drawingml/2006/main">
            <a:off x="7620000" y="15430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400" b="1">
                <a:solidFill>
                  <a:srgbClr val="231F20"/>
                </a:solidFill>
                <a:latin typeface="Meiryo"/>
                <a:ea typeface="Meiryo"/>
                <a:cs typeface="Meiryo"/>
              </a:defRPr>
            </a:defPPr>
          </a:lstStyle>
          <a:p xmlns:a="http://schemas.openxmlformats.org/drawingml/2006/main">
            <a:pPr algn="ctr">
              <a:defRPr sz="2400" b="1">
                <a:solidFill>
                  <a:srgbClr val="231F20"/>
                </a:solidFill>
                <a:latin typeface="Meiryo"/>
                <a:ea typeface="Meiryo"/>
                <a:cs typeface="Meiryo"/>
              </a:defRPr>
            </a:pPr>
            <a:r>
              <a:rPr sz="2400" b="1">
                <a:solidFill>
                  <a:srgbClr val="231F20"/>
                </a:solidFill>
                <a:latin typeface="Meiryo"/>
                <a:ea typeface="Meiryo"/>
                <a:cs typeface="Meiryo"/>
              </a:rPr>
              <a:t>切り替え後</a:t>
            </a:r>
          </a:p>
        </p:txBody>
      </p:sp>
      <p:sp>
        <p:nvSpPr>
          <p:cNvPr id="5" name="circuit-132">
            <a:extLst xmlns:a="http://schemas.openxmlformats.org/drawingml/2006/main">
              <a:ext uri="{FF2B5EF4-FFF2-40B4-BE49-F238E27FC236}">
                <a16:creationId xmlns:a16="http://schemas.microsoft.com/office/drawing/2014/main" id="{86CF4E90-BDEC-4E9C-9075-0BA562407E3B}"/>
              </a:ext>
            </a:extLst>
          </p:cNvPr>
          <p:cNvSpPr>
            <a:spLocks xmlns:a="http://schemas.openxmlformats.org/drawingml/2006/main" noGrp="1"/>
          </p:cNvSpPr>
          <p:nvPr/>
        </p:nvSpPr>
        <p:spPr>
          <a:xfrm xmlns:a="http://schemas.openxmlformats.org/drawingml/2006/main">
            <a:off x="1171575" y="2352675"/>
            <a:ext cx="3524250" cy="8572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6" name="text-133">
            <a:extLst xmlns:a="http://schemas.openxmlformats.org/drawingml/2006/main">
              <a:ext uri="{FF2B5EF4-FFF2-40B4-BE49-F238E27FC236}">
                <a16:creationId xmlns:a16="http://schemas.microsoft.com/office/drawing/2014/main" id="{75987A9D-2762-4C10-BDBB-B7C3C289827E}"/>
              </a:ext>
            </a:extLst>
          </p:cNvPr>
          <p:cNvSpPr>
            <a:spLocks xmlns:a="http://schemas.openxmlformats.org/drawingml/2006/main" noGrp="1"/>
          </p:cNvSpPr>
          <p:nvPr/>
        </p:nvSpPr>
        <p:spPr>
          <a:xfrm xmlns:a="http://schemas.openxmlformats.org/drawingml/2006/main">
            <a:off x="1285875" y="2409825"/>
            <a:ext cx="3295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Meiryo"/>
                <a:ea typeface="Meiryo"/>
                <a:cs typeface="Meiryo"/>
              </a:defRPr>
            </a:defPPr>
          </a:lstStyle>
          <a:p xmlns:a="http://schemas.openxmlformats.org/drawingml/2006/main">
            <a:pPr algn="ctr">
              <a:defRPr sz="2325" b="0">
                <a:solidFill>
                  <a:srgbClr val="231F20"/>
                </a:solidFill>
                <a:latin typeface="Meiryo"/>
                <a:ea typeface="Meiryo"/>
                <a:cs typeface="Meiryo"/>
              </a:defRPr>
            </a:pPr>
            <a:r>
              <a:rPr sz="2325" b="0">
                <a:solidFill>
                  <a:srgbClr val="231F20"/>
                </a:solidFill>
                <a:latin typeface="Meiryo"/>
                <a:ea typeface="Meiryo"/>
                <a:cs typeface="Meiryo"/>
              </a:rPr>
              <a:t>画像A：表示中</a:t>
            </a:r>
          </a:p>
        </p:txBody>
      </p:sp>
      <p:sp>
        <p:nvSpPr>
          <p:cNvPr id="7" name="circuit-134">
            <a:extLst xmlns:a="http://schemas.openxmlformats.org/drawingml/2006/main">
              <a:ext uri="{FF2B5EF4-FFF2-40B4-BE49-F238E27FC236}">
                <a16:creationId xmlns:a16="http://schemas.microsoft.com/office/drawing/2014/main" id="{7ECA7D92-4DAD-4B8D-AA62-724E52344D99}"/>
              </a:ext>
            </a:extLst>
          </p:cNvPr>
          <p:cNvSpPr>
            <a:spLocks xmlns:a="http://schemas.openxmlformats.org/drawingml/2006/main" noGrp="1"/>
          </p:cNvSpPr>
          <p:nvPr/>
        </p:nvSpPr>
        <p:spPr>
          <a:xfrm xmlns:a="http://schemas.openxmlformats.org/drawingml/2006/main">
            <a:off x="1171575" y="3895725"/>
            <a:ext cx="3524250" cy="8572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8" name="text-135">
            <a:extLst xmlns:a="http://schemas.openxmlformats.org/drawingml/2006/main">
              <a:ext uri="{FF2B5EF4-FFF2-40B4-BE49-F238E27FC236}">
                <a16:creationId xmlns:a16="http://schemas.microsoft.com/office/drawing/2014/main" id="{6856393F-8BB1-43AC-9154-7455780AEBC9}"/>
              </a:ext>
            </a:extLst>
          </p:cNvPr>
          <p:cNvSpPr>
            <a:spLocks xmlns:a="http://schemas.openxmlformats.org/drawingml/2006/main" noGrp="1"/>
          </p:cNvSpPr>
          <p:nvPr/>
        </p:nvSpPr>
        <p:spPr>
          <a:xfrm xmlns:a="http://schemas.openxmlformats.org/drawingml/2006/main">
            <a:off x="1285875" y="3952875"/>
            <a:ext cx="3295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Meiryo"/>
                <a:ea typeface="Meiryo"/>
                <a:cs typeface="Meiryo"/>
              </a:defRPr>
            </a:defPPr>
          </a:lstStyle>
          <a:p xmlns:a="http://schemas.openxmlformats.org/drawingml/2006/main">
            <a:pPr algn="ctr">
              <a:defRPr sz="2325" b="0">
                <a:solidFill>
                  <a:srgbClr val="231F20"/>
                </a:solidFill>
                <a:latin typeface="Meiryo"/>
                <a:ea typeface="Meiryo"/>
                <a:cs typeface="Meiryo"/>
              </a:defRPr>
            </a:pPr>
            <a:r>
              <a:rPr sz="2325" b="0">
                <a:solidFill>
                  <a:srgbClr val="231F20"/>
                </a:solidFill>
                <a:latin typeface="Meiryo"/>
                <a:ea typeface="Meiryo"/>
                <a:cs typeface="Meiryo"/>
              </a:rPr>
              <a:t>画像B：描画中</a:t>
            </a:r>
          </a:p>
        </p:txBody>
      </p:sp>
      <p:sp>
        <p:nvSpPr>
          <p:cNvPr id="9" name="circuit-136">
            <a:extLst xmlns:a="http://schemas.openxmlformats.org/drawingml/2006/main">
              <a:ext uri="{FF2B5EF4-FFF2-40B4-BE49-F238E27FC236}">
                <a16:creationId xmlns:a16="http://schemas.microsoft.com/office/drawing/2014/main" id="{5A1C61DE-30F4-46F1-A4CF-9AD705E714FE}"/>
              </a:ext>
            </a:extLst>
          </p:cNvPr>
          <p:cNvSpPr>
            <a:spLocks xmlns:a="http://schemas.openxmlformats.org/drawingml/2006/main" noGrp="1"/>
          </p:cNvSpPr>
          <p:nvPr/>
        </p:nvSpPr>
        <p:spPr>
          <a:xfrm xmlns:a="http://schemas.openxmlformats.org/drawingml/2006/main">
            <a:off x="7620000" y="2352675"/>
            <a:ext cx="3524250" cy="8572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0" name="text-137">
            <a:extLst xmlns:a="http://schemas.openxmlformats.org/drawingml/2006/main">
              <a:ext uri="{FF2B5EF4-FFF2-40B4-BE49-F238E27FC236}">
                <a16:creationId xmlns:a16="http://schemas.microsoft.com/office/drawing/2014/main" id="{4B031C8D-A2D7-4B37-8DF8-53AA7BEA5FB9}"/>
              </a:ext>
            </a:extLst>
          </p:cNvPr>
          <p:cNvSpPr>
            <a:spLocks xmlns:a="http://schemas.openxmlformats.org/drawingml/2006/main" noGrp="1"/>
          </p:cNvSpPr>
          <p:nvPr/>
        </p:nvSpPr>
        <p:spPr>
          <a:xfrm xmlns:a="http://schemas.openxmlformats.org/drawingml/2006/main">
            <a:off x="7734300" y="2409825"/>
            <a:ext cx="3295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Meiryo"/>
                <a:ea typeface="Meiryo"/>
                <a:cs typeface="Meiryo"/>
              </a:defRPr>
            </a:defPPr>
          </a:lstStyle>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画像A：次の描画先</a:t>
            </a:r>
          </a:p>
        </p:txBody>
      </p:sp>
      <p:sp>
        <p:nvSpPr>
          <p:cNvPr id="11" name="circuit-138">
            <a:extLst xmlns:a="http://schemas.openxmlformats.org/drawingml/2006/main">
              <a:ext uri="{FF2B5EF4-FFF2-40B4-BE49-F238E27FC236}">
                <a16:creationId xmlns:a16="http://schemas.microsoft.com/office/drawing/2014/main" id="{72031F5C-3A8B-4E09-92C8-3952079F5071}"/>
              </a:ext>
            </a:extLst>
          </p:cNvPr>
          <p:cNvSpPr>
            <a:spLocks xmlns:a="http://schemas.openxmlformats.org/drawingml/2006/main" noGrp="1"/>
          </p:cNvSpPr>
          <p:nvPr/>
        </p:nvSpPr>
        <p:spPr>
          <a:xfrm xmlns:a="http://schemas.openxmlformats.org/drawingml/2006/main">
            <a:off x="7620000" y="3895725"/>
            <a:ext cx="3524250" cy="8572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12" name="text-139">
            <a:extLst xmlns:a="http://schemas.openxmlformats.org/drawingml/2006/main">
              <a:ext uri="{FF2B5EF4-FFF2-40B4-BE49-F238E27FC236}">
                <a16:creationId xmlns:a16="http://schemas.microsoft.com/office/drawing/2014/main" id="{9FD72DEB-B4DA-427B-A327-3C6E85BD351E}"/>
              </a:ext>
            </a:extLst>
          </p:cNvPr>
          <p:cNvSpPr>
            <a:spLocks xmlns:a="http://schemas.openxmlformats.org/drawingml/2006/main" noGrp="1"/>
          </p:cNvSpPr>
          <p:nvPr/>
        </p:nvSpPr>
        <p:spPr>
          <a:xfrm xmlns:a="http://schemas.openxmlformats.org/drawingml/2006/main">
            <a:off x="7734300" y="3952875"/>
            <a:ext cx="3295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Meiryo"/>
                <a:ea typeface="Meiryo"/>
                <a:cs typeface="Meiryo"/>
              </a:defRPr>
            </a:defPPr>
          </a:lstStyle>
          <a:p xmlns:a="http://schemas.openxmlformats.org/drawingml/2006/main">
            <a:pPr algn="ctr">
              <a:defRPr sz="2325" b="0">
                <a:solidFill>
                  <a:srgbClr val="231F20"/>
                </a:solidFill>
                <a:latin typeface="Meiryo"/>
                <a:ea typeface="Meiryo"/>
                <a:cs typeface="Meiryo"/>
              </a:defRPr>
            </a:pPr>
            <a:r>
              <a:rPr sz="2325" b="0">
                <a:solidFill>
                  <a:srgbClr val="231F20"/>
                </a:solidFill>
                <a:latin typeface="Meiryo"/>
                <a:ea typeface="Meiryo"/>
                <a:cs typeface="Meiryo"/>
              </a:rPr>
              <a:t>画像B：表示中</a:t>
            </a:r>
          </a:p>
        </p:txBody>
      </p:sp>
      <p:sp>
        <p:nvSpPr>
          <p:cNvPr id="13" name="wire-140">
            <a:extLst xmlns:a="http://schemas.openxmlformats.org/drawingml/2006/main">
              <a:ext uri="{FF2B5EF4-FFF2-40B4-BE49-F238E27FC236}">
                <a16:creationId xmlns:a16="http://schemas.microsoft.com/office/drawing/2014/main" id="{3971516F-A131-4177-A137-537297BBBCBC}"/>
              </a:ext>
            </a:extLst>
          </p:cNvPr>
          <p:cNvSpPr>
            <a:spLocks xmlns:a="http://schemas.openxmlformats.org/drawingml/2006/main" noGrp="1"/>
          </p:cNvSpPr>
          <p:nvPr/>
        </p:nvSpPr>
        <p:spPr>
          <a:xfrm xmlns:a="http://schemas.openxmlformats.org/drawingml/2006/main">
            <a:off x="4991100" y="3562350"/>
            <a:ext cx="2343150" cy="9525"/>
          </a:xfrm>
          <a:custGeom xmlns:a="http://schemas.openxmlformats.org/drawingml/2006/main">
            <a:pathLst>
              <a:path w="2343150" h="9525">
                <a:moveTo>
                  <a:pt x="0" y="0"/>
                </a:moveTo>
                <a:lnTo>
                  <a:pt x="2343150" y="0"/>
                </a:lnTo>
              </a:path>
            </a:pathLst>
          </a:custGeom>
          <a:noFill xmlns:a="http://schemas.openxmlformats.org/drawingml/2006/main"/>
          <a:ln xmlns:a="http://schemas.openxmlformats.org/drawingml/2006/main" w="20955">
            <a:solidFill>
              <a:srgbClr val="1673C3"/>
            </a:solidFill>
          </a:ln>
        </p:spPr>
      </p:sp>
      <p:sp>
        <p:nvSpPr>
          <p:cNvPr id="14" name="logic-141">
            <a:extLst xmlns:a="http://schemas.openxmlformats.org/drawingml/2006/main">
              <a:ext uri="{FF2B5EF4-FFF2-40B4-BE49-F238E27FC236}">
                <a16:creationId xmlns:a16="http://schemas.microsoft.com/office/drawing/2014/main" id="{9C5EA6EE-4B2A-4367-91E7-5236DE110D1B}"/>
              </a:ext>
            </a:extLst>
          </p:cNvPr>
          <p:cNvSpPr>
            <a:spLocks xmlns:a="http://schemas.openxmlformats.org/drawingml/2006/main" noGrp="1"/>
          </p:cNvSpPr>
          <p:nvPr/>
        </p:nvSpPr>
        <p:spPr>
          <a:xfrm xmlns:a="http://schemas.openxmlformats.org/drawingml/2006/main">
            <a:off x="7219950" y="351472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1673C3"/>
          </a:solidFill>
          <a:ln xmlns:a="http://schemas.openxmlformats.org/drawingml/2006/main" w="19050">
            <a:solidFill>
              <a:srgbClr val="1673C3"/>
            </a:solidFill>
          </a:ln>
        </p:spPr>
      </p:sp>
      <p:sp>
        <p:nvSpPr>
          <p:cNvPr id="15" name="text-142">
            <a:extLst xmlns:a="http://schemas.openxmlformats.org/drawingml/2006/main">
              <a:ext uri="{FF2B5EF4-FFF2-40B4-BE49-F238E27FC236}">
                <a16:creationId xmlns:a16="http://schemas.microsoft.com/office/drawing/2014/main" id="{10CF73DF-86BD-43E3-9082-25FF82A41782}"/>
              </a:ext>
            </a:extLst>
          </p:cNvPr>
          <p:cNvSpPr>
            <a:spLocks xmlns:a="http://schemas.openxmlformats.org/drawingml/2006/main" noGrp="1"/>
          </p:cNvSpPr>
          <p:nvPr/>
        </p:nvSpPr>
        <p:spPr>
          <a:xfrm xmlns:a="http://schemas.openxmlformats.org/drawingml/2006/main">
            <a:off x="4905375" y="2390775"/>
            <a:ext cx="2533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画像Bの完成後</a:t>
            </a:r>
          </a:p>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表示の区切りで</a:t>
            </a:r>
          </a:p>
        </p:txBody>
      </p:sp>
      <p:sp>
        <p:nvSpPr>
          <p:cNvPr id="16" name="text-143">
            <a:extLst xmlns:a="http://schemas.openxmlformats.org/drawingml/2006/main">
              <a:ext uri="{FF2B5EF4-FFF2-40B4-BE49-F238E27FC236}">
                <a16:creationId xmlns:a16="http://schemas.microsoft.com/office/drawing/2014/main" id="{5D42575F-1B9B-4393-A56B-8DCD5D52778F}"/>
              </a:ext>
            </a:extLst>
          </p:cNvPr>
          <p:cNvSpPr>
            <a:spLocks xmlns:a="http://schemas.openxmlformats.org/drawingml/2006/main" noGrp="1"/>
          </p:cNvSpPr>
          <p:nvPr/>
        </p:nvSpPr>
        <p:spPr>
          <a:xfrm xmlns:a="http://schemas.openxmlformats.org/drawingml/2006/main">
            <a:off x="4905375" y="3905250"/>
            <a:ext cx="2533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読む先と描く先を</a:t>
            </a:r>
          </a:p>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入れ替える</a:t>
            </a:r>
          </a:p>
        </p:txBody>
      </p:sp>
      <p:sp>
        <p:nvSpPr>
          <p:cNvPr id="17" name="text-144">
            <a:extLst xmlns:a="http://schemas.openxmlformats.org/drawingml/2006/main">
              <a:ext uri="{FF2B5EF4-FFF2-40B4-BE49-F238E27FC236}">
                <a16:creationId xmlns:a16="http://schemas.microsoft.com/office/drawing/2014/main" id="{0EB040B9-3563-4ECD-BCCB-AAEADEA9725F}"/>
              </a:ext>
            </a:extLst>
          </p:cNvPr>
          <p:cNvSpPr>
            <a:spLocks xmlns:a="http://schemas.openxmlformats.org/drawingml/2006/main" noGrp="1"/>
          </p:cNvSpPr>
          <p:nvPr/>
        </p:nvSpPr>
        <p:spPr>
          <a:xfrm xmlns:a="http://schemas.openxmlformats.org/drawingml/2006/main">
            <a:off x="685800" y="561022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1">
                <a:solidFill>
                  <a:srgbClr val="231F20"/>
                </a:solidFill>
                <a:latin typeface="Meiryo"/>
                <a:ea typeface="Meiryo"/>
                <a:cs typeface="Meiryo"/>
              </a:defRPr>
            </a:defPPr>
          </a:lstStyle>
          <a:p xmlns:a="http://schemas.openxmlformats.org/drawingml/2006/main">
            <a:pPr algn="ctr">
              <a:defRPr sz="2250" b="1">
                <a:solidFill>
                  <a:srgbClr val="231F20"/>
                </a:solidFill>
                <a:latin typeface="Meiryo"/>
                <a:ea typeface="Meiryo"/>
                <a:cs typeface="Meiryo"/>
              </a:defRPr>
            </a:pPr>
            <a:r>
              <a:rPr sz="2250" b="1">
                <a:solidFill>
                  <a:srgbClr val="231F20"/>
                </a:solidFill>
                <a:latin typeface="Meiryo"/>
                <a:ea typeface="Meiryo"/>
                <a:cs typeface="Meiryo"/>
              </a:rPr>
              <a:t>切り替え完了後に、古い表示画像Aを描き直せる</a:t>
            </a:r>
          </a:p>
        </p:txBody>
      </p:sp>
    </p:spTree>
    <p:extLst>
      <p:ext uri="{BB962C8B-B14F-4D97-AF65-F5344CB8AC3E}">
        <p14:creationId xmlns:p14="http://schemas.microsoft.com/office/powerpoint/2010/main" val="125823043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145">
            <a:extLst xmlns:a="http://schemas.openxmlformats.org/drawingml/2006/main">
              <a:ext uri="{FF2B5EF4-FFF2-40B4-BE49-F238E27FC236}">
                <a16:creationId xmlns:a16="http://schemas.microsoft.com/office/drawing/2014/main" id="{58E0AC88-AE71-4D4B-9A58-CBBA686DABB0}"/>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実機でブロック崩しの動作を確認した</a:t>
            </a:r>
          </a:p>
        </p:txBody>
      </p:sp>
      <p:sp>
        <p:nvSpPr>
          <p:cNvPr id="2" name="text-146">
            <a:extLst xmlns:a="http://schemas.openxmlformats.org/drawingml/2006/main">
              <a:ext uri="{FF2B5EF4-FFF2-40B4-BE49-F238E27FC236}">
                <a16:creationId xmlns:a16="http://schemas.microsoft.com/office/drawing/2014/main" id="{5CAB629A-B03B-45E9-B215-25AAC4F20073}"/>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7</a:t>
            </a:r>
          </a:p>
        </p:txBody>
      </p:sp>
      <p:pic>
        <p:nvPicPr>
          <p:cNvPr id="3" name="">
            <a:extLst xmlns:a="http://schemas.openxmlformats.org/drawingml/2006/main">
              <a:ext uri="{FF2B5EF4-FFF2-40B4-BE49-F238E27FC236}">
                <a16:creationId xmlns:a16="http://schemas.microsoft.com/office/drawing/2014/main" id="{A1D8D0B3-31E2-4276-94D8-4D2885837445}"/>
              </a:ext>
            </a:extLst>
          </p:cNvPr>
          <p:cNvPicPr>
            <a:picLocks xmlns:a="http://schemas.openxmlformats.org/drawingml/2006/main" noChangeAspect="1"/>
          </p:cNvPicPr>
          <p:nvPr/>
        </p:nvPicPr>
        <p:blipFill>
          <a:blip xmlns:r="http://schemas.openxmlformats.org/officeDocument/2006/relationships" xmlns:a="http://schemas.openxmlformats.org/drawingml/2006/main" r:embed="R17e07fd10bb640ce"/>
          <a:stretch xmlns:a="http://schemas.openxmlformats.org/drawingml/2006/main"/>
        </p:blipFill>
        <p:spPr>
          <a:xfrm xmlns:a="http://schemas.openxmlformats.org/drawingml/2006/main">
            <a:off x="609600" y="1840111"/>
            <a:ext cx="6191250" cy="3482578"/>
          </a:xfrm>
          <a:prstGeom xmlns:a="http://schemas.openxmlformats.org/drawingml/2006/main" prst="rect">
            <a:avLst/>
          </a:prstGeom>
        </p:spPr>
      </p:pic>
      <p:sp>
        <p:nvSpPr>
          <p:cNvPr id="4" name="text-147">
            <a:extLst xmlns:a="http://schemas.openxmlformats.org/drawingml/2006/main">
              <a:ext uri="{FF2B5EF4-FFF2-40B4-BE49-F238E27FC236}">
                <a16:creationId xmlns:a16="http://schemas.microsoft.com/office/drawing/2014/main" id="{94CABBFA-838E-4FE7-9557-4FF817EC3C20}"/>
              </a:ext>
            </a:extLst>
          </p:cNvPr>
          <p:cNvSpPr>
            <a:spLocks xmlns:a="http://schemas.openxmlformats.org/drawingml/2006/main" noGrp="1"/>
          </p:cNvSpPr>
          <p:nvPr/>
        </p:nvSpPr>
        <p:spPr>
          <a:xfrm xmlns:a="http://schemas.openxmlformats.org/drawingml/2006/main">
            <a:off x="7277100" y="2038350"/>
            <a:ext cx="423862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75" b="1">
                <a:solidFill>
                  <a:srgbClr val="231F20"/>
                </a:solidFill>
                <a:latin typeface="Meiryo"/>
                <a:ea typeface="Meiryo"/>
                <a:cs typeface="Meiryo"/>
              </a:defRPr>
            </a:defPPr>
          </a:lstStyle>
          <a:p xmlns:a="http://schemas.openxmlformats.org/drawingml/2006/main">
            <a:pPr algn="l">
              <a:defRPr sz="2475" b="1">
                <a:solidFill>
                  <a:srgbClr val="231F20"/>
                </a:solidFill>
                <a:latin typeface="Meiryo"/>
                <a:ea typeface="Meiryo"/>
                <a:cs typeface="Meiryo"/>
              </a:defRPr>
            </a:pPr>
            <a:r>
              <a:rPr sz="2475" b="1">
                <a:solidFill>
                  <a:srgbClr val="231F20"/>
                </a:solidFill>
                <a:latin typeface="Meiryo"/>
                <a:ea typeface="Meiryo"/>
                <a:cs typeface="Meiryo"/>
              </a:rPr>
              <a:t>640 × 480 画素</a:t>
            </a:r>
          </a:p>
          <a:p xmlns:a="http://schemas.openxmlformats.org/drawingml/2006/main">
            <a:pPr algn="l">
              <a:defRPr sz="2475" b="1">
                <a:solidFill>
                  <a:srgbClr val="231F20"/>
                </a:solidFill>
                <a:latin typeface="Meiryo"/>
                <a:ea typeface="Meiryo"/>
                <a:cs typeface="Meiryo"/>
              </a:defRPr>
            </a:pPr>
            <a:r>
              <a:rPr sz="2475" b="1">
                <a:solidFill>
                  <a:srgbClr val="231F20"/>
                </a:solidFill>
                <a:latin typeface="Meiryo"/>
                <a:ea typeface="Meiryo"/>
                <a:cs typeface="Meiryo"/>
              </a:rPr>
              <a:t>5分間の自動プレイ</a:t>
            </a:r>
          </a:p>
        </p:txBody>
      </p:sp>
      <p:sp>
        <p:nvSpPr>
          <p:cNvPr id="5" name="text-148">
            <a:extLst xmlns:a="http://schemas.openxmlformats.org/drawingml/2006/main">
              <a:ext uri="{FF2B5EF4-FFF2-40B4-BE49-F238E27FC236}">
                <a16:creationId xmlns:a16="http://schemas.microsoft.com/office/drawing/2014/main" id="{775A14DA-FF14-4D26-98A4-07499AF8F637}"/>
              </a:ext>
            </a:extLst>
          </p:cNvPr>
          <p:cNvSpPr>
            <a:spLocks xmlns:a="http://schemas.openxmlformats.org/drawingml/2006/main" noGrp="1"/>
          </p:cNvSpPr>
          <p:nvPr/>
        </p:nvSpPr>
        <p:spPr>
          <a:xfrm xmlns:a="http://schemas.openxmlformats.org/drawingml/2006/main">
            <a:off x="7277100" y="3476625"/>
            <a:ext cx="4238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0">
                <a:solidFill>
                  <a:srgbClr val="231F20"/>
                </a:solidFill>
                <a:latin typeface="Meiryo"/>
                <a:ea typeface="Meiryo"/>
                <a:cs typeface="Meiryo"/>
              </a:defRPr>
            </a:defPPr>
          </a:lstStyle>
          <a:p xmlns:a="http://schemas.openxmlformats.org/drawingml/2006/main">
            <a:pPr algn="l">
              <a:defRPr sz="2175" b="0">
                <a:solidFill>
                  <a:srgbClr val="231F20"/>
                </a:solidFill>
                <a:latin typeface="Meiryo"/>
                <a:ea typeface="Meiryo"/>
                <a:cs typeface="Meiryo"/>
              </a:defRPr>
            </a:pPr>
            <a:r>
              <a:rPr sz="2175" b="0">
                <a:solidFill>
                  <a:srgbClr val="231F20"/>
                </a:solidFill>
                <a:latin typeface="Meiryo"/>
                <a:ea typeface="Meiryo"/>
                <a:cs typeface="Meiryo"/>
              </a:rPr>
              <a:t>接続比較では9画面で</a:t>
            </a:r>
          </a:p>
          <a:p xmlns:a="http://schemas.openxmlformats.org/drawingml/2006/main">
            <a:pPr algn="l">
              <a:defRPr sz="2175" b="0">
                <a:solidFill>
                  <a:srgbClr val="231F20"/>
                </a:solidFill>
                <a:latin typeface="Meiryo"/>
                <a:ea typeface="Meiryo"/>
                <a:cs typeface="Meiryo"/>
              </a:defRPr>
            </a:pPr>
            <a:r>
              <a:rPr sz="2175" b="0">
                <a:solidFill>
                  <a:srgbClr val="231F20"/>
                </a:solidFill>
                <a:latin typeface="Meiryo"/>
                <a:ea typeface="Meiryo"/>
                <a:cs typeface="Meiryo"/>
              </a:rPr>
              <a:t>全画素が正解画像と一致</a:t>
            </a:r>
          </a:p>
        </p:txBody>
      </p:sp>
      <p:sp>
        <p:nvSpPr>
          <p:cNvPr id="6" name="text-149">
            <a:extLst xmlns:a="http://schemas.openxmlformats.org/drawingml/2006/main">
              <a:ext uri="{FF2B5EF4-FFF2-40B4-BE49-F238E27FC236}">
                <a16:creationId xmlns:a16="http://schemas.microsoft.com/office/drawing/2014/main" id="{C7D28028-B407-438F-AB05-355487CDADC6}"/>
              </a:ext>
            </a:extLst>
          </p:cNvPr>
          <p:cNvSpPr>
            <a:spLocks xmlns:a="http://schemas.openxmlformats.org/drawingml/2006/main" noGrp="1"/>
          </p:cNvSpPr>
          <p:nvPr/>
        </p:nvSpPr>
        <p:spPr>
          <a:xfrm xmlns:a="http://schemas.openxmlformats.org/drawingml/2006/main">
            <a:off x="7277100" y="4857750"/>
            <a:ext cx="4238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専用コントローラーは</a:t>
            </a:r>
          </a:p>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最終発表に向けて接続・検証</a:t>
            </a:r>
          </a:p>
        </p:txBody>
      </p:sp>
      <p:sp>
        <p:nvSpPr>
          <p:cNvPr id="7" name="text-150">
            <a:extLst xmlns:a="http://schemas.openxmlformats.org/drawingml/2006/main">
              <a:ext uri="{FF2B5EF4-FFF2-40B4-BE49-F238E27FC236}">
                <a16:creationId xmlns:a16="http://schemas.microsoft.com/office/drawing/2014/main" id="{5B3EB882-38E8-4113-8BF6-5D6B628A72C9}"/>
              </a:ext>
            </a:extLst>
          </p:cNvPr>
          <p:cNvSpPr>
            <a:spLocks xmlns:a="http://schemas.openxmlformats.org/drawingml/2006/main" noGrp="1"/>
          </p:cNvSpPr>
          <p:nvPr/>
        </p:nvSpPr>
        <p:spPr>
          <a:xfrm xmlns:a="http://schemas.openxmlformats.org/drawingml/2006/main">
            <a:off x="685800" y="596265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0">
                <a:solidFill>
                  <a:srgbClr val="231F20"/>
                </a:solidFill>
                <a:latin typeface="Meiryo"/>
                <a:ea typeface="Meiryo"/>
                <a:cs typeface="Meiryo"/>
              </a:defRPr>
            </a:defPPr>
          </a:lstStyle>
          <a:p xmlns:a="http://schemas.openxmlformats.org/drawingml/2006/main">
            <a:pPr algn="l">
              <a:defRPr sz="1875" b="0">
                <a:solidFill>
                  <a:srgbClr val="231F20"/>
                </a:solidFill>
                <a:latin typeface="Meiryo"/>
                <a:ea typeface="Meiryo"/>
                <a:cs typeface="Meiryo"/>
              </a:defRPr>
            </a:pPr>
            <a:r>
              <a:rPr sz="1875" b="0">
                <a:solidFill>
                  <a:srgbClr val="231F20"/>
                </a:solidFill>
                <a:latin typeface="Meiryo"/>
                <a:ea typeface="Meiryo"/>
                <a:cs typeface="Meiryo"/>
              </a:rPr>
              <a:t>大きいテクスチャと、映像認識には未解決の条件がある</a:t>
            </a:r>
          </a:p>
        </p:txBody>
      </p:sp>
    </p:spTree>
    <p:extLst>
      <p:ext uri="{BB962C8B-B14F-4D97-AF65-F5344CB8AC3E}">
        <p14:creationId xmlns:p14="http://schemas.microsoft.com/office/powerpoint/2010/main" val="178938515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151">
            <a:extLst xmlns:a="http://schemas.openxmlformats.org/drawingml/2006/main">
              <a:ext uri="{FF2B5EF4-FFF2-40B4-BE49-F238E27FC236}">
                <a16:creationId xmlns:a16="http://schemas.microsoft.com/office/drawing/2014/main" id="{D36AD50A-962A-4700-A7D4-60F21150504A}"/>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Wallyを拡張するための設計例</a:t>
            </a:r>
          </a:p>
        </p:txBody>
      </p:sp>
      <p:sp>
        <p:nvSpPr>
          <p:cNvPr id="2" name="text-152">
            <a:extLst xmlns:a="http://schemas.openxmlformats.org/drawingml/2006/main">
              <a:ext uri="{FF2B5EF4-FFF2-40B4-BE49-F238E27FC236}">
                <a16:creationId xmlns:a16="http://schemas.microsoft.com/office/drawing/2014/main" id="{4C7B0578-FB22-42CC-BC1D-0B20638BB08A}"/>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8</a:t>
            </a:r>
          </a:p>
        </p:txBody>
      </p:sp>
      <p:sp>
        <p:nvSpPr>
          <p:cNvPr id="3" name="text-153">
            <a:extLst xmlns:a="http://schemas.openxmlformats.org/drawingml/2006/main">
              <a:ext uri="{FF2B5EF4-FFF2-40B4-BE49-F238E27FC236}">
                <a16:creationId xmlns:a16="http://schemas.microsoft.com/office/drawing/2014/main" id="{24EF48EC-55F7-4E25-BCC0-844FAD5177BE}"/>
              </a:ext>
            </a:extLst>
          </p:cNvPr>
          <p:cNvSpPr>
            <a:spLocks xmlns:a="http://schemas.openxmlformats.org/drawingml/2006/main" noGrp="1"/>
          </p:cNvSpPr>
          <p:nvPr/>
        </p:nvSpPr>
        <p:spPr>
          <a:xfrm xmlns:a="http://schemas.openxmlformats.org/drawingml/2006/main">
            <a:off x="857250" y="1466850"/>
            <a:ext cx="10287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225" b="1">
                <a:solidFill>
                  <a:srgbClr val="231F20"/>
                </a:solidFill>
                <a:latin typeface="Meiryo"/>
                <a:ea typeface="Meiryo"/>
                <a:cs typeface="Meiryo"/>
              </a:defRPr>
            </a:defPPr>
          </a:lstStyle>
          <a:p xmlns:a="http://schemas.openxmlformats.org/drawingml/2006/main">
            <a:pPr algn="l">
              <a:defRPr sz="3225" b="1">
                <a:solidFill>
                  <a:srgbClr val="231F20"/>
                </a:solidFill>
                <a:latin typeface="Meiryo"/>
                <a:ea typeface="Meiryo"/>
                <a:cs typeface="Meiryo"/>
              </a:defRPr>
            </a:pPr>
            <a:r>
              <a:rPr sz="3225" b="1">
                <a:solidFill>
                  <a:srgbClr val="231F20"/>
                </a:solidFill>
                <a:latin typeface="Meiryo"/>
                <a:ea typeface="Meiryo"/>
                <a:cs typeface="Meiryo"/>
              </a:rPr>
              <a:t>CPUに描画・表示機能を追加し、</a:t>
            </a:r>
          </a:p>
          <a:p xmlns:a="http://schemas.openxmlformats.org/drawingml/2006/main">
            <a:pPr algn="l">
              <a:defRPr sz="3225" b="1">
                <a:solidFill>
                  <a:srgbClr val="231F20"/>
                </a:solidFill>
                <a:latin typeface="Meiryo"/>
                <a:ea typeface="Meiryo"/>
                <a:cs typeface="Meiryo"/>
              </a:defRPr>
            </a:pPr>
            <a:r>
              <a:rPr sz="3225" b="1">
                <a:solidFill>
                  <a:srgbClr val="231F20"/>
                </a:solidFill>
                <a:latin typeface="Meiryo"/>
                <a:ea typeface="Meiryo"/>
                <a:cs typeface="Meiryo"/>
              </a:rPr>
              <a:t>二次元ゲームを実行できた</a:t>
            </a:r>
          </a:p>
        </p:txBody>
      </p:sp>
      <p:sp>
        <p:nvSpPr>
          <p:cNvPr id="4" name="text-154">
            <a:extLst xmlns:a="http://schemas.openxmlformats.org/drawingml/2006/main">
              <a:ext uri="{FF2B5EF4-FFF2-40B4-BE49-F238E27FC236}">
                <a16:creationId xmlns:a16="http://schemas.microsoft.com/office/drawing/2014/main" id="{F09DC6CF-E95D-49DA-86CC-716F19AEEFC1}"/>
              </a:ext>
            </a:extLst>
          </p:cNvPr>
          <p:cNvSpPr>
            <a:spLocks xmlns:a="http://schemas.openxmlformats.org/drawingml/2006/main" noGrp="1"/>
          </p:cNvSpPr>
          <p:nvPr/>
        </p:nvSpPr>
        <p:spPr>
          <a:xfrm xmlns:a="http://schemas.openxmlformats.org/drawingml/2006/main">
            <a:off x="857250" y="2990850"/>
            <a:ext cx="1028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0">
                <a:solidFill>
                  <a:srgbClr val="231F20"/>
                </a:solidFill>
                <a:latin typeface="Meiryo"/>
                <a:ea typeface="Meiryo"/>
                <a:cs typeface="Meiryo"/>
              </a:defRPr>
            </a:defPPr>
          </a:lstStyle>
          <a:p xmlns:a="http://schemas.openxmlformats.org/drawingml/2006/main">
            <a:pPr algn="l">
              <a:defRPr sz="2100" b="0">
                <a:solidFill>
                  <a:srgbClr val="231F20"/>
                </a:solidFill>
                <a:latin typeface="Meiryo"/>
                <a:ea typeface="Meiryo"/>
                <a:cs typeface="Meiryo"/>
              </a:defRPr>
            </a:pPr>
            <a:r>
              <a:rPr sz="2100" b="0">
                <a:solidFill>
                  <a:srgbClr val="231F20"/>
                </a:solidFill>
                <a:latin typeface="Meiryo"/>
                <a:ea typeface="Meiryo"/>
                <a:cs typeface="Meiryo"/>
              </a:rPr>
              <a:t>全体描画の比較では、転送回路の追加や</a:t>
            </a:r>
          </a:p>
          <a:p xmlns:a="http://schemas.openxmlformats.org/drawingml/2006/main">
            <a:pPr algn="l">
              <a:defRPr sz="2100" b="0">
                <a:solidFill>
                  <a:srgbClr val="231F20"/>
                </a:solidFill>
                <a:latin typeface="Meiryo"/>
                <a:ea typeface="Meiryo"/>
                <a:cs typeface="Meiryo"/>
              </a:defRPr>
            </a:pPr>
            <a:r>
              <a:rPr sz="2100" b="0">
                <a:solidFill>
                  <a:srgbClr val="231F20"/>
                </a:solidFill>
                <a:latin typeface="Meiryo"/>
                <a:ea typeface="Meiryo"/>
                <a:cs typeface="Meiryo"/>
              </a:rPr>
              <a:t>描画用メモリの増量だけでは、大きく速くならなかった</a:t>
            </a:r>
          </a:p>
        </p:txBody>
      </p:sp>
      <p:sp>
        <p:nvSpPr>
          <p:cNvPr id="5" name="text-155">
            <a:extLst xmlns:a="http://schemas.openxmlformats.org/drawingml/2006/main">
              <a:ext uri="{FF2B5EF4-FFF2-40B4-BE49-F238E27FC236}">
                <a16:creationId xmlns:a16="http://schemas.microsoft.com/office/drawing/2014/main" id="{941BA1D3-51A4-4A4A-AC8A-066A7AF3712C}"/>
              </a:ext>
            </a:extLst>
          </p:cNvPr>
          <p:cNvSpPr>
            <a:spLocks xmlns:a="http://schemas.openxmlformats.org/drawingml/2006/main" noGrp="1"/>
          </p:cNvSpPr>
          <p:nvPr/>
        </p:nvSpPr>
        <p:spPr>
          <a:xfrm xmlns:a="http://schemas.openxmlformats.org/drawingml/2006/main">
            <a:off x="857250" y="4191000"/>
            <a:ext cx="1028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0">
                <a:solidFill>
                  <a:srgbClr val="231F20"/>
                </a:solidFill>
                <a:latin typeface="Meiryo"/>
                <a:ea typeface="Meiryo"/>
                <a:cs typeface="Meiryo"/>
              </a:defRPr>
            </a:defPPr>
          </a:lstStyle>
          <a:p xmlns:a="http://schemas.openxmlformats.org/drawingml/2006/main">
            <a:pPr algn="l">
              <a:defRPr sz="2250" b="0">
                <a:solidFill>
                  <a:srgbClr val="231F20"/>
                </a:solidFill>
                <a:latin typeface="Meiryo"/>
                <a:ea typeface="Meiryo"/>
                <a:cs typeface="Meiryo"/>
              </a:defRPr>
            </a:pPr>
            <a:r>
              <a:rPr sz="2250" b="0">
                <a:solidFill>
                  <a:srgbClr val="231F20"/>
                </a:solidFill>
                <a:latin typeface="Meiryo"/>
                <a:ea typeface="Meiryo"/>
                <a:cs typeface="Meiryo"/>
              </a:rPr>
              <a:t>接続設計・ソースコード・試験条件を公開</a:t>
            </a:r>
          </a:p>
        </p:txBody>
      </p:sp>
      <p:sp>
        <p:nvSpPr>
          <p:cNvPr id="6" name="text-156">
            <a:extLst xmlns:a="http://schemas.openxmlformats.org/drawingml/2006/main">
              <a:ext uri="{FF2B5EF4-FFF2-40B4-BE49-F238E27FC236}">
                <a16:creationId xmlns:a16="http://schemas.microsoft.com/office/drawing/2014/main" id="{A0D2C7CE-6E17-4132-B709-721773AF7B15}"/>
              </a:ext>
            </a:extLst>
          </p:cNvPr>
          <p:cNvSpPr>
            <a:spLocks xmlns:a="http://schemas.openxmlformats.org/drawingml/2006/main" noGrp="1"/>
          </p:cNvSpPr>
          <p:nvPr/>
        </p:nvSpPr>
        <p:spPr>
          <a:xfrm xmlns:a="http://schemas.openxmlformats.org/drawingml/2006/main">
            <a:off x="857250" y="5095875"/>
            <a:ext cx="1028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231F20"/>
                </a:solidFill>
                <a:latin typeface="Meiryo"/>
                <a:ea typeface="Meiryo"/>
                <a:cs typeface="Meiryo"/>
              </a:defRPr>
            </a:defPPr>
          </a:lstStyle>
          <a:p xmlns:a="http://schemas.openxmlformats.org/drawingml/2006/main">
            <a:pPr algn="l">
              <a:defRPr sz="2325" b="1">
                <a:solidFill>
                  <a:srgbClr val="231F20"/>
                </a:solidFill>
                <a:latin typeface="Meiryo"/>
                <a:ea typeface="Meiryo"/>
                <a:cs typeface="Meiryo"/>
              </a:defRPr>
            </a:pPr>
            <a:r>
              <a:rPr sz="2325" b="1">
                <a:solidFill>
                  <a:srgbClr val="231F20"/>
                </a:solidFill>
                <a:latin typeface="Meiryo"/>
                <a:ea typeface="Meiryo"/>
                <a:cs typeface="Meiryo"/>
              </a:rPr>
              <a:t>最終発表：専用コントローラーを接続し、</a:t>
            </a:r>
          </a:p>
          <a:p xmlns:a="http://schemas.openxmlformats.org/drawingml/2006/main">
            <a:pPr algn="l">
              <a:defRPr sz="2325" b="1">
                <a:solidFill>
                  <a:srgbClr val="231F20"/>
                </a:solidFill>
                <a:latin typeface="Meiryo"/>
                <a:ea typeface="Meiryo"/>
                <a:cs typeface="Meiryo"/>
              </a:defRPr>
            </a:pPr>
            <a:r>
              <a:rPr sz="2325" b="1">
                <a:solidFill>
                  <a:srgbClr val="231F20"/>
                </a:solidFill>
                <a:latin typeface="Meiryo"/>
                <a:ea typeface="Meiryo"/>
                <a:cs typeface="Meiryo"/>
              </a:rPr>
              <a:t>ボタンによるゲーム操作を検証する</a:t>
            </a:r>
          </a:p>
        </p:txBody>
      </p:sp>
    </p:spTree>
    <p:extLst>
      <p:ext uri="{BB962C8B-B14F-4D97-AF65-F5344CB8AC3E}">
        <p14:creationId xmlns:p14="http://schemas.microsoft.com/office/powerpoint/2010/main" val="17413100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title>Presentation</dc:title>
  <dcterms:created xsi:type="dcterms:W3CDTF">2026-10-13T02:54:45.9230000Z</dcterms:created>
  <dcterms:modified xsi:type="dcterms:W3CDTF">2026-10-13T02:54:45.9230000Z</dcterms:modified>
</coreProperties>
</file>