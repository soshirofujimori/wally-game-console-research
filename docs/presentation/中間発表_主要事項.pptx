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<?xml version='1.0' encoding='UTF-8' standalone='yes'?>
<Relationships xmlns="http://schemas.openxmlformats.org/package/2006/relationships"><Relationship Type="http://schemas.openxmlformats.org/package/2006/relationships/metadata/core-properties" Target="/docProps/core.xml" Id="R25821144b5704c99"/><Relationship Type="http://schemas.openxmlformats.org/officeDocument/2006/relationships/extended-properties" Target="/docProps/app.xml" Id="Ra0513f5c52a2410f"/><Relationship Type="http://schemas.openxmlformats.org/officeDocument/2006/relationships/officeDocument" Target="/ppt/presentation.xml" Id="Ra09dad96f2cd4707"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6af79b7a3f8413d"/>
  </p:sldMasterIdLst>
  <p:notesMasterIdLst>
    <p:notesMasterId xmlns:r="http://schemas.openxmlformats.org/officeDocument/2006/relationships" r:id="R5dfd6a85018d4659"/>
  </p:notesMasterIdLst>
  <p:sldIdLst>
    <p:sldId xmlns:r="http://schemas.openxmlformats.org/officeDocument/2006/relationships" id="256" r:id="Re8aa58e637a24d41"/>
    <p:sldId xmlns:r="http://schemas.openxmlformats.org/officeDocument/2006/relationships" id="257" r:id="R8c61988a26e04b73"/>
    <p:sldId xmlns:r="http://schemas.openxmlformats.org/officeDocument/2006/relationships" id="258" r:id="R090bf810aa7340ed"/>
    <p:sldId xmlns:r="http://schemas.openxmlformats.org/officeDocument/2006/relationships" id="259" r:id="Rab11279a23d14cac"/>
    <p:sldId xmlns:r="http://schemas.openxmlformats.org/officeDocument/2006/relationships" id="260" r:id="Rdba9894e1998472e"/>
    <p:sldId xmlns:r="http://schemas.openxmlformats.org/officeDocument/2006/relationships" id="261" r:id="R773ee97d039c467c"/>
    <p:sldId xmlns:r="http://schemas.openxmlformats.org/officeDocument/2006/relationships" id="262" r:id="Rad1533874f114965"/>
    <p:sldId xmlns:r="http://schemas.openxmlformats.org/officeDocument/2006/relationships" id="263" r:id="R69c66ad5fe214014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'1.0' encoding='UTF-8' standalone='yes'?>
<Relationships xmlns="http://schemas.openxmlformats.org/package/2006/relationships"><Relationship Type="http://schemas.openxmlformats.org/officeDocument/2006/relationships/theme" Target="/ppt/theme/theme1.xml" Id="R35934d435b994c93"/><Relationship Type="http://schemas.openxmlformats.org/officeDocument/2006/relationships/slideMaster" Target="/ppt/slideMasters/slideMaster1.xml" Id="Rc6af79b7a3f8413d"/><Relationship Type="http://schemas.openxmlformats.org/officeDocument/2006/relationships/notesMaster" Target="/ppt/notesMasters/notesMaster1.xml" Id="R5dfd6a85018d4659"/><Relationship Type="http://schemas.openxmlformats.org/officeDocument/2006/relationships/presProps" Target="/ppt/presProps.xml" Id="Rb6cc8098a1c845fb"/><Relationship Type="http://schemas.openxmlformats.org/officeDocument/2006/relationships/tableStyles" Target="/ppt/tableStyles.xml" Id="R605f652ecf914e39"/><Relationship Type="http://schemas.openxmlformats.org/officeDocument/2006/relationships/slide" Target="/ppt/slides/slide1.xml" Id="Re8aa58e637a24d41"/><Relationship Type="http://schemas.openxmlformats.org/officeDocument/2006/relationships/slide" Target="/ppt/slides/slide2.xml" Id="R8c61988a26e04b73"/><Relationship Type="http://schemas.openxmlformats.org/officeDocument/2006/relationships/slide" Target="/ppt/slides/slide3.xml" Id="R090bf810aa7340ed"/><Relationship Type="http://schemas.openxmlformats.org/officeDocument/2006/relationships/slide" Target="/ppt/slides/slide4.xml" Id="Rab11279a23d14cac"/><Relationship Type="http://schemas.openxmlformats.org/officeDocument/2006/relationships/slide" Target="/ppt/slides/slide5.xml" Id="Rdba9894e1998472e"/><Relationship Type="http://schemas.openxmlformats.org/officeDocument/2006/relationships/slide" Target="/ppt/slides/slide6.xml" Id="R773ee97d039c467c"/><Relationship Type="http://schemas.openxmlformats.org/officeDocument/2006/relationships/slide" Target="/ppt/slides/slide7.xml" Id="Rad1533874f114965"/><Relationship Type="http://schemas.openxmlformats.org/officeDocument/2006/relationships/slide" Target="/ppt/slides/slide8.xml" Id="R69c66ad5fe214014"/></Relationships>
</file>

<file path=ppt/notesMasters/_rels/notesMaster1.xml.rels><?xml version='1.0' encoding='UTF-8' standalone='yes'?>
<Relationships xmlns="http://schemas.openxmlformats.org/package/2006/relationships"><Relationship Type="http://schemas.openxmlformats.org/officeDocument/2006/relationships/theme" Target="/ppt/notesMasters/theme/theme3.xml" Id="R7d5e4b85c1184eb3"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<?xml version='1.0' encoding='UTF-8' standalone='yes'?>
<Relationships xmlns="http://schemas.openxmlformats.org/package/2006/relationships"><Relationship Type="http://schemas.openxmlformats.org/officeDocument/2006/relationships/slide" Target="/ppt/slides/slide1.xml" Id="R8a705cebfd59474f"/><Relationship Type="http://schemas.openxmlformats.org/officeDocument/2006/relationships/notesMaster" Target="/ppt/notesMasters/notesMaster1.xml" Id="R4d094e93126d46a2"/></Relationships>
</file>

<file path=ppt/notesSlides/_rels/notesSlide2.xml.rels><?xml version='1.0' encoding='UTF-8' standalone='yes'?>
<Relationships xmlns="http://schemas.openxmlformats.org/package/2006/relationships"><Relationship Type="http://schemas.openxmlformats.org/officeDocument/2006/relationships/slide" Target="/ppt/slides/slide2.xml" Id="Rb852b97fc8c54535"/><Relationship Type="http://schemas.openxmlformats.org/officeDocument/2006/relationships/notesMaster" Target="/ppt/notesMasters/notesMaster1.xml" Id="Rdeeee11810104379"/></Relationships>
</file>

<file path=ppt/notesSlides/_rels/notesSlide3.xml.rels><?xml version='1.0' encoding='UTF-8' standalone='yes'?>
<Relationships xmlns="http://schemas.openxmlformats.org/package/2006/relationships"><Relationship Type="http://schemas.openxmlformats.org/officeDocument/2006/relationships/slide" Target="/ppt/slides/slide3.xml" Id="Ra2b927bf308a447f"/><Relationship Type="http://schemas.openxmlformats.org/officeDocument/2006/relationships/notesMaster" Target="/ppt/notesMasters/notesMaster1.xml" Id="R42d84c1230d84720"/></Relationships>
</file>

<file path=ppt/notesSlides/_rels/notesSlide4.xml.rels><?xml version='1.0' encoding='UTF-8' standalone='yes'?>
<Relationships xmlns="http://schemas.openxmlformats.org/package/2006/relationships"><Relationship Type="http://schemas.openxmlformats.org/officeDocument/2006/relationships/slide" Target="/ppt/slides/slide4.xml" Id="R427a846d57dc47e9"/><Relationship Type="http://schemas.openxmlformats.org/officeDocument/2006/relationships/notesMaster" Target="/ppt/notesMasters/notesMaster1.xml" Id="R27006393716c4b85"/></Relationships>
</file>

<file path=ppt/notesSlides/_rels/notesSlide5.xml.rels><?xml version='1.0' encoding='UTF-8' standalone='yes'?>
<Relationships xmlns="http://schemas.openxmlformats.org/package/2006/relationships"><Relationship Type="http://schemas.openxmlformats.org/officeDocument/2006/relationships/slide" Target="/ppt/slides/slide5.xml" Id="Ra611ff1623ab4b2d"/><Relationship Type="http://schemas.openxmlformats.org/officeDocument/2006/relationships/notesMaster" Target="/ppt/notesMasters/notesMaster1.xml" Id="R1705e4c3415b4eab"/></Relationships>
</file>

<file path=ppt/notesSlides/_rels/notesSlide6.xml.rels><?xml version='1.0' encoding='UTF-8' standalone='yes'?>
<Relationships xmlns="http://schemas.openxmlformats.org/package/2006/relationships"><Relationship Type="http://schemas.openxmlformats.org/officeDocument/2006/relationships/slide" Target="/ppt/slides/slide6.xml" Id="R75d4ae34e9b44335"/><Relationship Type="http://schemas.openxmlformats.org/officeDocument/2006/relationships/notesMaster" Target="/ppt/notesMasters/notesMaster1.xml" Id="R9c2becb13e4648cb"/></Relationships>
</file>

<file path=ppt/notesSlides/_rels/notesSlide7.xml.rels><?xml version='1.0' encoding='UTF-8' standalone='yes'?>
<Relationships xmlns="http://schemas.openxmlformats.org/package/2006/relationships"><Relationship Type="http://schemas.openxmlformats.org/officeDocument/2006/relationships/slide" Target="/ppt/slides/slide7.xml" Id="R80e805df37ec42a9"/><Relationship Type="http://schemas.openxmlformats.org/officeDocument/2006/relationships/notesMaster" Target="/ppt/notesMasters/notesMaster1.xml" Id="Rd1aeee745fda448e"/></Relationships>
</file>

<file path=ppt/notesSlides/_rels/notesSlide8.xml.rels><?xml version='1.0' encoding='UTF-8' standalone='yes'?>
<Relationships xmlns="http://schemas.openxmlformats.org/package/2006/relationships"><Relationship Type="http://schemas.openxmlformats.org/officeDocument/2006/relationships/slide" Target="/ppt/slides/slide8.xml" Id="Reac726162fc04bf4"/><Relationship Type="http://schemas.openxmlformats.org/officeDocument/2006/relationships/notesMaster" Target="/ppt/notesMasters/notesMaster1.xml" Id="Rde262a531c0d4578"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想定時間：25秒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公開CPUであるWallyに、画面を描く回路を接続し、ブロック崩しを動かすゲーム機を作りました。目的は、Wallyに周辺機能を追加する学習者が、接続方法と確認方法を参照できる例を示すことです。今日は、基板の中に何を作り、どう画面を出し、何を確かめたかを説明します。</a:t>
            </a:r>
          </a:p>
          <a:p xmlns:a="http://schemas.openxmlformats.org/drawingml/2006/main">
            <a:r>
              <a:t>根拠：docs/thesis/本文.md 第5〜10章、第12章、第15章。実験記録 E1、E6。製品 https://github.com/SoshiroFujimori/wally-game-console/tree/261832d48832dd6e26c4971ab8893ce61200688b 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想定時間：35秒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PGAボードには、FPGAチップのほかにメモリやSDカードスロット、HDMI端子があります。FPGAには、論理ゲートや記憶素子の接続を設定して、目的に合った回路を実装できます。図のゲートはそのイメージです。周辺の部品そのものをFPGAの中に作るのではなく、その部品を操作する回路を中に作ります。</a:t>
            </a:r>
          </a:p>
          <a:p xmlns:a="http://schemas.openxmlformats.org/drawingml/2006/main">
            <a:r>
              <a:t>根拠：docs/thesis/本文.md 第5〜10章、第12章、第15章。実験記録 E1、E6。製品 https://github.com/SoshiroFujimori/wally-game-console/tree/261832d48832dd6e26c4971ab8893ce61200688b 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想定時間：50秒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このFPGAの中に、WallyとRasterIXを配置しました。前の図と、部品とチップの位置は同じです。CPUのバスにはSDカード制御回路と、描画命令を渡す接続回路をつなぎます。CPUも描画側も外のDDR3メモリを使うため、メモリへのアクセスをまとめます。RasterIXが作った画像は、表示回路が読み、HDMI端子から出します。既存のCPUと描画回路を利用し、この接続と制御を設計した部分が本研究です。</a:t>
            </a:r>
          </a:p>
          <a:p xmlns:a="http://schemas.openxmlformats.org/drawingml/2006/main">
            <a:r>
              <a:t>根拠：docs/thesis/本文.md 第5〜10章、第12章、第15章。実験記録 E1、E6。製品 https://github.com/SoshiroFujimori/wally-game-console/tree/261832d48832dd6e26c4971ab8893ce61200688b 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想定時間：50秒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PUはSDカードから読み込んだゲームを実行します。一回の処理でボールの位置を更新します。位置や色をRasterIX付属のOpenGL互換ライブラリへ渡すと、ライブラリが描画命令をメモリへ用意します。接続回路から命令を受けたRasterIXが画像を作り、表示回路が読み出します。これを繰り返すと動いて見えます。位置の数値、描画命令、画素の色は別々のデータです。命令を送る接続と、できた画像を表示する接続を、それぞれ用意しました。</a:t>
            </a:r>
          </a:p>
          <a:p xmlns:a="http://schemas.openxmlformats.org/drawingml/2006/main">
            <a:r>
              <a:t>根拠：docs/thesis/本文.md 第5〜10章、第12章、第15章。実験記録 E1、E6。製品 https://github.com/SoshiroFujimori/wally-game-console/tree/261832d48832dd6e26c4971ab8893ce61200688b 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想定時間：45秒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CPUは番地を指定して数値を書きます。RasterIXは順番に並ぶ命令を受け取ります。この二つの渡し方をつなぐ回路を設計しました。途中のFIFOは、先に入れた値から渡す保存場所です。また、CPU側は20 MHz、描画側は100 MHzなので、それぞれの時計で受け渡しを管理する既存の非同期FIFOを使いました。空きがなければCPUの書き込みを待たせます。本研究で作ったのは、既存FIFOの内部ではなく、その前後の接続です。</a:t>
            </a:r>
          </a:p>
          <a:p xmlns:a="http://schemas.openxmlformats.org/drawingml/2006/main">
            <a:r>
              <a:t>根拠：docs/thesis/本文.md 第5〜10章、第12章、第15章。実験記録 E1、E6。製品 https://github.com/SoshiroFujimori/wally-game-console/tree/261832d48832dd6e26c4971ab8893ce61200688b 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想定時間：40秒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もう一つの接続設計が、表示する画像の切り替えです。表示回路は画像を読み続けます。その同じ画像を途中で描き換えると、新旧の画面が混ざるおそれがあります。そこで画像を二枚分用意し、一方を表示している間に、もう一方に描きます。完成後、表示の区切りで役割を交代します。また、古い画像の読み出しが残っている間は、そこへの描き直しを始めないよう、切り替え完了を確認します。</a:t>
            </a:r>
          </a:p>
          <a:p xmlns:a="http://schemas.openxmlformats.org/drawingml/2006/main">
            <a:r>
              <a:t>根拠：docs/thesis/本文.md 第5〜10章、第12章、第15章。実験記録 E1、E6。製品 https://github.com/SoshiroFujimori/wally-game-console/tree/261832d48832dd6e26c4971ab8893ce61200688b 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想定時間：40秒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640×480画素のブロック崩しで、画像確認用プログラムの三条件と再起動後の一条件の画像が、すべての画素で期待画像と一致しました。また、5分間の自動プレイの実行記録と、別の実行で記録した30秒間の映像を確認しました。動作確認には、描画処理を軽くする実装を含む完成版を使っています。映像を受信できない場合もあり、その条件の解明は課題です。</a:t>
            </a:r>
          </a:p>
          <a:p xmlns:a="http://schemas.openxmlformats.org/drawingml/2006/main">
            <a:r>
              <a:t>根拠：E6、論文12.4〜12.6節。通常構成の画像4条件と継続実行、映像は別の試験。画像確認の開始状態・描画方法はqualification.jsonのwhole_frame_checksに記録。動画の記録枚数はゲームのFPSを示さない。画像：docs/thesis/figs/fifo-study-game.png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想定時間：45秒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allyに描画と表示の機能を追加し、ブロック崩しを動かす構成を実機で確認しました。既存のCPUと描画回路を利用し、命令の接続、画像を置くメモリの設定、表示画像の切り替えを実装しました。接続設計と試験条件を公開することで、Wallyに周辺機能を追加する人が参照できる例とします。学習効果を測った結果ではありません。最終発表では専用コントローラーを接続し、ボタンによる操作を検証します。</a:t>
            </a:r>
          </a:p>
          <a:p xmlns:a="http://schemas.openxmlformats.org/drawingml/2006/main">
            <a:r>
              <a:t>根拠：docs/thesis/本文.md 第5〜10章、第12章、第15章。実験記録 E1、E6。製品 https://github.com/SoshiroFujimori/wally-game-console/tree/261832d48832dd6e26c4971ab8893ce61200688b 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<?xml version='1.0' encoding='UTF-8' standalone='yes'?>
<Relationships xmlns="http://schemas.openxmlformats.org/package/2006/relationships"><Relationship Type="http://schemas.openxmlformats.org/officeDocument/2006/relationships/slideMaster" Target="/ppt/slideMasters/slideMaster1.xml" Id="Ra089021392324528"/></Relationships>
</file>

<file path=ppt/slideLayouts/_rels/slideLayout2.xml.rels><?xml version='1.0' encoding='UTF-8' standalone='yes'?>
<Relationships xmlns="http://schemas.openxmlformats.org/package/2006/relationships"><Relationship Type="http://schemas.openxmlformats.org/officeDocument/2006/relationships/slideMaster" Target="/ppt/slideMasters/slideMaster1.xml" Id="R23b44f83f4664d0c"/></Relationships>
</file>

<file path=ppt/slideLayouts/_rels/slideLayout3.xml.rels><?xml version='1.0' encoding='UTF-8' standalone='yes'?>
<Relationships xmlns="http://schemas.openxmlformats.org/package/2006/relationships"><Relationship Type="http://schemas.openxmlformats.org/officeDocument/2006/relationships/slideMaster" Target="/ppt/slideMasters/slideMaster1.xml" Id="Rc52fdd982edc4a87"/></Relationships>
</file>

<file path=ppt/slideLayouts/_rels/slideLayout4.xml.rels><?xml version='1.0' encoding='UTF-8' standalone='yes'?>
<Relationships xmlns="http://schemas.openxmlformats.org/package/2006/relationships"><Relationship Type="http://schemas.openxmlformats.org/officeDocument/2006/relationships/slideMaster" Target="/ppt/slideMasters/slideMaster1.xml" Id="R97e08a7694534bd9"/></Relationships>
</file>

<file path=ppt/slideLayouts/_rels/slideLayout5.xml.rels><?xml version='1.0' encoding='UTF-8' standalone='yes'?>
<Relationships xmlns="http://schemas.openxmlformats.org/package/2006/relationships"><Relationship Type="http://schemas.openxmlformats.org/officeDocument/2006/relationships/slideMaster" Target="/ppt/slideMasters/slideMaster1.xml" Id="R7d00598013134745"/></Relationships>
</file>

<file path=ppt/slideLayouts/_rels/slideLayout6.xml.rels><?xml version='1.0' encoding='UTF-8' standalone='yes'?>
<Relationships xmlns="http://schemas.openxmlformats.org/package/2006/relationships"><Relationship Type="http://schemas.openxmlformats.org/officeDocument/2006/relationships/slideMaster" Target="/ppt/slideMasters/slideMaster1.xml" Id="R15a03fe857214a63"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52C09C4B-43CE-439F-B503-19E8FBDC259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2D8D20E9-7A96-4630-8DD1-65E6E258463F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B151B1D7-1CCA-486F-8051-DF88B63CD7A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9DBD0909-6181-48D2-9486-D5FAE79EE5E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919299D3-6899-456D-8CA5-69C9E37F7EE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49194196-4FD8-4BF1-A640-64B56574E6D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43AEBC45-C500-4D9B-B807-B778EA0B3F7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32AC7E27-B838-4284-AB2A-2253ACBD38CA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4915FA0C-3059-4F67-B77D-03A5BD2A9BD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0DDB8F25-C2B4-4F15-9C7A-0531923C2C4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<?xml version='1.0' encoding='UTF-8' standalone='yes'?>
<Relationships xmlns="http://schemas.openxmlformats.org/package/2006/relationships"><Relationship Type="http://schemas.openxmlformats.org/officeDocument/2006/relationships/theme" Target="/ppt/slideMasters/theme/theme2.xml" Id="R43b3d2768b0140a1"/><Relationship Type="http://schemas.openxmlformats.org/officeDocument/2006/relationships/slideLayout" Target="/ppt/slideLayouts/slideLayout1.xml" Id="Ra19f2925058a4bfc"/><Relationship Type="http://schemas.openxmlformats.org/officeDocument/2006/relationships/slideLayout" Target="/ppt/slideLayouts/slideLayout2.xml" Id="R8c1512a6c83041bb"/><Relationship Type="http://schemas.openxmlformats.org/officeDocument/2006/relationships/slideLayout" Target="/ppt/slideLayouts/slideLayout3.xml" Id="R04ab971275d34284"/><Relationship Type="http://schemas.openxmlformats.org/officeDocument/2006/relationships/slideLayout" Target="/ppt/slideLayouts/slideLayout4.xml" Id="R4366644d301a401d"/><Relationship Type="http://schemas.openxmlformats.org/officeDocument/2006/relationships/slideLayout" Target="/ppt/slideLayouts/slideLayout5.xml" Id="R2c3ca293ea054972"/><Relationship Type="http://schemas.openxmlformats.org/officeDocument/2006/relationships/slideLayout" Target="/ppt/slideLayouts/slideLayout6.xml" Id="R8164927795904250"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19f2925058a4bfc"/>
    <p:sldLayoutId xmlns:r="http://schemas.openxmlformats.org/officeDocument/2006/relationships" id="2147483650" r:id="R8c1512a6c83041bb"/>
    <p:sldLayoutId xmlns:r="http://schemas.openxmlformats.org/officeDocument/2006/relationships" id="2147483651" r:id="R04ab971275d34284"/>
    <p:sldLayoutId xmlns:r="http://schemas.openxmlformats.org/officeDocument/2006/relationships" id="2147483652" r:id="R4366644d301a401d"/>
    <p:sldLayoutId xmlns:r="http://schemas.openxmlformats.org/officeDocument/2006/relationships" id="2147483653" r:id="R2c3ca293ea054972"/>
    <p:sldLayoutId xmlns:r="http://schemas.openxmlformats.org/officeDocument/2006/relationships" id="2147483654" r:id="R8164927795904250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cf825fce88cf4736"/><Relationship Type="http://schemas.openxmlformats.org/officeDocument/2006/relationships/notesSlide" Target="/ppt/notesSlides/notesSlide1.xml" Id="R3fa79efcd2d84a30"/></Relationships>
</file>

<file path=ppt/slides/_rels/slide2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bc4d56d765ae479e"/><Relationship Type="http://schemas.openxmlformats.org/officeDocument/2006/relationships/notesSlide" Target="/ppt/notesSlides/notesSlide2.xml" Id="Rc6b38322820041dc"/></Relationships>
</file>

<file path=ppt/slides/_rels/slide3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90f1c3aaaab04939"/><Relationship Type="http://schemas.openxmlformats.org/officeDocument/2006/relationships/notesSlide" Target="/ppt/notesSlides/notesSlide3.xml" Id="R0360bddb8ebd4de4"/></Relationships>
</file>

<file path=ppt/slides/_rels/slide4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5d8f30553c604a12"/><Relationship Type="http://schemas.openxmlformats.org/officeDocument/2006/relationships/notesSlide" Target="/ppt/notesSlides/notesSlide4.xml" Id="R2a47d369a7d5413e"/></Relationships>
</file>

<file path=ppt/slides/_rels/slide5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5c48c7a8aec049af"/><Relationship Type="http://schemas.openxmlformats.org/officeDocument/2006/relationships/notesSlide" Target="/ppt/notesSlides/notesSlide5.xml" Id="R3fb36af9dfd34d41"/></Relationships>
</file>

<file path=ppt/slides/_rels/slide6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7d46c2aa1f5c4ed1"/><Relationship Type="http://schemas.openxmlformats.org/officeDocument/2006/relationships/notesSlide" Target="/ppt/notesSlides/notesSlide6.xml" Id="R9fa27811f1594553"/></Relationships>
</file>

<file path=ppt/slides/_rels/slide7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723fab32a0c449a0"/><Relationship Type="http://schemas.openxmlformats.org/officeDocument/2006/relationships/image" Target="/ppt/media/image.png" Id="Reeb6a7f99ce04796"/><Relationship Type="http://schemas.openxmlformats.org/officeDocument/2006/relationships/notesSlide" Target="/ppt/notesSlides/notesSlide7.xml" Id="R7ff8ea692bc341fb"/></Relationships>
</file>

<file path=ppt/slides/_rels/slide8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be714a74af30423d"/><Relationship Type="http://schemas.openxmlformats.org/officeDocument/2006/relationships/notesSlide" Target="/ppt/notesSlides/notesSlide8.xml" Id="R30621187798e48cb"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ext-1">
            <a:extLst xmlns:a="http://schemas.openxmlformats.org/drawingml/2006/main">
              <a:ext uri="{FF2B5EF4-FFF2-40B4-BE49-F238E27FC236}">
                <a16:creationId xmlns:a16="http://schemas.microsoft.com/office/drawing/2014/main" id="{372EE456-DEA1-4068-A17A-D0F1266EE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858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3000" b="1">
                <a:solidFill>
                  <a:srgbClr val="231F20"/>
                </a:solidFill>
                <a:latin typeface="Meiryo"/>
                <a:ea typeface="Meiryo"/>
                <a:cs typeface="Meiryo"/>
              </a:defRPr>
            </a:defPPr>
          </a:lstStyle>
          <a:p xmlns:a="http://schemas.openxmlformats.org/drawingml/2006/main">
            <a:pPr algn="l">
              <a:defRPr sz="3000" b="1">
                <a:solidFill>
                  <a:srgbClr val="231F20"/>
                </a:solidFill>
                <a:latin typeface="Meiryo"/>
                <a:ea typeface="Meiryo"/>
                <a:cs typeface="Meiryo"/>
              </a:defRPr>
            </a:pPr>
            <a:r>
              <a:rPr sz="3000" b="1">
                <a:solidFill>
                  <a:srgbClr val="231F20"/>
                </a:solidFill>
                <a:latin typeface="Meiryo"/>
                <a:ea typeface="Meiryo"/>
                <a:cs typeface="Meiryo"/>
              </a:rPr>
              <a:t>FPGAを用いた二次元ゲーム機の設計と実装</a:t>
            </a:r>
          </a:p>
        </p:txBody>
      </p:sp>
      <p:sp>
        <p:nvSpPr>
          <p:cNvPr id="2" name="text-2">
            <a:extLst xmlns:a="http://schemas.openxmlformats.org/drawingml/2006/main">
              <a:ext uri="{FF2B5EF4-FFF2-40B4-BE49-F238E27FC236}">
                <a16:creationId xmlns:a16="http://schemas.microsoft.com/office/drawing/2014/main" id="{EF126B38-4ADF-4E36-842A-C30FD39EE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6362700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r">
              <a:defRPr sz="1350" b="0">
                <a:solidFill>
                  <a:srgbClr val="231F20"/>
                </a:solidFill>
                <a:latin typeface="Meiryo"/>
                <a:ea typeface="Meiryo"/>
                <a:cs typeface="Meiryo"/>
              </a:defRPr>
            </a:defPPr>
          </a:lstStyle>
          <a:p xmlns:a="http://schemas.openxmlformats.org/drawingml/2006/main">
            <a:pPr algn="r">
              <a:defRPr sz="1350" b="0">
                <a:solidFill>
                  <a:srgbClr val="231F20"/>
                </a:solidFill>
                <a:latin typeface="Meiryo"/>
                <a:ea typeface="Meiryo"/>
                <a:cs typeface="Meiryo"/>
              </a:defRPr>
            </a:pPr>
            <a:r>
              <a:rPr sz="1350" b="0">
                <a:solidFill>
                  <a:srgbClr val="231F20"/>
                </a:solidFill>
                <a:latin typeface="Meiryo"/>
                <a:ea typeface="Meiryo"/>
                <a:cs typeface="Meiryo"/>
              </a:rPr>
              <a:t>1</a:t>
            </a:r>
          </a:p>
        </p:txBody>
      </p:sp>
      <p:sp>
        <p:nvSpPr>
          <p:cNvPr id="3" name="text-3">
            <a:extLst xmlns:a="http://schemas.openxmlformats.org/drawingml/2006/main">
              <a:ext uri="{FF2B5EF4-FFF2-40B4-BE49-F238E27FC236}">
                <a16:creationId xmlns:a16="http://schemas.microsoft.com/office/drawing/2014/main" id="{F07A086F-8F23-4D4C-A484-7AE59433C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952625"/>
            <a:ext cx="10096500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3675" b="1">
                <a:solidFill>
                  <a:srgbClr val="231F20"/>
                </a:solidFill>
                <a:latin typeface="Meiryo"/>
                <a:ea typeface="Meiryo"/>
                <a:cs typeface="Meiryo"/>
              </a:defRPr>
            </a:defPPr>
          </a:lstStyle>
          <a:p xmlns:a="http://schemas.openxmlformats.org/drawingml/2006/main">
            <a:pPr algn="l">
              <a:defRPr sz="3675" b="1">
                <a:solidFill>
                  <a:srgbClr val="231F20"/>
                </a:solidFill>
                <a:latin typeface="Meiryo"/>
                <a:ea typeface="Meiryo"/>
                <a:cs typeface="Meiryo"/>
              </a:defRPr>
            </a:pPr>
            <a:r>
              <a:rPr sz="3675" b="1">
                <a:solidFill>
                  <a:srgbClr val="231F20"/>
                </a:solidFill>
                <a:latin typeface="Meiryo"/>
                <a:ea typeface="Meiryo"/>
                <a:cs typeface="Meiryo"/>
              </a:rPr>
              <a:t>公開CPUに描画機能を追加し、</a:t>
            </a:r>
          </a:p>
          <a:p xmlns:a="http://schemas.openxmlformats.org/drawingml/2006/main">
            <a:pPr algn="l">
              <a:defRPr sz="3675" b="1">
                <a:solidFill>
                  <a:srgbClr val="231F20"/>
                </a:solidFill>
                <a:latin typeface="Meiryo"/>
                <a:ea typeface="Meiryo"/>
                <a:cs typeface="Meiryo"/>
              </a:defRPr>
            </a:pPr>
            <a:r>
              <a:rPr sz="3675" b="1">
                <a:solidFill>
                  <a:srgbClr val="231F20"/>
                </a:solidFill>
                <a:latin typeface="Meiryo"/>
                <a:ea typeface="Meiryo"/>
                <a:cs typeface="Meiryo"/>
              </a:rPr>
              <a:t>ブロック崩しを動かす</a:t>
            </a:r>
          </a:p>
        </p:txBody>
      </p:sp>
      <p:sp>
        <p:nvSpPr>
          <p:cNvPr id="4" name="text-4">
            <a:extLst xmlns:a="http://schemas.openxmlformats.org/drawingml/2006/main">
              <a:ext uri="{FF2B5EF4-FFF2-40B4-BE49-F238E27FC236}">
                <a16:creationId xmlns:a16="http://schemas.microsoft.com/office/drawing/2014/main" id="{D1A09447-0D2A-49AA-B0A6-C769B247B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210050"/>
            <a:ext cx="10287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2325" b="0">
                <a:solidFill>
                  <a:srgbClr val="231F20"/>
                </a:solidFill>
                <a:latin typeface="Meiryo"/>
                <a:ea typeface="Meiryo"/>
                <a:cs typeface="Meiryo"/>
              </a:defRPr>
            </a:defPPr>
          </a:lstStyle>
          <a:p xmlns:a="http://schemas.openxmlformats.org/drawingml/2006/main">
            <a:pPr algn="l">
              <a:defRPr sz="2325" b="0">
                <a:solidFill>
                  <a:srgbClr val="231F20"/>
                </a:solidFill>
                <a:latin typeface="Meiryo"/>
                <a:ea typeface="Meiryo"/>
                <a:cs typeface="Meiryo"/>
              </a:defRPr>
            </a:pPr>
            <a:r>
              <a:rPr sz="2325" b="0">
                <a:solidFill>
                  <a:srgbClr val="231F20"/>
                </a:solidFill>
                <a:latin typeface="Meiryo"/>
                <a:ea typeface="Meiryo"/>
                <a:cs typeface="Meiryo"/>
              </a:rPr>
              <a:t>Wallyの学習者が参照できる接続設計と動作例</a:t>
            </a:r>
          </a:p>
        </p:txBody>
      </p:sp>
      <p:sp>
        <p:nvSpPr>
          <p:cNvPr id="5" name="text-5">
            <a:extLst xmlns:a="http://schemas.openxmlformats.org/drawingml/2006/main">
              <a:ext uri="{FF2B5EF4-FFF2-40B4-BE49-F238E27FC236}">
                <a16:creationId xmlns:a16="http://schemas.microsoft.com/office/drawing/2014/main" id="{CC3DAFB5-AD78-45ED-AF9D-209C628CD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581650"/>
            <a:ext cx="10287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875" b="0">
                <a:solidFill>
                  <a:srgbClr val="231F20"/>
                </a:solidFill>
                <a:latin typeface="Meiryo"/>
                <a:ea typeface="Meiryo"/>
                <a:cs typeface="Meiryo"/>
              </a:defRPr>
            </a:defPPr>
          </a:lstStyle>
          <a:p xmlns:a="http://schemas.openxmlformats.org/drawingml/2006/main">
            <a:pPr algn="l">
              <a:defRPr sz="1875" b="0">
                <a:solidFill>
                  <a:srgbClr val="231F20"/>
                </a:solidFill>
                <a:latin typeface="Meiryo"/>
                <a:ea typeface="Meiryo"/>
                <a:cs typeface="Meiryo"/>
              </a:defRPr>
            </a:pPr>
            <a:r>
              <a:rPr sz="1875" b="0">
                <a:solidFill>
                  <a:srgbClr val="231F20"/>
                </a:solidFill>
                <a:latin typeface="Meiryo"/>
                <a:ea typeface="Meiryo"/>
                <a:cs typeface="Meiryo"/>
              </a:rPr>
              <a:t>Wally：CPUの公開設計　　RasterIX：描画回路の公開設計</a:t>
            </a:r>
          </a:p>
        </p:txBody>
      </p:sp>
    </p:spTree>
    <p:extLst>
      <p:ext uri="{BB962C8B-B14F-4D97-AF65-F5344CB8AC3E}">
        <p14:creationId xmlns:p14="http://schemas.microsoft.com/office/powerpoint/2010/main" val="7346491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text-6">
            <a:extLst xmlns:a="http://schemas.openxmlformats.org/drawingml/2006/main">
              <a:ext uri="{FF2B5EF4-FFF2-40B4-BE49-F238E27FC236}">
                <a16:creationId xmlns:a16="http://schemas.microsoft.com/office/drawing/2014/main" id="{3863FDA3-1E15-4983-8184-6E42F3C18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858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3000" b="1">
                <a:solidFill>
                  <a:srgbClr val="231F20"/>
                </a:solidFill>
                <a:latin typeface="Meiryo"/>
                <a:ea typeface="Meiryo"/>
                <a:cs typeface="Meiryo"/>
              </a:defRPr>
            </a:defPPr>
          </a:lstStyle>
          <a:p xmlns:a="http://schemas.openxmlformats.org/drawingml/2006/main">
            <a:pPr algn="l">
              <a:defRPr sz="3000" b="1">
                <a:solidFill>
                  <a:srgbClr val="231F20"/>
                </a:solidFill>
                <a:latin typeface="Meiryo"/>
                <a:ea typeface="Meiryo"/>
                <a:cs typeface="Meiryo"/>
              </a:defRPr>
            </a:pPr>
            <a:r>
              <a:rPr sz="3000" b="1">
                <a:solidFill>
                  <a:srgbClr val="231F20"/>
                </a:solidFill>
                <a:latin typeface="Meiryo"/>
                <a:ea typeface="Meiryo"/>
                <a:cs typeface="Meiryo"/>
              </a:rPr>
              <a:t>FPGAボードに回路を実装する</a:t>
            </a:r>
          </a:p>
        </p:txBody>
      </p:sp>
      <p:sp>
        <p:nvSpPr>
          <p:cNvPr id="2" name="text-7">
            <a:extLst xmlns:a="http://schemas.openxmlformats.org/drawingml/2006/main">
              <a:ext uri="{FF2B5EF4-FFF2-40B4-BE49-F238E27FC236}">
                <a16:creationId xmlns:a16="http://schemas.microsoft.com/office/drawing/2014/main" id="{1490CF67-6A48-4322-9B74-9CD7B52B8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6362700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r">
              <a:defRPr sz="1350" b="0">
                <a:solidFill>
                  <a:srgbClr val="231F20"/>
                </a:solidFill>
                <a:latin typeface="Meiryo"/>
                <a:ea typeface="Meiryo"/>
                <a:cs typeface="Meiryo"/>
              </a:defRPr>
            </a:defPPr>
          </a:lstStyle>
          <a:p xmlns:a="http://schemas.openxmlformats.org/drawingml/2006/main">
            <a:pPr algn="r">
              <a:defRPr sz="1350" b="0">
                <a:solidFill>
                  <a:srgbClr val="231F20"/>
                </a:solidFill>
                <a:latin typeface="Meiryo"/>
                <a:ea typeface="Meiryo"/>
                <a:cs typeface="Meiryo"/>
              </a:defRPr>
            </a:pPr>
            <a:r>
              <a:rPr sz="1350" b="0">
                <a:solidFill>
                  <a:srgbClr val="231F20"/>
                </a:solidFill>
                <a:latin typeface="Meiryo"/>
                <a:ea typeface="Meiryo"/>
                <a:cs typeface="Meiryo"/>
              </a:rPr>
              <a:t>2</a:t>
            </a:r>
          </a:p>
        </p:txBody>
      </p:sp>
      <p:sp>
        <p:nvSpPr>
          <p:cNvPr id="3" name="circuit-8">
            <a:extLst xmlns:a="http://schemas.openxmlformats.org/drawingml/2006/main">
              <a:ext uri="{FF2B5EF4-FFF2-40B4-BE49-F238E27FC236}">
                <a16:creationId xmlns:a16="http://schemas.microsoft.com/office/drawing/2014/main" id="{05373992-33C6-4DF4-A5C6-AE04011C3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762125"/>
            <a:ext cx="10439400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231F20"/>
            </a:solidFill>
          </a:ln>
        </p:spPr>
      </p:sp>
      <p:sp>
        <p:nvSpPr>
          <p:cNvPr id="4" name="text-9">
            <a:extLst xmlns:a="http://schemas.openxmlformats.org/drawingml/2006/main">
              <a:ext uri="{FF2B5EF4-FFF2-40B4-BE49-F238E27FC236}">
                <a16:creationId xmlns:a16="http://schemas.microsoft.com/office/drawing/2014/main" id="{5C31CC03-61C6-4807-BAA5-44637F0E5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257800"/>
            <a:ext cx="3714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800" b="0">
                <a:solidFill>
                  <a:srgbClr val="231F20"/>
                </a:solidFill>
                <a:latin typeface="Meiryo"/>
                <a:ea typeface="Meiryo"/>
                <a:cs typeface="Meiryo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231F20"/>
                </a:solidFill>
                <a:latin typeface="Meiryo"/>
                <a:ea typeface="Meiryo"/>
                <a:cs typeface="Meiryo"/>
              </a:defRPr>
            </a:pPr>
            <a:r>
              <a:rPr sz="1800" b="0">
                <a:solidFill>
                  <a:srgbClr val="231F20"/>
                </a:solidFill>
                <a:latin typeface="Meiryo"/>
                <a:ea typeface="Meiryo"/>
                <a:cs typeface="Meiryo"/>
              </a:rPr>
              <a:t>Nexys Video ボード</a:t>
            </a:r>
          </a:p>
        </p:txBody>
      </p:sp>
      <p:sp>
        <p:nvSpPr>
          <p:cNvPr id="5" name="circuit-10">
            <a:extLst xmlns:a="http://schemas.openxmlformats.org/drawingml/2006/main">
              <a:ext uri="{FF2B5EF4-FFF2-40B4-BE49-F238E27FC236}">
                <a16:creationId xmlns:a16="http://schemas.microsoft.com/office/drawing/2014/main" id="{FAB0BF58-B7FE-436D-BD83-9448E1684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1962150"/>
            <a:ext cx="26860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231F20"/>
            </a:solidFill>
          </a:ln>
        </p:spPr>
      </p:sp>
      <p:sp>
        <p:nvSpPr>
          <p:cNvPr id="6" name="text-11">
            <a:extLst xmlns:a="http://schemas.openxmlformats.org/drawingml/2006/main">
              <a:ext uri="{FF2B5EF4-FFF2-40B4-BE49-F238E27FC236}">
                <a16:creationId xmlns:a16="http://schemas.microsoft.com/office/drawing/2014/main" id="{05391A28-4894-45CE-9A37-F52ED58CC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019300"/>
            <a:ext cx="2457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2100" b="0">
                <a:solidFill>
                  <a:srgbClr val="231F20"/>
                </a:solidFill>
                <a:latin typeface="Meiryo"/>
                <a:ea typeface="Meiryo"/>
                <a:cs typeface="Meiryo"/>
              </a:defRPr>
            </a:defPPr>
          </a:lstStyle>
          <a:p xmlns:a="http://schemas.openxmlformats.org/drawingml/2006/main">
            <a:pPr algn="ctr">
              <a:defRPr sz="2100" b="0">
                <a:solidFill>
                  <a:srgbClr val="231F20"/>
                </a:solidFill>
                <a:latin typeface="Meiryo"/>
                <a:ea typeface="Meiryo"/>
                <a:cs typeface="Meiryo"/>
              </a:defRPr>
            </a:pPr>
            <a:r>
              <a:rPr sz="2100" b="0">
                <a:solidFill>
                  <a:srgbClr val="231F20"/>
                </a:solidFill>
                <a:latin typeface="Meiryo"/>
                <a:ea typeface="Meiryo"/>
                <a:cs typeface="Meiryo"/>
              </a:rPr>
              <a:t>SDカード</a:t>
            </a:r>
          </a:p>
        </p:txBody>
      </p:sp>
      <p:sp>
        <p:nvSpPr>
          <p:cNvPr id="7" name="wire-12">
            <a:extLst xmlns:a="http://schemas.openxmlformats.org/drawingml/2006/main">
              <a:ext uri="{FF2B5EF4-FFF2-40B4-BE49-F238E27FC236}">
                <a16:creationId xmlns:a16="http://schemas.microsoft.com/office/drawing/2014/main" id="{92FCA9D6-FDE8-40EF-AFBE-33D1EC83C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57475" y="2552700"/>
            <a:ext cx="9525" cy="590550"/>
          </a:xfrm>
          <a:custGeom xmlns:a="http://schemas.openxmlformats.org/drawingml/2006/main">
            <a:pathLst>
              <a:path w="9525" h="590550">
                <a:moveTo>
                  <a:pt x="0" y="0"/>
                </a:moveTo>
                <a:lnTo>
                  <a:pt x="0" y="590550"/>
                </a:lnTo>
              </a:path>
            </a:pathLst>
          </a:custGeom>
          <a:noFill xmlns:a="http://schemas.openxmlformats.org/drawingml/2006/main"/>
          <a:ln xmlns:a="http://schemas.openxmlformats.org/drawingml/2006/main" w="20955">
            <a:solidFill>
              <a:srgbClr val="231F20"/>
            </a:solidFill>
          </a:ln>
        </p:spPr>
      </p:sp>
      <p:sp>
        <p:nvSpPr>
          <p:cNvPr id="8" name="circuit-13">
            <a:extLst xmlns:a="http://schemas.openxmlformats.org/drawingml/2006/main">
              <a:ext uri="{FF2B5EF4-FFF2-40B4-BE49-F238E27FC236}">
                <a16:creationId xmlns:a16="http://schemas.microsoft.com/office/drawing/2014/main" id="{953495DB-EC61-403B-BF84-138C437B7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33925" y="1962150"/>
            <a:ext cx="26860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231F20"/>
            </a:solidFill>
          </a:ln>
        </p:spPr>
      </p:sp>
      <p:sp>
        <p:nvSpPr>
          <p:cNvPr id="9" name="text-14">
            <a:extLst xmlns:a="http://schemas.openxmlformats.org/drawingml/2006/main">
              <a:ext uri="{FF2B5EF4-FFF2-40B4-BE49-F238E27FC236}">
                <a16:creationId xmlns:a16="http://schemas.microsoft.com/office/drawing/2014/main" id="{0151820F-14B2-4B33-A29F-6DFC573C0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8225" y="2019300"/>
            <a:ext cx="2457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2100" b="0">
                <a:solidFill>
                  <a:srgbClr val="231F20"/>
                </a:solidFill>
                <a:latin typeface="Meiryo"/>
                <a:ea typeface="Meiryo"/>
                <a:cs typeface="Meiryo"/>
              </a:defRPr>
            </a:defPPr>
          </a:lstStyle>
          <a:p xmlns:a="http://schemas.openxmlformats.org/drawingml/2006/main">
            <a:pPr algn="ctr">
              <a:defRPr sz="2100" b="0">
                <a:solidFill>
                  <a:srgbClr val="231F20"/>
                </a:solidFill>
                <a:latin typeface="Meiryo"/>
                <a:ea typeface="Meiryo"/>
                <a:cs typeface="Meiryo"/>
              </a:defRPr>
            </a:pPr>
            <a:r>
              <a:rPr sz="2100" b="0">
                <a:solidFill>
                  <a:srgbClr val="231F20"/>
                </a:solidFill>
                <a:latin typeface="Meiryo"/>
                <a:ea typeface="Meiryo"/>
                <a:cs typeface="Meiryo"/>
              </a:rPr>
              <a:t>DDR3メモリ</a:t>
            </a:r>
          </a:p>
        </p:txBody>
      </p:sp>
      <p:sp>
        <p:nvSpPr>
          <p:cNvPr id="10" name="wire-15">
            <a:extLst xmlns:a="http://schemas.openxmlformats.org/drawingml/2006/main">
              <a:ext uri="{FF2B5EF4-FFF2-40B4-BE49-F238E27FC236}">
                <a16:creationId xmlns:a16="http://schemas.microsoft.com/office/drawing/2014/main" id="{047347E6-7A7C-41B7-87F3-C5E92AF79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2552700"/>
            <a:ext cx="9525" cy="590550"/>
          </a:xfrm>
          <a:custGeom xmlns:a="http://schemas.openxmlformats.org/drawingml/2006/main">
            <a:pathLst>
              <a:path w="9525" h="590550">
                <a:moveTo>
                  <a:pt x="0" y="0"/>
                </a:moveTo>
                <a:lnTo>
                  <a:pt x="0" y="590550"/>
                </a:lnTo>
              </a:path>
            </a:pathLst>
          </a:custGeom>
          <a:noFill xmlns:a="http://schemas.openxmlformats.org/drawingml/2006/main"/>
          <a:ln xmlns:a="http://schemas.openxmlformats.org/drawingml/2006/main" w="20955">
            <a:solidFill>
              <a:srgbClr val="231F20"/>
            </a:solidFill>
          </a:ln>
        </p:spPr>
      </p:sp>
      <p:sp>
        <p:nvSpPr>
          <p:cNvPr id="11" name="circuit-16">
            <a:extLst xmlns:a="http://schemas.openxmlformats.org/drawingml/2006/main">
              <a:ext uri="{FF2B5EF4-FFF2-40B4-BE49-F238E27FC236}">
                <a16:creationId xmlns:a16="http://schemas.microsoft.com/office/drawing/2014/main" id="{F65977CD-0281-453F-A239-7A66CEA77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1962150"/>
            <a:ext cx="26860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231F20"/>
            </a:solidFill>
          </a:ln>
        </p:spPr>
      </p:sp>
      <p:sp>
        <p:nvSpPr>
          <p:cNvPr id="12" name="text-17">
            <a:extLst xmlns:a="http://schemas.openxmlformats.org/drawingml/2006/main">
              <a:ext uri="{FF2B5EF4-FFF2-40B4-BE49-F238E27FC236}">
                <a16:creationId xmlns:a16="http://schemas.microsoft.com/office/drawing/2014/main" id="{1A488734-5C85-4FCD-AACF-181DA9C7F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019300"/>
            <a:ext cx="2457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2100" b="0">
                <a:solidFill>
                  <a:srgbClr val="231F20"/>
                </a:solidFill>
                <a:latin typeface="Meiryo"/>
                <a:ea typeface="Meiryo"/>
                <a:cs typeface="Meiryo"/>
              </a:defRPr>
            </a:defPPr>
          </a:lstStyle>
          <a:p xmlns:a="http://schemas.openxmlformats.org/drawingml/2006/main">
            <a:pPr algn="ctr">
              <a:defRPr sz="2100" b="0">
                <a:solidFill>
                  <a:srgbClr val="231F20"/>
                </a:solidFill>
                <a:latin typeface="Meiryo"/>
                <a:ea typeface="Meiryo"/>
                <a:cs typeface="Meiryo"/>
              </a:defRPr>
            </a:pPr>
            <a:r>
              <a:rPr sz="2100" b="0">
                <a:solidFill>
                  <a:srgbClr val="231F20"/>
                </a:solidFill>
                <a:latin typeface="Meiryo"/>
                <a:ea typeface="Meiryo"/>
                <a:cs typeface="Meiryo"/>
              </a:rPr>
              <a:t>HDMI端子</a:t>
            </a:r>
          </a:p>
        </p:txBody>
      </p:sp>
      <p:sp>
        <p:nvSpPr>
          <p:cNvPr id="13" name="wire-18">
            <a:extLst xmlns:a="http://schemas.openxmlformats.org/drawingml/2006/main">
              <a:ext uri="{FF2B5EF4-FFF2-40B4-BE49-F238E27FC236}">
                <a16:creationId xmlns:a16="http://schemas.microsoft.com/office/drawing/2014/main" id="{49F61818-50D0-48CB-8A6F-F91D1349A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96425" y="2552700"/>
            <a:ext cx="9525" cy="590550"/>
          </a:xfrm>
          <a:custGeom xmlns:a="http://schemas.openxmlformats.org/drawingml/2006/main">
            <a:pathLst>
              <a:path w="9525" h="590550">
                <a:moveTo>
                  <a:pt x="0" y="0"/>
                </a:moveTo>
                <a:lnTo>
                  <a:pt x="0" y="590550"/>
                </a:lnTo>
              </a:path>
            </a:pathLst>
          </a:custGeom>
          <a:noFill xmlns:a="http://schemas.openxmlformats.org/drawingml/2006/main"/>
          <a:ln xmlns:a="http://schemas.openxmlformats.org/drawingml/2006/main" w="20955">
            <a:solidFill>
              <a:srgbClr val="231F20"/>
            </a:solidFill>
          </a:ln>
        </p:spPr>
      </p:sp>
      <p:sp>
        <p:nvSpPr>
          <p:cNvPr id="14" name="circuit-19">
            <a:extLst xmlns:a="http://schemas.openxmlformats.org/drawingml/2006/main">
              <a:ext uri="{FF2B5EF4-FFF2-40B4-BE49-F238E27FC236}">
                <a16:creationId xmlns:a16="http://schemas.microsoft.com/office/drawing/2014/main" id="{3996FD2A-6BFA-4AE1-BFA3-ADBB06390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3143250"/>
            <a:ext cx="8724900" cy="1905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BF8"/>
          </a:solidFill>
          <a:ln xmlns:a="http://schemas.openxmlformats.org/drawingml/2006/main" w="19050">
            <a:solidFill>
              <a:srgbClr val="231F20"/>
            </a:solidFill>
          </a:ln>
        </p:spPr>
      </p:sp>
      <p:sp>
        <p:nvSpPr>
          <p:cNvPr id="15" name="text-20">
            <a:extLst xmlns:a="http://schemas.openxmlformats.org/drawingml/2006/main">
              <a:ext uri="{FF2B5EF4-FFF2-40B4-BE49-F238E27FC236}">
                <a16:creationId xmlns:a16="http://schemas.microsoft.com/office/drawing/2014/main" id="{8B2BAFFE-7B43-4AAB-BD58-AB017DF64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333375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2100" b="1">
                <a:solidFill>
                  <a:srgbClr val="231F20"/>
                </a:solidFill>
                <a:latin typeface="Meiryo"/>
                <a:ea typeface="Meiryo"/>
                <a:cs typeface="Meiryo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231F20"/>
                </a:solidFill>
                <a:latin typeface="Meiryo"/>
                <a:ea typeface="Meiryo"/>
                <a:cs typeface="Meiryo"/>
              </a:defRPr>
            </a:pPr>
            <a:r>
              <a:rPr sz="2100" b="1">
                <a:solidFill>
                  <a:srgbClr val="231F20"/>
                </a:solidFill>
                <a:latin typeface="Meiryo"/>
                <a:ea typeface="Meiryo"/>
                <a:cs typeface="Meiryo"/>
              </a:rPr>
              <a:t>FPGAチップ</a:t>
            </a:r>
          </a:p>
        </p:txBody>
      </p:sp>
      <p:sp>
        <p:nvSpPr>
          <p:cNvPr id="16" name="and-gate-21">
            <a:extLst xmlns:a="http://schemas.openxmlformats.org/drawingml/2006/main">
              <a:ext uri="{FF2B5EF4-FFF2-40B4-BE49-F238E27FC236}">
                <a16:creationId xmlns:a16="http://schemas.microsoft.com/office/drawing/2014/main" id="{DB9AC41B-8BF9-4BFF-839C-7A011FECB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4019550"/>
            <a:ext cx="628650" cy="609600"/>
          </a:xfrm>
          <a:custGeom xmlns:a="http://schemas.openxmlformats.org/drawingml/2006/main">
            <a:pathLst>
              <a:path w="628650" h="609600">
                <a:moveTo>
                  <a:pt x="0" y="0"/>
                </a:moveTo>
                <a:lnTo>
                  <a:pt x="304800" y="0"/>
                </a:lnTo>
                <a:cubicBezTo>
                  <a:pt x="723900" y="0"/>
                  <a:pt x="723900" y="609600"/>
                  <a:pt x="304800" y="609600"/>
                </a:cubicBezTo>
                <a:lnTo>
                  <a:pt x="0" y="609600"/>
                </a:lnTo>
                <a:close/>
              </a:path>
            </a:pathLst>
          </a:cu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231F20"/>
            </a:solidFill>
          </a:ln>
        </p:spPr>
      </p:sp>
      <p:sp>
        <p:nvSpPr>
          <p:cNvPr id="17" name="wire-22">
            <a:extLst xmlns:a="http://schemas.openxmlformats.org/drawingml/2006/main">
              <a:ext uri="{FF2B5EF4-FFF2-40B4-BE49-F238E27FC236}">
                <a16:creationId xmlns:a16="http://schemas.microsoft.com/office/drawing/2014/main" id="{D583666B-47F9-4349-A60B-584F98ED3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4162425"/>
            <a:ext cx="285750" cy="9525"/>
          </a:xfrm>
          <a:custGeom xmlns:a="http://schemas.openxmlformats.org/drawingml/2006/main">
            <a:pathLst>
              <a:path w="285750" h="9525">
                <a:moveTo>
                  <a:pt x="0" y="0"/>
                </a:moveTo>
                <a:lnTo>
                  <a:pt x="2857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955">
            <a:solidFill>
              <a:srgbClr val="231F20"/>
            </a:solidFill>
          </a:ln>
        </p:spPr>
      </p:sp>
      <p:sp>
        <p:nvSpPr>
          <p:cNvPr id="18" name="wire-23">
            <a:extLst xmlns:a="http://schemas.openxmlformats.org/drawingml/2006/main">
              <a:ext uri="{FF2B5EF4-FFF2-40B4-BE49-F238E27FC236}">
                <a16:creationId xmlns:a16="http://schemas.microsoft.com/office/drawing/2014/main" id="{FCF2B3CE-7954-411B-85E8-2D882B800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4486275"/>
            <a:ext cx="285750" cy="9525"/>
          </a:xfrm>
          <a:custGeom xmlns:a="http://schemas.openxmlformats.org/drawingml/2006/main">
            <a:pathLst>
              <a:path w="285750" h="9525">
                <a:moveTo>
                  <a:pt x="0" y="0"/>
                </a:moveTo>
                <a:lnTo>
                  <a:pt x="2857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955">
            <a:solidFill>
              <a:srgbClr val="231F20"/>
            </a:solidFill>
          </a:ln>
        </p:spPr>
      </p:sp>
      <p:sp>
        <p:nvSpPr>
          <p:cNvPr id="19" name="wire-24">
            <a:extLst xmlns:a="http://schemas.openxmlformats.org/drawingml/2006/main">
              <a:ext uri="{FF2B5EF4-FFF2-40B4-BE49-F238E27FC236}">
                <a16:creationId xmlns:a16="http://schemas.microsoft.com/office/drawing/2014/main" id="{F259A039-78D8-48C2-A2C1-AC84F5B48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4324350"/>
            <a:ext cx="323850" cy="9525"/>
          </a:xfrm>
          <a:custGeom xmlns:a="http://schemas.openxmlformats.org/drawingml/2006/main">
            <a:pathLst>
              <a:path w="323850" h="9525">
                <a:moveTo>
                  <a:pt x="0" y="0"/>
                </a:moveTo>
                <a:lnTo>
                  <a:pt x="3238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955">
            <a:solidFill>
              <a:srgbClr val="231F20"/>
            </a:solidFill>
          </a:ln>
        </p:spPr>
      </p:sp>
      <p:sp>
        <p:nvSpPr>
          <p:cNvPr id="20" name="and-gate-25">
            <a:extLst xmlns:a="http://schemas.openxmlformats.org/drawingml/2006/main">
              <a:ext uri="{FF2B5EF4-FFF2-40B4-BE49-F238E27FC236}">
                <a16:creationId xmlns:a16="http://schemas.microsoft.com/office/drawing/2014/main" id="{78A04EC9-5213-4B28-B2A1-0729328CC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4019550"/>
            <a:ext cx="628650" cy="609600"/>
          </a:xfrm>
          <a:custGeom xmlns:a="http://schemas.openxmlformats.org/drawingml/2006/main">
            <a:pathLst>
              <a:path w="628650" h="609600">
                <a:moveTo>
                  <a:pt x="0" y="0"/>
                </a:moveTo>
                <a:lnTo>
                  <a:pt x="304800" y="0"/>
                </a:lnTo>
                <a:cubicBezTo>
                  <a:pt x="723900" y="0"/>
                  <a:pt x="723900" y="609600"/>
                  <a:pt x="304800" y="609600"/>
                </a:cubicBezTo>
                <a:lnTo>
                  <a:pt x="0" y="609600"/>
                </a:lnTo>
                <a:close/>
              </a:path>
            </a:pathLst>
          </a:cu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231F20"/>
            </a:solidFill>
          </a:ln>
        </p:spPr>
      </p:sp>
      <p:sp>
        <p:nvSpPr>
          <p:cNvPr id="21" name="wire-26">
            <a:extLst xmlns:a="http://schemas.openxmlformats.org/drawingml/2006/main">
              <a:ext uri="{FF2B5EF4-FFF2-40B4-BE49-F238E27FC236}">
                <a16:creationId xmlns:a16="http://schemas.microsoft.com/office/drawing/2014/main" id="{CA6DA666-6745-46E7-8BEF-7E222CEDF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4162425"/>
            <a:ext cx="285750" cy="9525"/>
          </a:xfrm>
          <a:custGeom xmlns:a="http://schemas.openxmlformats.org/drawingml/2006/main">
            <a:pathLst>
              <a:path w="285750" h="9525">
                <a:moveTo>
                  <a:pt x="0" y="0"/>
                </a:moveTo>
                <a:lnTo>
                  <a:pt x="2857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955">
            <a:solidFill>
              <a:srgbClr val="231F20"/>
            </a:solidFill>
          </a:ln>
        </p:spPr>
      </p:sp>
      <p:sp>
        <p:nvSpPr>
          <p:cNvPr id="22" name="wire-27">
            <a:extLst xmlns:a="http://schemas.openxmlformats.org/drawingml/2006/main">
              <a:ext uri="{FF2B5EF4-FFF2-40B4-BE49-F238E27FC236}">
                <a16:creationId xmlns:a16="http://schemas.microsoft.com/office/drawing/2014/main" id="{88A590A2-7432-4954-9E6C-4F317FF77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4486275"/>
            <a:ext cx="285750" cy="9525"/>
          </a:xfrm>
          <a:custGeom xmlns:a="http://schemas.openxmlformats.org/drawingml/2006/main">
            <a:pathLst>
              <a:path w="285750" h="9525">
                <a:moveTo>
                  <a:pt x="0" y="0"/>
                </a:moveTo>
                <a:lnTo>
                  <a:pt x="2857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955">
            <a:solidFill>
              <a:srgbClr val="231F20"/>
            </a:solidFill>
          </a:ln>
        </p:spPr>
      </p:sp>
      <p:sp>
        <p:nvSpPr>
          <p:cNvPr id="23" name="wire-28">
            <a:extLst xmlns:a="http://schemas.openxmlformats.org/drawingml/2006/main">
              <a:ext uri="{FF2B5EF4-FFF2-40B4-BE49-F238E27FC236}">
                <a16:creationId xmlns:a16="http://schemas.microsoft.com/office/drawing/2014/main" id="{05557752-FBAC-4E05-8A1E-492D0D9DD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4324350"/>
            <a:ext cx="323850" cy="9525"/>
          </a:xfrm>
          <a:custGeom xmlns:a="http://schemas.openxmlformats.org/drawingml/2006/main">
            <a:pathLst>
              <a:path w="323850" h="9525">
                <a:moveTo>
                  <a:pt x="0" y="0"/>
                </a:moveTo>
                <a:lnTo>
                  <a:pt x="3238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955">
            <a:solidFill>
              <a:srgbClr val="231F20"/>
            </a:solidFill>
          </a:ln>
        </p:spPr>
      </p:sp>
      <p:sp>
        <p:nvSpPr>
          <p:cNvPr id="24" name="logic-29">
            <a:extLst xmlns:a="http://schemas.openxmlformats.org/drawingml/2006/main">
              <a:ext uri="{FF2B5EF4-FFF2-40B4-BE49-F238E27FC236}">
                <a16:creationId xmlns:a16="http://schemas.microsoft.com/office/drawing/2014/main" id="{72FCE0EC-0C1B-407F-B3BD-A7678A3FD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4019550"/>
            <a:ext cx="552450" cy="609600"/>
          </a:xfrm>
          <a:custGeom xmlns:a="http://schemas.openxmlformats.org/drawingml/2006/main">
            <a:pathLst>
              <a:path w="552450" h="609600">
                <a:moveTo>
                  <a:pt x="0" y="0"/>
                </a:moveTo>
                <a:lnTo>
                  <a:pt x="0" y="609600"/>
                </a:lnTo>
                <a:lnTo>
                  <a:pt x="552450" y="304800"/>
                </a:lnTo>
                <a:close/>
              </a:path>
            </a:pathLst>
          </a:cu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231F20"/>
            </a:solidFill>
          </a:ln>
        </p:spPr>
      </p:sp>
      <p:sp>
        <p:nvSpPr>
          <p:cNvPr id="25" name="wire-30">
            <a:extLst xmlns:a="http://schemas.openxmlformats.org/drawingml/2006/main">
              <a:ext uri="{FF2B5EF4-FFF2-40B4-BE49-F238E27FC236}">
                <a16:creationId xmlns:a16="http://schemas.microsoft.com/office/drawing/2014/main" id="{A70D2938-EB1F-453D-8412-A05260683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4324350"/>
            <a:ext cx="1257300" cy="9525"/>
          </a:xfrm>
          <a:custGeom xmlns:a="http://schemas.openxmlformats.org/drawingml/2006/main">
            <a:pathLst>
              <a:path w="1257300" h="9525">
                <a:moveTo>
                  <a:pt x="0" y="0"/>
                </a:moveTo>
                <a:lnTo>
                  <a:pt x="12573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955">
            <a:solidFill>
              <a:srgbClr val="231F20"/>
            </a:solidFill>
          </a:ln>
        </p:spPr>
      </p:sp>
      <p:sp>
        <p:nvSpPr>
          <p:cNvPr id="26" name="wire-31">
            <a:extLst xmlns:a="http://schemas.openxmlformats.org/drawingml/2006/main">
              <a:ext uri="{FF2B5EF4-FFF2-40B4-BE49-F238E27FC236}">
                <a16:creationId xmlns:a16="http://schemas.microsoft.com/office/drawing/2014/main" id="{02AC4277-3990-4E36-B386-B63A5DB5BB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4324350"/>
            <a:ext cx="990600" cy="9525"/>
          </a:xfrm>
          <a:custGeom xmlns:a="http://schemas.openxmlformats.org/drawingml/2006/main">
            <a:pathLst>
              <a:path w="990600" h="9525">
                <a:moveTo>
                  <a:pt x="0" y="0"/>
                </a:moveTo>
                <a:lnTo>
                  <a:pt x="9906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955">
            <a:solidFill>
              <a:srgbClr val="231F20"/>
            </a:solidFill>
          </a:ln>
        </p:spPr>
      </p:sp>
      <p:sp>
        <p:nvSpPr>
          <p:cNvPr id="27" name="text-32">
            <a:extLst xmlns:a="http://schemas.openxmlformats.org/drawingml/2006/main">
              <a:ext uri="{FF2B5EF4-FFF2-40B4-BE49-F238E27FC236}">
                <a16:creationId xmlns:a16="http://schemas.microsoft.com/office/drawing/2014/main" id="{1CAB55F3-FFAB-45F7-BED5-D136AE7A1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95625" y="5772150"/>
            <a:ext cx="685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2175" b="0">
                <a:solidFill>
                  <a:srgbClr val="231F20"/>
                </a:solidFill>
                <a:latin typeface="Meiryo"/>
                <a:ea typeface="Meiryo"/>
                <a:cs typeface="Meiryo"/>
              </a:defRPr>
            </a:defPPr>
          </a:lstStyle>
          <a:p xmlns:a="http://schemas.openxmlformats.org/drawingml/2006/main">
            <a:pPr algn="ctr">
              <a:defRPr sz="2175" b="0">
                <a:solidFill>
                  <a:srgbClr val="231F20"/>
                </a:solidFill>
                <a:latin typeface="Meiryo"/>
                <a:ea typeface="Meiryo"/>
                <a:cs typeface="Meiryo"/>
              </a:defRPr>
            </a:pPr>
            <a:r>
              <a:rPr sz="2175" b="0">
                <a:solidFill>
                  <a:srgbClr val="231F20"/>
                </a:solidFill>
                <a:latin typeface="Meiryo"/>
                <a:ea typeface="Meiryo"/>
                <a:cs typeface="Meiryo"/>
              </a:rPr>
              <a:t>設定に応じて論理ゲートなどを接続</a:t>
            </a:r>
          </a:p>
        </p:txBody>
      </p:sp>
    </p:spTree>
    <p:extLst>
      <p:ext uri="{BB962C8B-B14F-4D97-AF65-F5344CB8AC3E}">
        <p14:creationId xmlns:p14="http://schemas.microsoft.com/office/powerpoint/2010/main" val="52063686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7" name="text-33">
            <a:extLst xmlns:a="http://schemas.openxmlformats.org/drawingml/2006/main">
              <a:ext uri="{FF2B5EF4-FFF2-40B4-BE49-F238E27FC236}">
                <a16:creationId xmlns:a16="http://schemas.microsoft.com/office/drawing/2014/main" id="{DE0F1A8D-9AA3-43C1-A816-CCC884548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858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3000" b="1">
                <a:solidFill>
                  <a:srgbClr val="231F20"/>
                </a:solidFill>
                <a:latin typeface="Meiryo"/>
                <a:ea typeface="Meiryo"/>
                <a:cs typeface="Meiryo"/>
              </a:defRPr>
            </a:defPPr>
          </a:lstStyle>
          <a:p xmlns:a="http://schemas.openxmlformats.org/drawingml/2006/main">
            <a:pPr algn="l">
              <a:defRPr sz="3000" b="1">
                <a:solidFill>
                  <a:srgbClr val="231F20"/>
                </a:solidFill>
                <a:latin typeface="Meiryo"/>
                <a:ea typeface="Meiryo"/>
                <a:cs typeface="Meiryo"/>
              </a:defRPr>
            </a:pPr>
            <a:r>
              <a:rPr sz="3000" b="1">
                <a:solidFill>
                  <a:srgbClr val="231F20"/>
                </a:solidFill>
                <a:latin typeface="Meiryo"/>
                <a:ea typeface="Meiryo"/>
                <a:cs typeface="Meiryo"/>
              </a:rPr>
              <a:t>CPUと描画回路を一つのチップに接続する</a:t>
            </a:r>
          </a:p>
        </p:txBody>
      </p:sp>
      <p:sp>
        <p:nvSpPr>
          <p:cNvPr id="2" name="text-34">
            <a:extLst xmlns:a="http://schemas.openxmlformats.org/drawingml/2006/main">
              <a:ext uri="{FF2B5EF4-FFF2-40B4-BE49-F238E27FC236}">
                <a16:creationId xmlns:a16="http://schemas.microsoft.com/office/drawing/2014/main" id="{8D7A5100-7F03-4689-B842-F03DA0D3E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6362700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r">
              <a:defRPr sz="1350" b="0">
                <a:solidFill>
                  <a:srgbClr val="231F20"/>
                </a:solidFill>
                <a:latin typeface="Meiryo"/>
                <a:ea typeface="Meiryo"/>
                <a:cs typeface="Meiryo"/>
              </a:defRPr>
            </a:defPPr>
          </a:lstStyle>
          <a:p xmlns:a="http://schemas.openxmlformats.org/drawingml/2006/main">
            <a:pPr algn="r">
              <a:defRPr sz="1350" b="0">
                <a:solidFill>
                  <a:srgbClr val="231F20"/>
                </a:solidFill>
                <a:latin typeface="Meiryo"/>
                <a:ea typeface="Meiryo"/>
                <a:cs typeface="Meiryo"/>
              </a:defRPr>
            </a:pPr>
            <a:r>
              <a:rPr sz="1350" b="0">
                <a:solidFill>
                  <a:srgbClr val="231F20"/>
                </a:solidFill>
                <a:latin typeface="Meiryo"/>
                <a:ea typeface="Meiryo"/>
                <a:cs typeface="Meiryo"/>
              </a:rPr>
              <a:t>3</a:t>
            </a:r>
          </a:p>
        </p:txBody>
      </p:sp>
      <p:sp>
        <p:nvSpPr>
          <p:cNvPr id="3" name="circuit-35">
            <a:extLst xmlns:a="http://schemas.openxmlformats.org/drawingml/2006/main">
              <a:ext uri="{FF2B5EF4-FFF2-40B4-BE49-F238E27FC236}">
                <a16:creationId xmlns:a16="http://schemas.microsoft.com/office/drawing/2014/main" id="{B75B7D27-F37E-4802-8329-0D1524566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66850"/>
            <a:ext cx="10629900" cy="468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231F20"/>
            </a:solidFill>
          </a:ln>
        </p:spPr>
      </p:sp>
      <p:sp>
        <p:nvSpPr>
          <p:cNvPr id="4" name="circuit-36">
            <a:extLst xmlns:a="http://schemas.openxmlformats.org/drawingml/2006/main">
              <a:ext uri="{FF2B5EF4-FFF2-40B4-BE49-F238E27FC236}">
                <a16:creationId xmlns:a16="http://schemas.microsoft.com/office/drawing/2014/main" id="{036F085C-6A3D-4E2F-8B37-276DF089E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1628775"/>
            <a:ext cx="26860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231F20"/>
            </a:solidFill>
          </a:ln>
        </p:spPr>
      </p:sp>
      <p:sp>
        <p:nvSpPr>
          <p:cNvPr id="5" name="text-37">
            <a:extLst xmlns:a="http://schemas.openxmlformats.org/drawingml/2006/main">
              <a:ext uri="{FF2B5EF4-FFF2-40B4-BE49-F238E27FC236}">
                <a16:creationId xmlns:a16="http://schemas.microsoft.com/office/drawing/2014/main" id="{828901AC-987B-4E10-B49A-7E7F0D0D6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1685925"/>
            <a:ext cx="2457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2100" b="0">
                <a:solidFill>
                  <a:srgbClr val="231F20"/>
                </a:solidFill>
                <a:latin typeface="Meiryo"/>
                <a:ea typeface="Meiryo"/>
                <a:cs typeface="Meiryo"/>
              </a:defRPr>
            </a:defPPr>
          </a:lstStyle>
          <a:p xmlns:a="http://schemas.openxmlformats.org/drawingml/2006/main">
            <a:pPr algn="ctr">
              <a:defRPr sz="2100" b="0">
                <a:solidFill>
                  <a:srgbClr val="231F20"/>
                </a:solidFill>
                <a:latin typeface="Meiryo"/>
                <a:ea typeface="Meiryo"/>
                <a:cs typeface="Meiryo"/>
              </a:defRPr>
            </a:pPr>
            <a:r>
              <a:rPr sz="2100" b="0">
                <a:solidFill>
                  <a:srgbClr val="231F20"/>
                </a:solidFill>
                <a:latin typeface="Meiryo"/>
                <a:ea typeface="Meiryo"/>
                <a:cs typeface="Meiryo"/>
              </a:rPr>
              <a:t>SDカード</a:t>
            </a:r>
          </a:p>
        </p:txBody>
      </p:sp>
      <p:sp>
        <p:nvSpPr>
          <p:cNvPr id="6" name="circuit-38">
            <a:extLst xmlns:a="http://schemas.openxmlformats.org/drawingml/2006/main">
              <a:ext uri="{FF2B5EF4-FFF2-40B4-BE49-F238E27FC236}">
                <a16:creationId xmlns:a16="http://schemas.microsoft.com/office/drawing/2014/main" id="{2739B40C-BB31-42FC-A1C6-11180FF18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2975" y="1628775"/>
            <a:ext cx="26860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231F20"/>
            </a:solidFill>
          </a:ln>
        </p:spPr>
      </p:sp>
      <p:sp>
        <p:nvSpPr>
          <p:cNvPr id="7" name="text-39">
            <a:extLst xmlns:a="http://schemas.openxmlformats.org/drawingml/2006/main">
              <a:ext uri="{FF2B5EF4-FFF2-40B4-BE49-F238E27FC236}">
                <a16:creationId xmlns:a16="http://schemas.microsoft.com/office/drawing/2014/main" id="{BF32214B-05CC-4946-AC36-9D4F3B868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7275" y="1685925"/>
            <a:ext cx="2457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2100" b="0">
                <a:solidFill>
                  <a:srgbClr val="231F20"/>
                </a:solidFill>
                <a:latin typeface="Meiryo"/>
                <a:ea typeface="Meiryo"/>
                <a:cs typeface="Meiryo"/>
              </a:defRPr>
            </a:defPPr>
          </a:lstStyle>
          <a:p xmlns:a="http://schemas.openxmlformats.org/drawingml/2006/main">
            <a:pPr algn="ctr">
              <a:defRPr sz="2100" b="0">
                <a:solidFill>
                  <a:srgbClr val="231F20"/>
                </a:solidFill>
                <a:latin typeface="Meiryo"/>
                <a:ea typeface="Meiryo"/>
                <a:cs typeface="Meiryo"/>
              </a:defRPr>
            </a:pPr>
            <a:r>
              <a:rPr sz="2100" b="0">
                <a:solidFill>
                  <a:srgbClr val="231F20"/>
                </a:solidFill>
                <a:latin typeface="Meiryo"/>
                <a:ea typeface="Meiryo"/>
                <a:cs typeface="Meiryo"/>
              </a:rPr>
              <a:t>DDR3メモリ</a:t>
            </a:r>
          </a:p>
        </p:txBody>
      </p:sp>
      <p:sp>
        <p:nvSpPr>
          <p:cNvPr id="8" name="circuit-40">
            <a:extLst xmlns:a="http://schemas.openxmlformats.org/drawingml/2006/main">
              <a:ext uri="{FF2B5EF4-FFF2-40B4-BE49-F238E27FC236}">
                <a16:creationId xmlns:a16="http://schemas.microsoft.com/office/drawing/2014/main" id="{98765259-E442-4199-9CCB-C8696C0A2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1628775"/>
            <a:ext cx="26860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231F20"/>
            </a:solidFill>
          </a:ln>
        </p:spPr>
      </p:sp>
      <p:sp>
        <p:nvSpPr>
          <p:cNvPr id="9" name="text-41">
            <a:extLst xmlns:a="http://schemas.openxmlformats.org/drawingml/2006/main">
              <a:ext uri="{FF2B5EF4-FFF2-40B4-BE49-F238E27FC236}">
                <a16:creationId xmlns:a16="http://schemas.microsoft.com/office/drawing/2014/main" id="{BDFC6F0F-3A88-4613-99BD-C23529955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1685925"/>
            <a:ext cx="2457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2100" b="0">
                <a:solidFill>
                  <a:srgbClr val="231F20"/>
                </a:solidFill>
                <a:latin typeface="Meiryo"/>
                <a:ea typeface="Meiryo"/>
                <a:cs typeface="Meiryo"/>
              </a:defRPr>
            </a:defPPr>
          </a:lstStyle>
          <a:p xmlns:a="http://schemas.openxmlformats.org/drawingml/2006/main">
            <a:pPr algn="ctr">
              <a:defRPr sz="2100" b="0">
                <a:solidFill>
                  <a:srgbClr val="231F20"/>
                </a:solidFill>
                <a:latin typeface="Meiryo"/>
                <a:ea typeface="Meiryo"/>
                <a:cs typeface="Meiryo"/>
              </a:defRPr>
            </a:pPr>
            <a:r>
              <a:rPr sz="2100" b="0">
                <a:solidFill>
                  <a:srgbClr val="231F20"/>
                </a:solidFill>
                <a:latin typeface="Meiryo"/>
                <a:ea typeface="Meiryo"/>
                <a:cs typeface="Meiryo"/>
              </a:rPr>
              <a:t>HDMI端子</a:t>
            </a:r>
          </a:p>
        </p:txBody>
      </p:sp>
      <p:sp>
        <p:nvSpPr>
          <p:cNvPr id="10" name="circuit-42">
            <a:extLst xmlns:a="http://schemas.openxmlformats.org/drawingml/2006/main">
              <a:ext uri="{FF2B5EF4-FFF2-40B4-BE49-F238E27FC236}">
                <a16:creationId xmlns:a16="http://schemas.microsoft.com/office/drawing/2014/main" id="{4351597F-E4DA-4836-8A77-7972DCAD3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581275"/>
            <a:ext cx="10172700" cy="3352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BF8"/>
          </a:solidFill>
          <a:ln xmlns:a="http://schemas.openxmlformats.org/drawingml/2006/main" w="19050">
            <a:solidFill>
              <a:srgbClr val="231F20"/>
            </a:solidFill>
          </a:ln>
        </p:spPr>
      </p:sp>
      <p:sp>
        <p:nvSpPr>
          <p:cNvPr id="11" name="text-43">
            <a:extLst xmlns:a="http://schemas.openxmlformats.org/drawingml/2006/main">
              <a:ext uri="{FF2B5EF4-FFF2-40B4-BE49-F238E27FC236}">
                <a16:creationId xmlns:a16="http://schemas.microsoft.com/office/drawing/2014/main" id="{552E4753-2A75-4FEA-A4DB-B93AB0F27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667000"/>
            <a:ext cx="2333625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725" b="1">
                <a:solidFill>
                  <a:srgbClr val="231F20"/>
                </a:solidFill>
                <a:latin typeface="Meiryo"/>
                <a:ea typeface="Meiryo"/>
                <a:cs typeface="Meiryo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231F20"/>
                </a:solidFill>
                <a:latin typeface="Meiryo"/>
                <a:ea typeface="Meiryo"/>
                <a:cs typeface="Meiryo"/>
              </a:defRPr>
            </a:pPr>
            <a:r>
              <a:rPr sz="1725" b="1">
                <a:solidFill>
                  <a:srgbClr val="231F20"/>
                </a:solidFill>
                <a:latin typeface="Meiryo"/>
                <a:ea typeface="Meiryo"/>
                <a:cs typeface="Meiryo"/>
              </a:rPr>
              <a:t>FPGAチップ</a:t>
            </a:r>
          </a:p>
        </p:txBody>
      </p:sp>
      <p:sp>
        <p:nvSpPr>
          <p:cNvPr id="12" name="circuit-44">
            <a:extLst xmlns:a="http://schemas.openxmlformats.org/drawingml/2006/main">
              <a:ext uri="{FF2B5EF4-FFF2-40B4-BE49-F238E27FC236}">
                <a16:creationId xmlns:a16="http://schemas.microsoft.com/office/drawing/2014/main" id="{2F672333-A628-4E94-ABF0-6DC93F8D1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4925" y="3143250"/>
            <a:ext cx="16954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231F20"/>
            </a:solidFill>
          </a:ln>
        </p:spPr>
      </p:sp>
      <p:sp>
        <p:nvSpPr>
          <p:cNvPr id="13" name="text-45">
            <a:extLst xmlns:a="http://schemas.openxmlformats.org/drawingml/2006/main">
              <a:ext uri="{FF2B5EF4-FFF2-40B4-BE49-F238E27FC236}">
                <a16:creationId xmlns:a16="http://schemas.microsoft.com/office/drawing/2014/main" id="{09125A18-5138-46C9-835A-D05A12C41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9225" y="3200400"/>
            <a:ext cx="14668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2025" b="0">
                <a:solidFill>
                  <a:srgbClr val="231F20"/>
                </a:solidFill>
                <a:latin typeface="Meiryo"/>
                <a:ea typeface="Meiryo"/>
                <a:cs typeface="Meiryo"/>
              </a:defRPr>
            </a:defPPr>
          </a:lstStyle>
          <a:p xmlns:a="http://schemas.openxmlformats.org/drawingml/2006/main">
            <a:pPr algn="ctr">
              <a:defRPr sz="2025" b="0">
                <a:solidFill>
                  <a:srgbClr val="231F20"/>
                </a:solidFill>
                <a:latin typeface="Meiryo"/>
                <a:ea typeface="Meiryo"/>
                <a:cs typeface="Meiryo"/>
              </a:defRPr>
            </a:pPr>
            <a:r>
              <a:rPr sz="2025" b="0">
                <a:solidFill>
                  <a:srgbClr val="231F20"/>
                </a:solidFill>
                <a:latin typeface="Meiryo"/>
                <a:ea typeface="Meiryo"/>
                <a:cs typeface="Meiryo"/>
              </a:rPr>
              <a:t>SD制御</a:t>
            </a:r>
          </a:p>
        </p:txBody>
      </p:sp>
      <p:sp>
        <p:nvSpPr>
          <p:cNvPr id="14" name="wire-46">
            <a:extLst xmlns:a="http://schemas.openxmlformats.org/drawingml/2006/main">
              <a:ext uri="{FF2B5EF4-FFF2-40B4-BE49-F238E27FC236}">
                <a16:creationId xmlns:a16="http://schemas.microsoft.com/office/drawing/2014/main" id="{47B013C5-4D17-439E-8E88-239951796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8875" y="2219325"/>
            <a:ext cx="9525" cy="923925"/>
          </a:xfrm>
          <a:custGeom xmlns:a="http://schemas.openxmlformats.org/drawingml/2006/main">
            <a:pathLst>
              <a:path w="9525" h="923925">
                <a:moveTo>
                  <a:pt x="0" y="0"/>
                </a:moveTo>
                <a:lnTo>
                  <a:pt x="0" y="923925"/>
                </a:lnTo>
              </a:path>
            </a:pathLst>
          </a:custGeom>
          <a:noFill xmlns:a="http://schemas.openxmlformats.org/drawingml/2006/main"/>
          <a:ln xmlns:a="http://schemas.openxmlformats.org/drawingml/2006/main" w="20955">
            <a:solidFill>
              <a:srgbClr val="231F20"/>
            </a:solidFill>
          </a:ln>
        </p:spPr>
      </p:sp>
      <p:sp>
        <p:nvSpPr>
          <p:cNvPr id="15" name="circuit-47">
            <a:extLst xmlns:a="http://schemas.openxmlformats.org/drawingml/2006/main">
              <a:ext uri="{FF2B5EF4-FFF2-40B4-BE49-F238E27FC236}">
                <a16:creationId xmlns:a16="http://schemas.microsoft.com/office/drawing/2014/main" id="{483E5157-1671-4EA3-A844-52D5376683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62525" y="3143250"/>
            <a:ext cx="22669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231F20"/>
            </a:solidFill>
          </a:ln>
        </p:spPr>
      </p:sp>
      <p:sp>
        <p:nvSpPr>
          <p:cNvPr id="16" name="text-48">
            <a:extLst xmlns:a="http://schemas.openxmlformats.org/drawingml/2006/main">
              <a:ext uri="{FF2B5EF4-FFF2-40B4-BE49-F238E27FC236}">
                <a16:creationId xmlns:a16="http://schemas.microsoft.com/office/drawing/2014/main" id="{680EB88D-63CB-4FCE-9CF0-BA2EDC5FB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6825" y="3200400"/>
            <a:ext cx="20383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2025" b="0">
                <a:solidFill>
                  <a:srgbClr val="231F20"/>
                </a:solidFill>
                <a:latin typeface="Meiryo"/>
                <a:ea typeface="Meiryo"/>
                <a:cs typeface="Meiryo"/>
              </a:defRPr>
            </a:defPPr>
          </a:lstStyle>
          <a:p xmlns:a="http://schemas.openxmlformats.org/drawingml/2006/main">
            <a:pPr algn="ctr">
              <a:defRPr sz="2025" b="0">
                <a:solidFill>
                  <a:srgbClr val="231F20"/>
                </a:solidFill>
                <a:latin typeface="Meiryo"/>
                <a:ea typeface="Meiryo"/>
                <a:cs typeface="Meiryo"/>
              </a:defRPr>
            </a:pPr>
            <a:r>
              <a:rPr sz="2025" b="0">
                <a:solidFill>
                  <a:srgbClr val="231F20"/>
                </a:solidFill>
                <a:latin typeface="Meiryo"/>
                <a:ea typeface="Meiryo"/>
                <a:cs typeface="Meiryo"/>
              </a:rPr>
              <a:t>メモリ制御</a:t>
            </a:r>
          </a:p>
        </p:txBody>
      </p:sp>
      <p:sp>
        <p:nvSpPr>
          <p:cNvPr id="17" name="wire-49">
            <a:extLst xmlns:a="http://schemas.openxmlformats.org/drawingml/2006/main">
              <a:ext uri="{FF2B5EF4-FFF2-40B4-BE49-F238E27FC236}">
                <a16:creationId xmlns:a16="http://schemas.microsoft.com/office/drawing/2014/main" id="{4A376101-EAC0-4740-A357-1074DA2FE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219325"/>
            <a:ext cx="9525" cy="923925"/>
          </a:xfrm>
          <a:custGeom xmlns:a="http://schemas.openxmlformats.org/drawingml/2006/main">
            <a:pathLst>
              <a:path w="9525" h="923925">
                <a:moveTo>
                  <a:pt x="0" y="0"/>
                </a:moveTo>
                <a:lnTo>
                  <a:pt x="0" y="923925"/>
                </a:lnTo>
              </a:path>
            </a:pathLst>
          </a:custGeom>
          <a:noFill xmlns:a="http://schemas.openxmlformats.org/drawingml/2006/main"/>
          <a:ln xmlns:a="http://schemas.openxmlformats.org/drawingml/2006/main" w="20955">
            <a:solidFill>
              <a:srgbClr val="231F20"/>
            </a:solidFill>
          </a:ln>
        </p:spPr>
      </p:sp>
      <p:sp>
        <p:nvSpPr>
          <p:cNvPr id="18" name="circuit-50">
            <a:extLst xmlns:a="http://schemas.openxmlformats.org/drawingml/2006/main">
              <a:ext uri="{FF2B5EF4-FFF2-40B4-BE49-F238E27FC236}">
                <a16:creationId xmlns:a16="http://schemas.microsoft.com/office/drawing/2014/main" id="{01DF810F-AF72-45C3-99B6-E92F8EACD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3143250"/>
            <a:ext cx="17335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231F20"/>
            </a:solidFill>
          </a:ln>
        </p:spPr>
      </p:sp>
      <p:sp>
        <p:nvSpPr>
          <p:cNvPr id="19" name="text-51">
            <a:extLst xmlns:a="http://schemas.openxmlformats.org/drawingml/2006/main">
              <a:ext uri="{FF2B5EF4-FFF2-40B4-BE49-F238E27FC236}">
                <a16:creationId xmlns:a16="http://schemas.microsoft.com/office/drawing/2014/main" id="{E125EF5A-C3A4-4A4D-B957-77F6AFF13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3200400"/>
            <a:ext cx="15049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2025" b="0">
                <a:solidFill>
                  <a:srgbClr val="231F20"/>
                </a:solidFill>
                <a:latin typeface="Meiryo"/>
                <a:ea typeface="Meiryo"/>
                <a:cs typeface="Meiryo"/>
              </a:defRPr>
            </a:defPPr>
          </a:lstStyle>
          <a:p xmlns:a="http://schemas.openxmlformats.org/drawingml/2006/main">
            <a:pPr algn="ctr">
              <a:defRPr sz="2025" b="0">
                <a:solidFill>
                  <a:srgbClr val="231F20"/>
                </a:solidFill>
                <a:latin typeface="Meiryo"/>
                <a:ea typeface="Meiryo"/>
                <a:cs typeface="Meiryo"/>
              </a:defRPr>
            </a:pPr>
            <a:r>
              <a:rPr sz="2025" b="0">
                <a:solidFill>
                  <a:srgbClr val="231F20"/>
                </a:solidFill>
                <a:latin typeface="Meiryo"/>
                <a:ea typeface="Meiryo"/>
                <a:cs typeface="Meiryo"/>
              </a:rPr>
              <a:t>表示回路</a:t>
            </a:r>
          </a:p>
        </p:txBody>
      </p:sp>
      <p:sp>
        <p:nvSpPr>
          <p:cNvPr id="20" name="wire-52">
            <a:extLst xmlns:a="http://schemas.openxmlformats.org/drawingml/2006/main">
              <a:ext uri="{FF2B5EF4-FFF2-40B4-BE49-F238E27FC236}">
                <a16:creationId xmlns:a16="http://schemas.microsoft.com/office/drawing/2014/main" id="{6074213E-5C8C-4A70-80A0-EC326187A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9825" y="2219325"/>
            <a:ext cx="9525" cy="923925"/>
          </a:xfrm>
          <a:custGeom xmlns:a="http://schemas.openxmlformats.org/drawingml/2006/main">
            <a:pathLst>
              <a:path w="9525" h="923925">
                <a:moveTo>
                  <a:pt x="0" y="923925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955">
            <a:solidFill>
              <a:srgbClr val="231F20"/>
            </a:solidFill>
          </a:ln>
        </p:spPr>
      </p:sp>
      <p:sp>
        <p:nvSpPr>
          <p:cNvPr id="21" name="logic-53">
            <a:extLst xmlns:a="http://schemas.openxmlformats.org/drawingml/2006/main">
              <a:ext uri="{FF2B5EF4-FFF2-40B4-BE49-F238E27FC236}">
                <a16:creationId xmlns:a16="http://schemas.microsoft.com/office/drawing/2014/main" id="{7A5E6A53-86F0-44C0-8BB5-98EB59D08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2200" y="2219325"/>
            <a:ext cx="95250" cy="114300"/>
          </a:xfrm>
          <a:custGeom xmlns:a="http://schemas.openxmlformats.org/drawingml/2006/main">
            <a:pathLst>
              <a:path w="95250" h="114300">
                <a:moveTo>
                  <a:pt x="47625" y="0"/>
                </a:moveTo>
                <a:lnTo>
                  <a:pt x="0" y="114300"/>
                </a:lnTo>
                <a:lnTo>
                  <a:pt x="95250" y="114300"/>
                </a:lnTo>
                <a:close/>
              </a:path>
            </a:pathLst>
          </a:custGeom>
          <a:solidFill xmlns:a="http://schemas.openxmlformats.org/drawingml/2006/main">
            <a:srgbClr val="231F20"/>
          </a:solidFill>
          <a:ln xmlns:a="http://schemas.openxmlformats.org/drawingml/2006/main" w="19050">
            <a:solidFill>
              <a:srgbClr val="231F20"/>
            </a:solidFill>
          </a:ln>
        </p:spPr>
      </p:sp>
      <p:sp>
        <p:nvSpPr>
          <p:cNvPr id="22" name="circuit-54">
            <a:extLst xmlns:a="http://schemas.openxmlformats.org/drawingml/2006/main">
              <a:ext uri="{FF2B5EF4-FFF2-40B4-BE49-F238E27FC236}">
                <a16:creationId xmlns:a16="http://schemas.microsoft.com/office/drawing/2014/main" id="{892A185C-68EF-447A-B80C-A2F45060A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4181475"/>
            <a:ext cx="57054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9F1"/>
          </a:solidFill>
          <a:ln xmlns:a="http://schemas.openxmlformats.org/drawingml/2006/main" w="19050">
            <a:solidFill>
              <a:srgbClr val="231F20"/>
            </a:solidFill>
          </a:ln>
        </p:spPr>
      </p:sp>
      <p:sp>
        <p:nvSpPr>
          <p:cNvPr id="23" name="text-55">
            <a:extLst xmlns:a="http://schemas.openxmlformats.org/drawingml/2006/main">
              <a:ext uri="{FF2B5EF4-FFF2-40B4-BE49-F238E27FC236}">
                <a16:creationId xmlns:a16="http://schemas.microsoft.com/office/drawing/2014/main" id="{FFAC963B-7E38-4D1D-BD51-E79C88EA7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238625"/>
            <a:ext cx="54768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875" b="0">
                <a:solidFill>
                  <a:srgbClr val="231F20"/>
                </a:solidFill>
                <a:latin typeface="Meiryo"/>
                <a:ea typeface="Meiryo"/>
                <a:cs typeface="Meiryo"/>
              </a:defRPr>
            </a:defPPr>
          </a:lstStyle>
          <a:p xmlns:a="http://schemas.openxmlformats.org/drawingml/2006/main">
            <a:pPr algn="ctr">
              <a:defRPr sz="1875" b="0">
                <a:solidFill>
                  <a:srgbClr val="231F20"/>
                </a:solidFill>
                <a:latin typeface="Meiryo"/>
                <a:ea typeface="Meiryo"/>
                <a:cs typeface="Meiryo"/>
              </a:defRPr>
            </a:pPr>
            <a:r>
              <a:rPr sz="1875" b="0">
                <a:solidFill>
                  <a:srgbClr val="231F20"/>
                </a:solidFill>
                <a:latin typeface="Meiryo"/>
                <a:ea typeface="Meiryo"/>
                <a:cs typeface="Meiryo"/>
              </a:rPr>
              <a:t>CPUのバス</a:t>
            </a:r>
          </a:p>
        </p:txBody>
      </p:sp>
      <p:sp>
        <p:nvSpPr>
          <p:cNvPr id="24" name="wire-56">
            <a:extLst xmlns:a="http://schemas.openxmlformats.org/drawingml/2006/main">
              <a:ext uri="{FF2B5EF4-FFF2-40B4-BE49-F238E27FC236}">
                <a16:creationId xmlns:a16="http://schemas.microsoft.com/office/drawing/2014/main" id="{DD5DD714-1B4B-43A4-92D3-0A7D7EEF7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3714750"/>
            <a:ext cx="9525" cy="466725"/>
          </a:xfrm>
          <a:custGeom xmlns:a="http://schemas.openxmlformats.org/drawingml/2006/main">
            <a:pathLst>
              <a:path w="9525" h="466725">
                <a:moveTo>
                  <a:pt x="0" y="0"/>
                </a:moveTo>
                <a:lnTo>
                  <a:pt x="0" y="466725"/>
                </a:lnTo>
              </a:path>
            </a:pathLst>
          </a:custGeom>
          <a:noFill xmlns:a="http://schemas.openxmlformats.org/drawingml/2006/main"/>
          <a:ln xmlns:a="http://schemas.openxmlformats.org/drawingml/2006/main" w="20955">
            <a:solidFill>
              <a:srgbClr val="231F20"/>
            </a:solidFill>
          </a:ln>
        </p:spPr>
      </p:sp>
      <p:sp>
        <p:nvSpPr>
          <p:cNvPr id="25" name="wire-57">
            <a:extLst xmlns:a="http://schemas.openxmlformats.org/drawingml/2006/main">
              <a:ext uri="{FF2B5EF4-FFF2-40B4-BE49-F238E27FC236}">
                <a16:creationId xmlns:a16="http://schemas.microsoft.com/office/drawing/2014/main" id="{9D743BE4-B443-4CEB-953E-FDB2D3772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714750"/>
            <a:ext cx="9525" cy="466725"/>
          </a:xfrm>
          <a:custGeom xmlns:a="http://schemas.openxmlformats.org/drawingml/2006/main">
            <a:pathLst>
              <a:path w="9525" h="466725">
                <a:moveTo>
                  <a:pt x="0" y="0"/>
                </a:moveTo>
                <a:lnTo>
                  <a:pt x="0" y="466725"/>
                </a:lnTo>
              </a:path>
            </a:pathLst>
          </a:custGeom>
          <a:noFill xmlns:a="http://schemas.openxmlformats.org/drawingml/2006/main"/>
          <a:ln xmlns:a="http://schemas.openxmlformats.org/drawingml/2006/main" w="20955">
            <a:solidFill>
              <a:srgbClr val="231F20"/>
            </a:solidFill>
          </a:ln>
        </p:spPr>
      </p:sp>
      <p:sp>
        <p:nvSpPr>
          <p:cNvPr id="26" name="circuit-58">
            <a:extLst xmlns:a="http://schemas.openxmlformats.org/drawingml/2006/main">
              <a:ext uri="{FF2B5EF4-FFF2-40B4-BE49-F238E27FC236}">
                <a16:creationId xmlns:a16="http://schemas.microsoft.com/office/drawing/2014/main" id="{0EF43E5B-D860-41C1-8DDF-966422080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43175" y="4943475"/>
            <a:ext cx="29527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231F20"/>
            </a:solidFill>
          </a:ln>
        </p:spPr>
      </p:sp>
      <p:sp>
        <p:nvSpPr>
          <p:cNvPr id="27" name="text-59">
            <a:extLst xmlns:a="http://schemas.openxmlformats.org/drawingml/2006/main">
              <a:ext uri="{FF2B5EF4-FFF2-40B4-BE49-F238E27FC236}">
                <a16:creationId xmlns:a16="http://schemas.microsoft.com/office/drawing/2014/main" id="{98D8FE9F-7C91-4888-9ABC-59443A424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57475" y="5000625"/>
            <a:ext cx="27241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2250" b="0">
                <a:solidFill>
                  <a:srgbClr val="231F20"/>
                </a:solidFill>
                <a:latin typeface="Meiryo"/>
                <a:ea typeface="Meiryo"/>
                <a:cs typeface="Meiryo"/>
              </a:defRPr>
            </a:defPPr>
          </a:lstStyle>
          <a:p xmlns:a="http://schemas.openxmlformats.org/drawingml/2006/main">
            <a:pPr algn="ctr">
              <a:defRPr sz="2250" b="0">
                <a:solidFill>
                  <a:srgbClr val="231F20"/>
                </a:solidFill>
                <a:latin typeface="Meiryo"/>
                <a:ea typeface="Meiryo"/>
                <a:cs typeface="Meiryo"/>
              </a:defRPr>
            </a:pPr>
            <a:r>
              <a:rPr sz="2250" b="0">
                <a:solidFill>
                  <a:srgbClr val="231F20"/>
                </a:solidFill>
                <a:latin typeface="Meiryo"/>
                <a:ea typeface="Meiryo"/>
                <a:cs typeface="Meiryo"/>
              </a:rPr>
              <a:t>Wally</a:t>
            </a:r>
          </a:p>
          <a:p xmlns:a="http://schemas.openxmlformats.org/drawingml/2006/main">
            <a:pPr algn="ctr">
              <a:defRPr sz="2250" b="0">
                <a:solidFill>
                  <a:srgbClr val="231F20"/>
                </a:solidFill>
                <a:latin typeface="Meiryo"/>
                <a:ea typeface="Meiryo"/>
                <a:cs typeface="Meiryo"/>
              </a:defRPr>
            </a:pPr>
            <a:r>
              <a:rPr sz="2250" b="0">
                <a:solidFill>
                  <a:srgbClr val="231F20"/>
                </a:solidFill>
                <a:latin typeface="Meiryo"/>
                <a:ea typeface="Meiryo"/>
                <a:cs typeface="Meiryo"/>
              </a:rPr>
              <a:t>CPU</a:t>
            </a:r>
          </a:p>
        </p:txBody>
      </p:sp>
      <p:sp>
        <p:nvSpPr>
          <p:cNvPr id="28" name="wire-60">
            <a:extLst xmlns:a="http://schemas.openxmlformats.org/drawingml/2006/main">
              <a:ext uri="{FF2B5EF4-FFF2-40B4-BE49-F238E27FC236}">
                <a16:creationId xmlns:a16="http://schemas.microsoft.com/office/drawing/2014/main" id="{2726F8E0-2B9B-4A96-A89D-06A3C2383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4619625"/>
            <a:ext cx="9525" cy="323850"/>
          </a:xfrm>
          <a:custGeom xmlns:a="http://schemas.openxmlformats.org/drawingml/2006/main">
            <a:pathLst>
              <a:path w="9525" h="323850">
                <a:moveTo>
                  <a:pt x="0" y="32385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955">
            <a:solidFill>
              <a:srgbClr val="231F20"/>
            </a:solidFill>
          </a:ln>
        </p:spPr>
      </p:sp>
      <p:sp>
        <p:nvSpPr>
          <p:cNvPr id="29" name="circuit-61">
            <a:extLst xmlns:a="http://schemas.openxmlformats.org/drawingml/2006/main">
              <a:ext uri="{FF2B5EF4-FFF2-40B4-BE49-F238E27FC236}">
                <a16:creationId xmlns:a16="http://schemas.microsoft.com/office/drawing/2014/main" id="{FFF7D510-1A91-4CBF-AF62-803014908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181475"/>
            <a:ext cx="18097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231F20"/>
            </a:solidFill>
          </a:ln>
        </p:spPr>
      </p:sp>
      <p:sp>
        <p:nvSpPr>
          <p:cNvPr id="30" name="text-62">
            <a:extLst xmlns:a="http://schemas.openxmlformats.org/drawingml/2006/main">
              <a:ext uri="{FF2B5EF4-FFF2-40B4-BE49-F238E27FC236}">
                <a16:creationId xmlns:a16="http://schemas.microsoft.com/office/drawing/2014/main" id="{28A027E8-9CF3-4817-A896-231C357A4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4238625"/>
            <a:ext cx="1581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800" b="0">
                <a:solidFill>
                  <a:srgbClr val="231F20"/>
                </a:solidFill>
                <a:latin typeface="Meiryo"/>
                <a:ea typeface="Meiryo"/>
                <a:cs typeface="Meiryo"/>
              </a:defRPr>
            </a:defPPr>
          </a:lstStyle>
          <a:p xmlns:a="http://schemas.openxmlformats.org/drawingml/2006/main">
            <a:pPr algn="ctr">
              <a:defRPr sz="1800" b="0">
                <a:solidFill>
                  <a:srgbClr val="231F20"/>
                </a:solidFill>
                <a:latin typeface="Meiryo"/>
                <a:ea typeface="Meiryo"/>
                <a:cs typeface="Meiryo"/>
              </a:defRPr>
            </a:pPr>
            <a:r>
              <a:rPr sz="1800" b="0">
                <a:solidFill>
                  <a:srgbClr val="231F20"/>
                </a:solidFill>
                <a:latin typeface="Meiryo"/>
                <a:ea typeface="Meiryo"/>
                <a:cs typeface="Meiryo"/>
              </a:rPr>
              <a:t>命令の接続</a:t>
            </a:r>
          </a:p>
        </p:txBody>
      </p:sp>
      <p:sp>
        <p:nvSpPr>
          <p:cNvPr id="31" name="wire-63">
            <a:extLst xmlns:a="http://schemas.openxmlformats.org/drawingml/2006/main">
              <a:ext uri="{FF2B5EF4-FFF2-40B4-BE49-F238E27FC236}">
                <a16:creationId xmlns:a16="http://schemas.microsoft.com/office/drawing/2014/main" id="{1DA7F7B6-D5A2-4E64-8274-944135A16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5175" y="4400550"/>
            <a:ext cx="438150" cy="9525"/>
          </a:xfrm>
          <a:custGeom xmlns:a="http://schemas.openxmlformats.org/drawingml/2006/main">
            <a:pathLst>
              <a:path w="438150" h="9525">
                <a:moveTo>
                  <a:pt x="0" y="0"/>
                </a:moveTo>
                <a:lnTo>
                  <a:pt x="4381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955">
            <a:solidFill>
              <a:srgbClr val="231F20"/>
            </a:solidFill>
          </a:ln>
        </p:spPr>
      </p:sp>
      <p:sp>
        <p:nvSpPr>
          <p:cNvPr id="32" name="logic-64">
            <a:extLst xmlns:a="http://schemas.openxmlformats.org/drawingml/2006/main">
              <a:ext uri="{FF2B5EF4-FFF2-40B4-BE49-F238E27FC236}">
                <a16:creationId xmlns:a16="http://schemas.microsoft.com/office/drawing/2014/main" id="{E502F4A1-F332-4775-9E9F-9B99D49F4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4352925"/>
            <a:ext cx="114300" cy="95250"/>
          </a:xfrm>
          <a:custGeom xmlns:a="http://schemas.openxmlformats.org/drawingml/2006/main">
            <a:pathLst>
              <a:path w="114300" h="95250">
                <a:moveTo>
                  <a:pt x="114300" y="47625"/>
                </a:moveTo>
                <a:lnTo>
                  <a:pt x="0" y="0"/>
                </a:lnTo>
                <a:lnTo>
                  <a:pt x="0" y="95250"/>
                </a:lnTo>
                <a:close/>
              </a:path>
            </a:pathLst>
          </a:custGeom>
          <a:solidFill xmlns:a="http://schemas.openxmlformats.org/drawingml/2006/main">
            <a:srgbClr val="231F20"/>
          </a:solidFill>
          <a:ln xmlns:a="http://schemas.openxmlformats.org/drawingml/2006/main" w="19050">
            <a:solidFill>
              <a:srgbClr val="231F20"/>
            </a:solidFill>
          </a:ln>
        </p:spPr>
      </p:sp>
      <p:sp>
        <p:nvSpPr>
          <p:cNvPr id="33" name="circuit-65">
            <a:extLst xmlns:a="http://schemas.openxmlformats.org/drawingml/2006/main">
              <a:ext uri="{FF2B5EF4-FFF2-40B4-BE49-F238E27FC236}">
                <a16:creationId xmlns:a16="http://schemas.microsoft.com/office/drawing/2014/main" id="{4AFDADAA-FE7A-47CE-BEF3-CE5585FD35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943475"/>
            <a:ext cx="3343275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231F20"/>
            </a:solidFill>
          </a:ln>
        </p:spPr>
      </p:sp>
      <p:sp>
        <p:nvSpPr>
          <p:cNvPr id="34" name="text-66">
            <a:extLst xmlns:a="http://schemas.openxmlformats.org/drawingml/2006/main">
              <a:ext uri="{FF2B5EF4-FFF2-40B4-BE49-F238E27FC236}">
                <a16:creationId xmlns:a16="http://schemas.microsoft.com/office/drawing/2014/main" id="{C8D16CD4-54FB-4741-A575-A582391A4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5000625"/>
            <a:ext cx="311467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2100" b="0">
                <a:solidFill>
                  <a:srgbClr val="231F20"/>
                </a:solidFill>
                <a:latin typeface="Meiryo"/>
                <a:ea typeface="Meiryo"/>
                <a:cs typeface="Meiryo"/>
              </a:defRPr>
            </a:defPPr>
          </a:lstStyle>
          <a:p xmlns:a="http://schemas.openxmlformats.org/drawingml/2006/main">
            <a:pPr algn="ctr">
              <a:defRPr sz="2100" b="0">
                <a:solidFill>
                  <a:srgbClr val="231F20"/>
                </a:solidFill>
                <a:latin typeface="Meiryo"/>
                <a:ea typeface="Meiryo"/>
                <a:cs typeface="Meiryo"/>
              </a:defRPr>
            </a:pPr>
            <a:r>
              <a:rPr sz="2100" b="0">
                <a:solidFill>
                  <a:srgbClr val="231F20"/>
                </a:solidFill>
                <a:latin typeface="Meiryo"/>
                <a:ea typeface="Meiryo"/>
                <a:cs typeface="Meiryo"/>
              </a:rPr>
              <a:t>RasterIX</a:t>
            </a:r>
          </a:p>
          <a:p xmlns:a="http://schemas.openxmlformats.org/drawingml/2006/main">
            <a:pPr algn="ctr">
              <a:defRPr sz="2100" b="0">
                <a:solidFill>
                  <a:srgbClr val="231F20"/>
                </a:solidFill>
                <a:latin typeface="Meiryo"/>
                <a:ea typeface="Meiryo"/>
                <a:cs typeface="Meiryo"/>
              </a:defRPr>
            </a:pPr>
            <a:r>
              <a:rPr sz="2100" b="0">
                <a:solidFill>
                  <a:srgbClr val="231F20"/>
                </a:solidFill>
                <a:latin typeface="Meiryo"/>
                <a:ea typeface="Meiryo"/>
                <a:cs typeface="Meiryo"/>
              </a:rPr>
              <a:t>描画回路</a:t>
            </a:r>
          </a:p>
        </p:txBody>
      </p:sp>
      <p:sp>
        <p:nvSpPr>
          <p:cNvPr id="35" name="wire-67">
            <a:extLst xmlns:a="http://schemas.openxmlformats.org/drawingml/2006/main">
              <a:ext uri="{FF2B5EF4-FFF2-40B4-BE49-F238E27FC236}">
                <a16:creationId xmlns:a16="http://schemas.microsoft.com/office/drawing/2014/main" id="{96D8855F-AB58-4414-B2BC-77DBAAF62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67725" y="4619625"/>
            <a:ext cx="9525" cy="323850"/>
          </a:xfrm>
          <a:custGeom xmlns:a="http://schemas.openxmlformats.org/drawingml/2006/main">
            <a:pathLst>
              <a:path w="9525" h="323850">
                <a:moveTo>
                  <a:pt x="0" y="0"/>
                </a:moveTo>
                <a:lnTo>
                  <a:pt x="0" y="323850"/>
                </a:lnTo>
              </a:path>
            </a:pathLst>
          </a:custGeom>
          <a:noFill xmlns:a="http://schemas.openxmlformats.org/drawingml/2006/main"/>
          <a:ln xmlns:a="http://schemas.openxmlformats.org/drawingml/2006/main" w="20955">
            <a:solidFill>
              <a:srgbClr val="231F20"/>
            </a:solidFill>
          </a:ln>
        </p:spPr>
      </p:sp>
      <p:sp>
        <p:nvSpPr>
          <p:cNvPr id="36" name="logic-68">
            <a:extLst xmlns:a="http://schemas.openxmlformats.org/drawingml/2006/main">
              <a:ext uri="{FF2B5EF4-FFF2-40B4-BE49-F238E27FC236}">
                <a16:creationId xmlns:a16="http://schemas.microsoft.com/office/drawing/2014/main" id="{4A812763-56C0-476D-88D3-E206F6577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4829175"/>
            <a:ext cx="95250" cy="114300"/>
          </a:xfrm>
          <a:custGeom xmlns:a="http://schemas.openxmlformats.org/drawingml/2006/main">
            <a:pathLst>
              <a:path w="95250" h="114300">
                <a:moveTo>
                  <a:pt x="47625" y="114300"/>
                </a:moveTo>
                <a:lnTo>
                  <a:pt x="95250" y="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31F20"/>
          </a:solidFill>
          <a:ln xmlns:a="http://schemas.openxmlformats.org/drawingml/2006/main" w="19050">
            <a:solidFill>
              <a:srgbClr val="231F20"/>
            </a:solidFill>
          </a:ln>
        </p:spPr>
      </p:sp>
      <p:sp>
        <p:nvSpPr>
          <p:cNvPr id="37" name="wire-69">
            <a:extLst xmlns:a="http://schemas.openxmlformats.org/drawingml/2006/main">
              <a:ext uri="{FF2B5EF4-FFF2-40B4-BE49-F238E27FC236}">
                <a16:creationId xmlns:a16="http://schemas.microsoft.com/office/drawing/2014/main" id="{A56D373D-83E5-47BE-817F-BBF5E4877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29475" y="3400425"/>
            <a:ext cx="247650" cy="9525"/>
          </a:xfrm>
          <a:custGeom xmlns:a="http://schemas.openxmlformats.org/drawingml/2006/main">
            <a:pathLst>
              <a:path w="247650" h="9525">
                <a:moveTo>
                  <a:pt x="0" y="0"/>
                </a:moveTo>
                <a:lnTo>
                  <a:pt x="2476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955">
            <a:solidFill>
              <a:srgbClr val="231F20"/>
            </a:solidFill>
          </a:ln>
        </p:spPr>
      </p:sp>
      <p:sp>
        <p:nvSpPr>
          <p:cNvPr id="38" name="wire-70">
            <a:extLst xmlns:a="http://schemas.openxmlformats.org/drawingml/2006/main">
              <a:ext uri="{FF2B5EF4-FFF2-40B4-BE49-F238E27FC236}">
                <a16:creationId xmlns:a16="http://schemas.microsoft.com/office/drawing/2014/main" id="{CED2FC9A-3609-4732-B4B8-05A13388D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3400425"/>
            <a:ext cx="9525" cy="1838325"/>
          </a:xfrm>
          <a:custGeom xmlns:a="http://schemas.openxmlformats.org/drawingml/2006/main">
            <a:pathLst>
              <a:path w="9525" h="1838325">
                <a:moveTo>
                  <a:pt x="0" y="0"/>
                </a:moveTo>
                <a:lnTo>
                  <a:pt x="0" y="1838325"/>
                </a:lnTo>
              </a:path>
            </a:pathLst>
          </a:custGeom>
          <a:noFill xmlns:a="http://schemas.openxmlformats.org/drawingml/2006/main"/>
          <a:ln xmlns:a="http://schemas.openxmlformats.org/drawingml/2006/main" w="20955">
            <a:solidFill>
              <a:srgbClr val="231F20"/>
            </a:solidFill>
          </a:ln>
        </p:spPr>
      </p:sp>
      <p:sp>
        <p:nvSpPr>
          <p:cNvPr id="39" name="wire-71">
            <a:extLst xmlns:a="http://schemas.openxmlformats.org/drawingml/2006/main">
              <a:ext uri="{FF2B5EF4-FFF2-40B4-BE49-F238E27FC236}">
                <a16:creationId xmlns:a16="http://schemas.microsoft.com/office/drawing/2014/main" id="{37A19555-FA0A-41FD-B5D3-33926F339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5238750"/>
            <a:ext cx="76200" cy="9525"/>
          </a:xfrm>
          <a:custGeom xmlns:a="http://schemas.openxmlformats.org/drawingml/2006/main">
            <a:pathLst>
              <a:path w="76200" h="9525">
                <a:moveTo>
                  <a:pt x="0" y="0"/>
                </a:moveTo>
                <a:lnTo>
                  <a:pt x="762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955">
            <a:solidFill>
              <a:srgbClr val="231F20"/>
            </a:solidFill>
          </a:ln>
        </p:spPr>
      </p:sp>
      <p:sp>
        <p:nvSpPr>
          <p:cNvPr id="40" name="wire-72">
            <a:extLst xmlns:a="http://schemas.openxmlformats.org/drawingml/2006/main">
              <a:ext uri="{FF2B5EF4-FFF2-40B4-BE49-F238E27FC236}">
                <a16:creationId xmlns:a16="http://schemas.microsoft.com/office/drawing/2014/main" id="{9703782F-20D7-4061-BFE6-CDD8FD4FD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29475" y="3314700"/>
            <a:ext cx="1933575" cy="9525"/>
          </a:xfrm>
          <a:custGeom xmlns:a="http://schemas.openxmlformats.org/drawingml/2006/main">
            <a:pathLst>
              <a:path w="1933575" h="9525">
                <a:moveTo>
                  <a:pt x="0" y="0"/>
                </a:moveTo>
                <a:lnTo>
                  <a:pt x="19335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955">
            <a:solidFill>
              <a:srgbClr val="231F20"/>
            </a:solidFill>
          </a:ln>
        </p:spPr>
      </p:sp>
      <p:sp>
        <p:nvSpPr>
          <p:cNvPr id="41" name="logic-73">
            <a:extLst xmlns:a="http://schemas.openxmlformats.org/drawingml/2006/main">
              <a:ext uri="{FF2B5EF4-FFF2-40B4-BE49-F238E27FC236}">
                <a16:creationId xmlns:a16="http://schemas.microsoft.com/office/drawing/2014/main" id="{C2E4C551-E4FB-40E7-B729-A21B384A7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3267075"/>
            <a:ext cx="114300" cy="95250"/>
          </a:xfrm>
          <a:custGeom xmlns:a="http://schemas.openxmlformats.org/drawingml/2006/main">
            <a:pathLst>
              <a:path w="114300" h="95250">
                <a:moveTo>
                  <a:pt x="114300" y="47625"/>
                </a:moveTo>
                <a:lnTo>
                  <a:pt x="0" y="0"/>
                </a:lnTo>
                <a:lnTo>
                  <a:pt x="0" y="95250"/>
                </a:lnTo>
                <a:close/>
              </a:path>
            </a:pathLst>
          </a:custGeom>
          <a:solidFill xmlns:a="http://schemas.openxmlformats.org/drawingml/2006/main">
            <a:srgbClr val="231F20"/>
          </a:solidFill>
          <a:ln xmlns:a="http://schemas.openxmlformats.org/drawingml/2006/main" w="19050">
            <a:solidFill>
              <a:srgbClr val="231F20"/>
            </a:solidFill>
          </a:ln>
        </p:spPr>
      </p:sp>
      <p:sp>
        <p:nvSpPr>
          <p:cNvPr id="42" name="text-74">
            <a:extLst xmlns:a="http://schemas.openxmlformats.org/drawingml/2006/main">
              <a:ext uri="{FF2B5EF4-FFF2-40B4-BE49-F238E27FC236}">
                <a16:creationId xmlns:a16="http://schemas.microsoft.com/office/drawing/2014/main" id="{E507B445-7656-49A5-B860-648B8DA63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9975" y="2971800"/>
            <a:ext cx="16764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500" b="0">
                <a:solidFill>
                  <a:srgbClr val="231F20"/>
                </a:solidFill>
                <a:latin typeface="Meiryo"/>
                <a:ea typeface="Meiryo"/>
                <a:cs typeface="Meiryo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231F20"/>
                </a:solidFill>
                <a:latin typeface="Meiryo"/>
                <a:ea typeface="Meiryo"/>
                <a:cs typeface="Meiryo"/>
              </a:defRPr>
            </a:pPr>
            <a:r>
              <a:rPr sz="1500" b="0">
                <a:solidFill>
                  <a:srgbClr val="231F20"/>
                </a:solidFill>
                <a:latin typeface="Meiryo"/>
                <a:ea typeface="Meiryo"/>
                <a:cs typeface="Meiryo"/>
              </a:rPr>
              <a:t>画像の読出し</a:t>
            </a:r>
          </a:p>
        </p:txBody>
      </p:sp>
      <p:sp>
        <p:nvSpPr>
          <p:cNvPr id="43" name="wire-75">
            <a:extLst xmlns:a="http://schemas.openxmlformats.org/drawingml/2006/main">
              <a:ext uri="{FF2B5EF4-FFF2-40B4-BE49-F238E27FC236}">
                <a16:creationId xmlns:a16="http://schemas.microsoft.com/office/drawing/2014/main" id="{9AEF0866-2EDC-44C3-AB0E-ABAD51DEB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91775" y="3714750"/>
            <a:ext cx="9525" cy="1228725"/>
          </a:xfrm>
          <a:custGeom xmlns:a="http://schemas.openxmlformats.org/drawingml/2006/main">
            <a:pathLst>
              <a:path w="9525" h="1228725">
                <a:moveTo>
                  <a:pt x="0" y="1228725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955">
            <a:solidFill>
              <a:srgbClr val="1673C3"/>
            </a:solidFill>
          </a:ln>
        </p:spPr>
      </p:sp>
      <p:sp>
        <p:nvSpPr>
          <p:cNvPr id="44" name="logic-76">
            <a:extLst xmlns:a="http://schemas.openxmlformats.org/drawingml/2006/main">
              <a:ext uri="{FF2B5EF4-FFF2-40B4-BE49-F238E27FC236}">
                <a16:creationId xmlns:a16="http://schemas.microsoft.com/office/drawing/2014/main" id="{E79B14BE-9C11-4149-83E6-8C5D430BC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44150" y="3714750"/>
            <a:ext cx="95250" cy="114300"/>
          </a:xfrm>
          <a:custGeom xmlns:a="http://schemas.openxmlformats.org/drawingml/2006/main">
            <a:pathLst>
              <a:path w="95250" h="114300">
                <a:moveTo>
                  <a:pt x="47625" y="0"/>
                </a:moveTo>
                <a:lnTo>
                  <a:pt x="0" y="114300"/>
                </a:lnTo>
                <a:lnTo>
                  <a:pt x="95250" y="114300"/>
                </a:lnTo>
                <a:close/>
              </a:path>
            </a:pathLst>
          </a:custGeom>
          <a:solidFill xmlns:a="http://schemas.openxmlformats.org/drawingml/2006/main">
            <a:srgbClr val="1673C3"/>
          </a:solidFill>
          <a:ln xmlns:a="http://schemas.openxmlformats.org/drawingml/2006/main" w="19050">
            <a:solidFill>
              <a:srgbClr val="1673C3"/>
            </a:solidFill>
          </a:ln>
        </p:spPr>
      </p:sp>
      <p:sp>
        <p:nvSpPr>
          <p:cNvPr id="45" name="text-77">
            <a:extLst xmlns:a="http://schemas.openxmlformats.org/drawingml/2006/main">
              <a:ext uri="{FF2B5EF4-FFF2-40B4-BE49-F238E27FC236}">
                <a16:creationId xmlns:a16="http://schemas.microsoft.com/office/drawing/2014/main" id="{6CF007BD-0D0E-49EA-9CC1-F587F5E47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3790950"/>
            <a:ext cx="933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500" b="0">
                <a:solidFill>
                  <a:srgbClr val="1673C3"/>
                </a:solidFill>
                <a:latin typeface="Meiryo"/>
                <a:ea typeface="Meiryo"/>
                <a:cs typeface="Meiryo"/>
              </a:defRPr>
            </a:defPPr>
          </a:lstStyle>
          <a:p xmlns:a="http://schemas.openxmlformats.org/drawingml/2006/main">
            <a:pPr algn="ctr">
              <a:defRPr sz="1500" b="0">
                <a:solidFill>
                  <a:srgbClr val="1673C3"/>
                </a:solidFill>
                <a:latin typeface="Meiryo"/>
                <a:ea typeface="Meiryo"/>
                <a:cs typeface="Meiryo"/>
              </a:defRPr>
            </a:pPr>
            <a:r>
              <a:rPr sz="1500" b="0">
                <a:solidFill>
                  <a:srgbClr val="1673C3"/>
                </a:solidFill>
                <a:latin typeface="Meiryo"/>
                <a:ea typeface="Meiryo"/>
                <a:cs typeface="Meiryo"/>
              </a:rPr>
              <a:t>表示先の</a:t>
            </a:r>
          </a:p>
          <a:p xmlns:a="http://schemas.openxmlformats.org/drawingml/2006/main">
            <a:pPr algn="ctr">
              <a:defRPr sz="1500" b="0">
                <a:solidFill>
                  <a:srgbClr val="1673C3"/>
                </a:solidFill>
                <a:latin typeface="Meiryo"/>
                <a:ea typeface="Meiryo"/>
                <a:cs typeface="Meiryo"/>
              </a:defRPr>
            </a:pPr>
            <a:r>
              <a:rPr sz="1500" b="0">
                <a:solidFill>
                  <a:srgbClr val="1673C3"/>
                </a:solidFill>
                <a:latin typeface="Meiryo"/>
                <a:ea typeface="Meiryo"/>
                <a:cs typeface="Meiryo"/>
              </a:rPr>
              <a:t>指定</a:t>
            </a:r>
          </a:p>
        </p:txBody>
      </p:sp>
      <p:sp>
        <p:nvSpPr>
          <p:cNvPr id="46" name="text-78">
            <a:extLst xmlns:a="http://schemas.openxmlformats.org/drawingml/2006/main">
              <a:ext uri="{FF2B5EF4-FFF2-40B4-BE49-F238E27FC236}">
                <a16:creationId xmlns:a16="http://schemas.microsoft.com/office/drawing/2014/main" id="{5AD64B5D-6CAA-41DB-AA20-D119141CE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6315075"/>
            <a:ext cx="619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725" b="0">
                <a:solidFill>
                  <a:srgbClr val="231F20"/>
                </a:solidFill>
                <a:latin typeface="Meiryo"/>
                <a:ea typeface="Meiryo"/>
                <a:cs typeface="Meiryo"/>
              </a:defRPr>
            </a:defPPr>
          </a:lstStyle>
          <a:p xmlns:a="http://schemas.openxmlformats.org/drawingml/2006/main">
            <a:pPr algn="ctr">
              <a:defRPr sz="1725" b="0">
                <a:solidFill>
                  <a:srgbClr val="231F20"/>
                </a:solidFill>
                <a:latin typeface="Meiryo"/>
                <a:ea typeface="Meiryo"/>
                <a:cs typeface="Meiryo"/>
              </a:defRPr>
            </a:pPr>
            <a:r>
              <a:rPr sz="1725" b="0">
                <a:solidFill>
                  <a:srgbClr val="231F20"/>
                </a:solidFill>
                <a:latin typeface="Meiryo"/>
                <a:ea typeface="Meiryo"/>
                <a:cs typeface="Meiryo"/>
              </a:rPr>
              <a:t>CPUと描画側がDDR3を共有する</a:t>
            </a:r>
          </a:p>
        </p:txBody>
      </p:sp>
    </p:spTree>
    <p:extLst>
      <p:ext uri="{BB962C8B-B14F-4D97-AF65-F5344CB8AC3E}">
        <p14:creationId xmlns:p14="http://schemas.microsoft.com/office/powerpoint/2010/main" val="158811866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text-79">
            <a:extLst xmlns:a="http://schemas.openxmlformats.org/drawingml/2006/main">
              <a:ext uri="{FF2B5EF4-FFF2-40B4-BE49-F238E27FC236}">
                <a16:creationId xmlns:a16="http://schemas.microsoft.com/office/drawing/2014/main" id="{2CEC843C-7AF1-4EB0-8A41-1E2C83701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858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3000" b="1">
                <a:solidFill>
                  <a:srgbClr val="231F20"/>
                </a:solidFill>
                <a:latin typeface="Meiryo"/>
                <a:ea typeface="Meiryo"/>
                <a:cs typeface="Meiryo"/>
              </a:defRPr>
            </a:defPPr>
          </a:lstStyle>
          <a:p xmlns:a="http://schemas.openxmlformats.org/drawingml/2006/main">
            <a:pPr algn="l">
              <a:defRPr sz="3000" b="1">
                <a:solidFill>
                  <a:srgbClr val="231F20"/>
                </a:solidFill>
                <a:latin typeface="Meiryo"/>
                <a:ea typeface="Meiryo"/>
                <a:cs typeface="Meiryo"/>
              </a:defRPr>
            </a:pPr>
            <a:r>
              <a:rPr sz="3000" b="1">
                <a:solidFill>
                  <a:srgbClr val="231F20"/>
                </a:solidFill>
                <a:latin typeface="Meiryo"/>
                <a:ea typeface="Meiryo"/>
                <a:cs typeface="Meiryo"/>
              </a:rPr>
              <a:t>ゲームの状態を画像に変える</a:t>
            </a:r>
          </a:p>
        </p:txBody>
      </p:sp>
      <p:sp>
        <p:nvSpPr>
          <p:cNvPr id="2" name="text-80">
            <a:extLst xmlns:a="http://schemas.openxmlformats.org/drawingml/2006/main">
              <a:ext uri="{FF2B5EF4-FFF2-40B4-BE49-F238E27FC236}">
                <a16:creationId xmlns:a16="http://schemas.microsoft.com/office/drawing/2014/main" id="{49558AD8-F9DE-4FCA-B723-D5FC52143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6362700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r">
              <a:defRPr sz="1350" b="0">
                <a:solidFill>
                  <a:srgbClr val="231F20"/>
                </a:solidFill>
                <a:latin typeface="Meiryo"/>
                <a:ea typeface="Meiryo"/>
                <a:cs typeface="Meiryo"/>
              </a:defRPr>
            </a:defPPr>
          </a:lstStyle>
          <a:p xmlns:a="http://schemas.openxmlformats.org/drawingml/2006/main">
            <a:pPr algn="r">
              <a:defRPr sz="1350" b="0">
                <a:solidFill>
                  <a:srgbClr val="231F20"/>
                </a:solidFill>
                <a:latin typeface="Meiryo"/>
                <a:ea typeface="Meiryo"/>
                <a:cs typeface="Meiryo"/>
              </a:defRPr>
            </a:pPr>
            <a:r>
              <a:rPr sz="1350" b="0">
                <a:solidFill>
                  <a:srgbClr val="231F20"/>
                </a:solidFill>
                <a:latin typeface="Meiryo"/>
                <a:ea typeface="Meiryo"/>
                <a:cs typeface="Meiryo"/>
              </a:rPr>
              <a:t>4</a:t>
            </a:r>
          </a:p>
        </p:txBody>
      </p:sp>
      <p:sp>
        <p:nvSpPr>
          <p:cNvPr id="3" name="circuit-81">
            <a:extLst xmlns:a="http://schemas.openxmlformats.org/drawingml/2006/main">
              <a:ext uri="{FF2B5EF4-FFF2-40B4-BE49-F238E27FC236}">
                <a16:creationId xmlns:a16="http://schemas.microsoft.com/office/drawing/2014/main" id="{978E1FF2-F1F5-4217-AAAD-9A927F82F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47850"/>
            <a:ext cx="23431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BF8"/>
          </a:solidFill>
          <a:ln xmlns:a="http://schemas.openxmlformats.org/drawingml/2006/main" w="19050">
            <a:solidFill>
              <a:srgbClr val="231F20"/>
            </a:solidFill>
          </a:ln>
        </p:spPr>
      </p:sp>
      <p:sp>
        <p:nvSpPr>
          <p:cNvPr id="4" name="text-82">
            <a:extLst xmlns:a="http://schemas.openxmlformats.org/drawingml/2006/main">
              <a:ext uri="{FF2B5EF4-FFF2-40B4-BE49-F238E27FC236}">
                <a16:creationId xmlns:a16="http://schemas.microsoft.com/office/drawing/2014/main" id="{2C6B8BAB-65FA-4080-87ED-6AF953F65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905000"/>
            <a:ext cx="21145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950" b="0">
                <a:solidFill>
                  <a:srgbClr val="231F20"/>
                </a:solidFill>
                <a:latin typeface="Meiryo"/>
                <a:ea typeface="Meiryo"/>
                <a:cs typeface="Meiryo"/>
              </a:defRPr>
            </a:defPPr>
          </a:lstStyle>
          <a:p xmlns:a="http://schemas.openxmlformats.org/drawingml/2006/main">
            <a:pPr algn="ctr">
              <a:defRPr sz="1950" b="0">
                <a:solidFill>
                  <a:srgbClr val="231F20"/>
                </a:solidFill>
                <a:latin typeface="Meiryo"/>
                <a:ea typeface="Meiryo"/>
                <a:cs typeface="Meiryo"/>
              </a:defRPr>
            </a:pPr>
            <a:r>
              <a:rPr sz="1950" b="0">
                <a:solidFill>
                  <a:srgbClr val="231F20"/>
                </a:solidFill>
                <a:latin typeface="Meiryo"/>
                <a:ea typeface="Meiryo"/>
                <a:cs typeface="Meiryo"/>
              </a:rPr>
              <a:t>CPUで位置を更新</a:t>
            </a:r>
          </a:p>
        </p:txBody>
      </p:sp>
      <p:sp>
        <p:nvSpPr>
          <p:cNvPr id="5" name="circuit-83">
            <a:extLst xmlns:a="http://schemas.openxmlformats.org/drawingml/2006/main">
              <a:ext uri="{FF2B5EF4-FFF2-40B4-BE49-F238E27FC236}">
                <a16:creationId xmlns:a16="http://schemas.microsoft.com/office/drawing/2014/main" id="{06A60284-33F5-494A-828F-D2DA63D28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14725" y="1847850"/>
            <a:ext cx="23431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BF8"/>
          </a:solidFill>
          <a:ln xmlns:a="http://schemas.openxmlformats.org/drawingml/2006/main" w="19050">
            <a:solidFill>
              <a:srgbClr val="231F20"/>
            </a:solidFill>
          </a:ln>
        </p:spPr>
      </p:sp>
      <p:sp>
        <p:nvSpPr>
          <p:cNvPr id="6" name="text-84">
            <a:extLst xmlns:a="http://schemas.openxmlformats.org/drawingml/2006/main">
              <a:ext uri="{FF2B5EF4-FFF2-40B4-BE49-F238E27FC236}">
                <a16:creationId xmlns:a16="http://schemas.microsoft.com/office/drawing/2014/main" id="{ECAEDDDB-0E24-4F58-B95D-D0D6C63A5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29025" y="1905000"/>
            <a:ext cx="21145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950" b="0">
                <a:solidFill>
                  <a:srgbClr val="231F20"/>
                </a:solidFill>
                <a:latin typeface="Meiryo"/>
                <a:ea typeface="Meiryo"/>
                <a:cs typeface="Meiryo"/>
              </a:defRPr>
            </a:defPPr>
          </a:lstStyle>
          <a:p xmlns:a="http://schemas.openxmlformats.org/drawingml/2006/main">
            <a:pPr algn="ctr">
              <a:defRPr sz="1950" b="0">
                <a:solidFill>
                  <a:srgbClr val="231F20"/>
                </a:solidFill>
                <a:latin typeface="Meiryo"/>
                <a:ea typeface="Meiryo"/>
                <a:cs typeface="Meiryo"/>
              </a:defRPr>
            </a:pPr>
            <a:r>
              <a:rPr sz="1950" b="0">
                <a:solidFill>
                  <a:srgbClr val="231F20"/>
                </a:solidFill>
                <a:latin typeface="Meiryo"/>
                <a:ea typeface="Meiryo"/>
                <a:cs typeface="Meiryo"/>
              </a:rPr>
              <a:t>描画命令を用意</a:t>
            </a:r>
          </a:p>
        </p:txBody>
      </p:sp>
      <p:sp>
        <p:nvSpPr>
          <p:cNvPr id="7" name="circuit-85">
            <a:extLst xmlns:a="http://schemas.openxmlformats.org/drawingml/2006/main">
              <a:ext uri="{FF2B5EF4-FFF2-40B4-BE49-F238E27FC236}">
                <a16:creationId xmlns:a16="http://schemas.microsoft.com/office/drawing/2014/main" id="{A6A43697-112B-44C2-B617-4988032B6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1847850"/>
            <a:ext cx="23431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BF8"/>
          </a:solidFill>
          <a:ln xmlns:a="http://schemas.openxmlformats.org/drawingml/2006/main" w="19050">
            <a:solidFill>
              <a:srgbClr val="231F20"/>
            </a:solidFill>
          </a:ln>
        </p:spPr>
      </p:sp>
      <p:sp>
        <p:nvSpPr>
          <p:cNvPr id="8" name="text-86">
            <a:extLst xmlns:a="http://schemas.openxmlformats.org/drawingml/2006/main">
              <a:ext uri="{FF2B5EF4-FFF2-40B4-BE49-F238E27FC236}">
                <a16:creationId xmlns:a16="http://schemas.microsoft.com/office/drawing/2014/main" id="{1A7533A3-0DDA-40B2-B97D-666DF0F5C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1905000"/>
            <a:ext cx="21145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950" b="0">
                <a:solidFill>
                  <a:srgbClr val="231F20"/>
                </a:solidFill>
                <a:latin typeface="Meiryo"/>
                <a:ea typeface="Meiryo"/>
                <a:cs typeface="Meiryo"/>
              </a:defRPr>
            </a:defPPr>
          </a:lstStyle>
          <a:p xmlns:a="http://schemas.openxmlformats.org/drawingml/2006/main">
            <a:pPr algn="ctr">
              <a:defRPr sz="1950" b="0">
                <a:solidFill>
                  <a:srgbClr val="231F20"/>
                </a:solidFill>
                <a:latin typeface="Meiryo"/>
                <a:ea typeface="Meiryo"/>
                <a:cs typeface="Meiryo"/>
              </a:defRPr>
            </a:pPr>
            <a:r>
              <a:rPr sz="1950" b="0">
                <a:solidFill>
                  <a:srgbClr val="231F20"/>
                </a:solidFill>
                <a:latin typeface="Meiryo"/>
                <a:ea typeface="Meiryo"/>
                <a:cs typeface="Meiryo"/>
              </a:rPr>
              <a:t>RasterIXで描画</a:t>
            </a:r>
          </a:p>
        </p:txBody>
      </p:sp>
      <p:sp>
        <p:nvSpPr>
          <p:cNvPr id="9" name="circuit-87">
            <a:extLst xmlns:a="http://schemas.openxmlformats.org/drawingml/2006/main">
              <a:ext uri="{FF2B5EF4-FFF2-40B4-BE49-F238E27FC236}">
                <a16:creationId xmlns:a16="http://schemas.microsoft.com/office/drawing/2014/main" id="{9ED800DD-833D-4E43-9485-88347B078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4975" y="1847850"/>
            <a:ext cx="2257425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BF8"/>
          </a:solidFill>
          <a:ln xmlns:a="http://schemas.openxmlformats.org/drawingml/2006/main" w="19050">
            <a:solidFill>
              <a:srgbClr val="231F20"/>
            </a:solidFill>
          </a:ln>
        </p:spPr>
      </p:sp>
      <p:sp>
        <p:nvSpPr>
          <p:cNvPr id="10" name="text-88">
            <a:extLst xmlns:a="http://schemas.openxmlformats.org/drawingml/2006/main">
              <a:ext uri="{FF2B5EF4-FFF2-40B4-BE49-F238E27FC236}">
                <a16:creationId xmlns:a16="http://schemas.microsoft.com/office/drawing/2014/main" id="{08A01343-A90B-435E-BC43-BF423422A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39275" y="1905000"/>
            <a:ext cx="20288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950" b="0">
                <a:solidFill>
                  <a:srgbClr val="231F20"/>
                </a:solidFill>
                <a:latin typeface="Meiryo"/>
                <a:ea typeface="Meiryo"/>
                <a:cs typeface="Meiryo"/>
              </a:defRPr>
            </a:defPPr>
          </a:lstStyle>
          <a:p xmlns:a="http://schemas.openxmlformats.org/drawingml/2006/main">
            <a:pPr algn="ctr">
              <a:defRPr sz="1950" b="0">
                <a:solidFill>
                  <a:srgbClr val="231F20"/>
                </a:solidFill>
                <a:latin typeface="Meiryo"/>
                <a:ea typeface="Meiryo"/>
                <a:cs typeface="Meiryo"/>
              </a:defRPr>
            </a:pPr>
            <a:r>
              <a:rPr sz="1950" b="0">
                <a:solidFill>
                  <a:srgbClr val="231F20"/>
                </a:solidFill>
                <a:latin typeface="Meiryo"/>
                <a:ea typeface="Meiryo"/>
                <a:cs typeface="Meiryo"/>
              </a:rPr>
              <a:t>画面へ表示</a:t>
            </a:r>
          </a:p>
        </p:txBody>
      </p:sp>
      <p:sp>
        <p:nvSpPr>
          <p:cNvPr id="11" name="wire-89">
            <a:extLst xmlns:a="http://schemas.openxmlformats.org/drawingml/2006/main">
              <a:ext uri="{FF2B5EF4-FFF2-40B4-BE49-F238E27FC236}">
                <a16:creationId xmlns:a16="http://schemas.microsoft.com/office/drawing/2014/main" id="{8F6398AF-343F-4A99-8283-2B98F303C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2181225"/>
            <a:ext cx="428625" cy="9525"/>
          </a:xfrm>
          <a:custGeom xmlns:a="http://schemas.openxmlformats.org/drawingml/2006/main">
            <a:pathLst>
              <a:path w="428625" h="9525">
                <a:moveTo>
                  <a:pt x="0" y="0"/>
                </a:moveTo>
                <a:lnTo>
                  <a:pt x="4286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955">
            <a:solidFill>
              <a:srgbClr val="231F20"/>
            </a:solidFill>
          </a:ln>
        </p:spPr>
      </p:sp>
      <p:sp>
        <p:nvSpPr>
          <p:cNvPr id="12" name="logic-90">
            <a:extLst xmlns:a="http://schemas.openxmlformats.org/drawingml/2006/main">
              <a:ext uri="{FF2B5EF4-FFF2-40B4-BE49-F238E27FC236}">
                <a16:creationId xmlns:a16="http://schemas.microsoft.com/office/drawing/2014/main" id="{60F88848-36A3-4060-875B-2609B1F51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24225" y="2133600"/>
            <a:ext cx="114300" cy="95250"/>
          </a:xfrm>
          <a:custGeom xmlns:a="http://schemas.openxmlformats.org/drawingml/2006/main">
            <a:pathLst>
              <a:path w="114300" h="95250">
                <a:moveTo>
                  <a:pt x="114300" y="47625"/>
                </a:moveTo>
                <a:lnTo>
                  <a:pt x="0" y="0"/>
                </a:lnTo>
                <a:lnTo>
                  <a:pt x="0" y="95250"/>
                </a:lnTo>
                <a:close/>
              </a:path>
            </a:pathLst>
          </a:custGeom>
          <a:solidFill xmlns:a="http://schemas.openxmlformats.org/drawingml/2006/main">
            <a:srgbClr val="231F20"/>
          </a:solidFill>
          <a:ln xmlns:a="http://schemas.openxmlformats.org/drawingml/2006/main" w="19050">
            <a:solidFill>
              <a:srgbClr val="231F20"/>
            </a:solidFill>
          </a:ln>
        </p:spPr>
      </p:sp>
      <p:sp>
        <p:nvSpPr>
          <p:cNvPr id="13" name="wire-91">
            <a:extLst xmlns:a="http://schemas.openxmlformats.org/drawingml/2006/main">
              <a:ext uri="{FF2B5EF4-FFF2-40B4-BE49-F238E27FC236}">
                <a16:creationId xmlns:a16="http://schemas.microsoft.com/office/drawing/2014/main" id="{62933A74-5F44-4BB2-8A91-6B12F53A2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15025" y="2181225"/>
            <a:ext cx="428625" cy="9525"/>
          </a:xfrm>
          <a:custGeom xmlns:a="http://schemas.openxmlformats.org/drawingml/2006/main">
            <a:pathLst>
              <a:path w="428625" h="9525">
                <a:moveTo>
                  <a:pt x="0" y="0"/>
                </a:moveTo>
                <a:lnTo>
                  <a:pt x="4286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955">
            <a:solidFill>
              <a:srgbClr val="231F20"/>
            </a:solidFill>
          </a:ln>
        </p:spPr>
      </p:sp>
      <p:sp>
        <p:nvSpPr>
          <p:cNvPr id="14" name="logic-92">
            <a:extLst xmlns:a="http://schemas.openxmlformats.org/drawingml/2006/main">
              <a:ext uri="{FF2B5EF4-FFF2-40B4-BE49-F238E27FC236}">
                <a16:creationId xmlns:a16="http://schemas.microsoft.com/office/drawing/2014/main" id="{8E812F4A-EFBB-49C7-A875-992E25314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133600"/>
            <a:ext cx="114300" cy="95250"/>
          </a:xfrm>
          <a:custGeom xmlns:a="http://schemas.openxmlformats.org/drawingml/2006/main">
            <a:pathLst>
              <a:path w="114300" h="95250">
                <a:moveTo>
                  <a:pt x="114300" y="47625"/>
                </a:moveTo>
                <a:lnTo>
                  <a:pt x="0" y="0"/>
                </a:lnTo>
                <a:lnTo>
                  <a:pt x="0" y="95250"/>
                </a:lnTo>
                <a:close/>
              </a:path>
            </a:pathLst>
          </a:custGeom>
          <a:solidFill xmlns:a="http://schemas.openxmlformats.org/drawingml/2006/main">
            <a:srgbClr val="231F20"/>
          </a:solidFill>
          <a:ln xmlns:a="http://schemas.openxmlformats.org/drawingml/2006/main" w="19050">
            <a:solidFill>
              <a:srgbClr val="231F20"/>
            </a:solidFill>
          </a:ln>
        </p:spPr>
      </p:sp>
      <p:sp>
        <p:nvSpPr>
          <p:cNvPr id="15" name="wire-93">
            <a:extLst xmlns:a="http://schemas.openxmlformats.org/drawingml/2006/main">
              <a:ext uri="{FF2B5EF4-FFF2-40B4-BE49-F238E27FC236}">
                <a16:creationId xmlns:a16="http://schemas.microsoft.com/office/drawing/2014/main" id="{8FCB49FB-FEAF-4E9B-BBD9-2FF6D281B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2181225"/>
            <a:ext cx="428625" cy="9525"/>
          </a:xfrm>
          <a:custGeom xmlns:a="http://schemas.openxmlformats.org/drawingml/2006/main">
            <a:pathLst>
              <a:path w="428625" h="9525">
                <a:moveTo>
                  <a:pt x="0" y="0"/>
                </a:moveTo>
                <a:lnTo>
                  <a:pt x="4286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955">
            <a:solidFill>
              <a:srgbClr val="231F20"/>
            </a:solidFill>
          </a:ln>
        </p:spPr>
      </p:sp>
      <p:sp>
        <p:nvSpPr>
          <p:cNvPr id="16" name="logic-94">
            <a:extLst xmlns:a="http://schemas.openxmlformats.org/drawingml/2006/main">
              <a:ext uri="{FF2B5EF4-FFF2-40B4-BE49-F238E27FC236}">
                <a16:creationId xmlns:a16="http://schemas.microsoft.com/office/drawing/2014/main" id="{79784863-1F5C-4CE2-9B57-AD215FF79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34475" y="2133600"/>
            <a:ext cx="114300" cy="95250"/>
          </a:xfrm>
          <a:custGeom xmlns:a="http://schemas.openxmlformats.org/drawingml/2006/main">
            <a:pathLst>
              <a:path w="114300" h="95250">
                <a:moveTo>
                  <a:pt x="114300" y="47625"/>
                </a:moveTo>
                <a:lnTo>
                  <a:pt x="0" y="0"/>
                </a:lnTo>
                <a:lnTo>
                  <a:pt x="0" y="95250"/>
                </a:lnTo>
                <a:close/>
              </a:path>
            </a:pathLst>
          </a:custGeom>
          <a:solidFill xmlns:a="http://schemas.openxmlformats.org/drawingml/2006/main">
            <a:srgbClr val="231F20"/>
          </a:solidFill>
          <a:ln xmlns:a="http://schemas.openxmlformats.org/drawingml/2006/main" w="19050">
            <a:solidFill>
              <a:srgbClr val="231F20"/>
            </a:solidFill>
          </a:ln>
        </p:spPr>
      </p:sp>
      <p:sp>
        <p:nvSpPr>
          <p:cNvPr id="17" name="text-95">
            <a:extLst xmlns:a="http://schemas.openxmlformats.org/drawingml/2006/main">
              <a:ext uri="{FF2B5EF4-FFF2-40B4-BE49-F238E27FC236}">
                <a16:creationId xmlns:a16="http://schemas.microsoft.com/office/drawing/2014/main" id="{E9351406-D0B7-4C5F-9D71-669798016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143250"/>
            <a:ext cx="21526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2175" b="0">
                <a:solidFill>
                  <a:srgbClr val="231F20"/>
                </a:solidFill>
                <a:latin typeface="Meiryo"/>
                <a:ea typeface="Meiryo"/>
                <a:cs typeface="Meiryo"/>
              </a:defRPr>
            </a:defPPr>
          </a:lstStyle>
          <a:p xmlns:a="http://schemas.openxmlformats.org/drawingml/2006/main">
            <a:pPr algn="ctr">
              <a:defRPr sz="2175" b="0">
                <a:solidFill>
                  <a:srgbClr val="231F20"/>
                </a:solidFill>
                <a:latin typeface="Meiryo"/>
                <a:ea typeface="Meiryo"/>
                <a:cs typeface="Meiryo"/>
              </a:defRPr>
            </a:pPr>
            <a:r>
              <a:rPr sz="2175" b="0">
                <a:solidFill>
                  <a:srgbClr val="231F20"/>
                </a:solidFill>
                <a:latin typeface="Meiryo"/>
                <a:ea typeface="Meiryo"/>
                <a:cs typeface="Meiryo"/>
              </a:rPr>
              <a:t>ボールの位置</a:t>
            </a:r>
          </a:p>
          <a:p xmlns:a="http://schemas.openxmlformats.org/drawingml/2006/main">
            <a:pPr algn="ctr">
              <a:defRPr sz="2175" b="0">
                <a:solidFill>
                  <a:srgbClr val="231F20"/>
                </a:solidFill>
                <a:latin typeface="Meiryo"/>
                <a:ea typeface="Meiryo"/>
                <a:cs typeface="Meiryo"/>
              </a:defRPr>
            </a:pPr>
            <a:r>
              <a:rPr sz="2175" b="0">
                <a:solidFill>
                  <a:srgbClr val="231F20"/>
                </a:solidFill>
                <a:latin typeface="Meiryo"/>
                <a:ea typeface="Meiryo"/>
                <a:cs typeface="Meiryo"/>
              </a:rPr>
              <a:t>(x, y)</a:t>
            </a:r>
          </a:p>
        </p:txBody>
      </p:sp>
      <p:sp>
        <p:nvSpPr>
          <p:cNvPr id="18" name="text-96">
            <a:extLst xmlns:a="http://schemas.openxmlformats.org/drawingml/2006/main">
              <a:ext uri="{FF2B5EF4-FFF2-40B4-BE49-F238E27FC236}">
                <a16:creationId xmlns:a16="http://schemas.microsoft.com/office/drawing/2014/main" id="{D66BA80A-7DFF-4A31-809E-9D94DE4FB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9975" y="3067050"/>
            <a:ext cx="21526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875" b="0">
                <a:solidFill>
                  <a:srgbClr val="231F20"/>
                </a:solidFill>
                <a:latin typeface="Meiryo"/>
                <a:ea typeface="Meiryo"/>
                <a:cs typeface="Meiryo"/>
              </a:defRPr>
            </a:defPPr>
          </a:lstStyle>
          <a:p xmlns:a="http://schemas.openxmlformats.org/drawingml/2006/main">
            <a:pPr algn="ctr">
              <a:defRPr sz="1875" b="0">
                <a:solidFill>
                  <a:srgbClr val="231F20"/>
                </a:solidFill>
                <a:latin typeface="Meiryo"/>
                <a:ea typeface="Meiryo"/>
                <a:cs typeface="Meiryo"/>
              </a:defRPr>
            </a:pPr>
            <a:r>
              <a:rPr sz="1875" b="0">
                <a:solidFill>
                  <a:srgbClr val="231F20"/>
                </a:solidFill>
                <a:latin typeface="Meiryo"/>
                <a:ea typeface="Meiryo"/>
                <a:cs typeface="Meiryo"/>
              </a:rPr>
              <a:t>OpenGL互換</a:t>
            </a:r>
          </a:p>
          <a:p xmlns:a="http://schemas.openxmlformats.org/drawingml/2006/main">
            <a:pPr algn="ctr">
              <a:defRPr sz="1875" b="0">
                <a:solidFill>
                  <a:srgbClr val="231F20"/>
                </a:solidFill>
                <a:latin typeface="Meiryo"/>
                <a:ea typeface="Meiryo"/>
                <a:cs typeface="Meiryo"/>
              </a:defRPr>
            </a:pPr>
            <a:r>
              <a:rPr sz="1875" b="0">
                <a:solidFill>
                  <a:srgbClr val="231F20"/>
                </a:solidFill>
                <a:latin typeface="Meiryo"/>
                <a:ea typeface="Meiryo"/>
                <a:cs typeface="Meiryo"/>
              </a:rPr>
              <a:t>ライブラリが命令を</a:t>
            </a:r>
          </a:p>
          <a:p xmlns:a="http://schemas.openxmlformats.org/drawingml/2006/main">
            <a:pPr algn="ctr">
              <a:defRPr sz="1875" b="0">
                <a:solidFill>
                  <a:srgbClr val="231F20"/>
                </a:solidFill>
                <a:latin typeface="Meiryo"/>
                <a:ea typeface="Meiryo"/>
                <a:cs typeface="Meiryo"/>
              </a:defRPr>
            </a:pPr>
            <a:r>
              <a:rPr sz="1875" b="0">
                <a:solidFill>
                  <a:srgbClr val="231F20"/>
                </a:solidFill>
                <a:latin typeface="Meiryo"/>
                <a:ea typeface="Meiryo"/>
                <a:cs typeface="Meiryo"/>
              </a:rPr>
              <a:t>メモリに用意</a:t>
            </a:r>
          </a:p>
        </p:txBody>
      </p:sp>
      <p:sp>
        <p:nvSpPr>
          <p:cNvPr id="19" name="text-97">
            <a:extLst xmlns:a="http://schemas.openxmlformats.org/drawingml/2006/main">
              <a:ext uri="{FF2B5EF4-FFF2-40B4-BE49-F238E27FC236}">
                <a16:creationId xmlns:a16="http://schemas.microsoft.com/office/drawing/2014/main" id="{C6EB3435-B13C-43FB-B339-3E2564808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143250"/>
            <a:ext cx="21526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2100" b="0">
                <a:solidFill>
                  <a:srgbClr val="231F20"/>
                </a:solidFill>
                <a:latin typeface="Meiryo"/>
                <a:ea typeface="Meiryo"/>
                <a:cs typeface="Meiryo"/>
              </a:defRPr>
            </a:defPPr>
          </a:lstStyle>
          <a:p xmlns:a="http://schemas.openxmlformats.org/drawingml/2006/main">
            <a:pPr algn="ctr">
              <a:defRPr sz="2100" b="0">
                <a:solidFill>
                  <a:srgbClr val="231F20"/>
                </a:solidFill>
                <a:latin typeface="Meiryo"/>
                <a:ea typeface="Meiryo"/>
                <a:cs typeface="Meiryo"/>
              </a:defRPr>
            </a:pPr>
            <a:r>
              <a:rPr sz="2100" b="0">
                <a:solidFill>
                  <a:srgbClr val="231F20"/>
                </a:solidFill>
                <a:latin typeface="Meiryo"/>
                <a:ea typeface="Meiryo"/>
                <a:cs typeface="Meiryo"/>
              </a:rPr>
              <a:t>画素の色を</a:t>
            </a:r>
          </a:p>
          <a:p xmlns:a="http://schemas.openxmlformats.org/drawingml/2006/main">
            <a:pPr algn="ctr">
              <a:defRPr sz="2100" b="0">
                <a:solidFill>
                  <a:srgbClr val="231F20"/>
                </a:solidFill>
                <a:latin typeface="Meiryo"/>
                <a:ea typeface="Meiryo"/>
                <a:cs typeface="Meiryo"/>
              </a:defRPr>
            </a:pPr>
            <a:r>
              <a:rPr sz="2100" b="0">
                <a:solidFill>
                  <a:srgbClr val="231F20"/>
                </a:solidFill>
                <a:latin typeface="Meiryo"/>
                <a:ea typeface="Meiryo"/>
                <a:cs typeface="Meiryo"/>
              </a:rPr>
              <a:t>メモリへ保存</a:t>
            </a:r>
          </a:p>
        </p:txBody>
      </p:sp>
      <p:sp>
        <p:nvSpPr>
          <p:cNvPr id="20" name="circuit-98">
            <a:extLst xmlns:a="http://schemas.openxmlformats.org/drawingml/2006/main">
              <a:ext uri="{FF2B5EF4-FFF2-40B4-BE49-F238E27FC236}">
                <a16:creationId xmlns:a16="http://schemas.microsoft.com/office/drawing/2014/main" id="{EEA2A087-CE3B-42CF-9C0E-BA42BA254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53575" y="3105150"/>
            <a:ext cx="1704975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231F20"/>
            </a:solidFill>
          </a:ln>
        </p:spPr>
      </p:sp>
      <p:sp>
        <p:nvSpPr>
          <p:cNvPr id="21" name="circuit-99">
            <a:extLst xmlns:a="http://schemas.openxmlformats.org/drawingml/2006/main">
              <a:ext uri="{FF2B5EF4-FFF2-40B4-BE49-F238E27FC236}">
                <a16:creationId xmlns:a16="http://schemas.microsoft.com/office/drawing/2014/main" id="{D2748C8D-4A69-4441-9BC5-CEEF7BB30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06025" y="3562350"/>
            <a:ext cx="333375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3C3"/>
          </a:solidFill>
          <a:ln xmlns:a="http://schemas.openxmlformats.org/drawingml/2006/main" w="19050">
            <a:solidFill>
              <a:srgbClr val="231F20"/>
            </a:solidFill>
          </a:ln>
        </p:spPr>
      </p:sp>
      <p:sp>
        <p:nvSpPr>
          <p:cNvPr id="22" name="wire-100">
            <a:extLst xmlns:a="http://schemas.openxmlformats.org/drawingml/2006/main">
              <a:ext uri="{FF2B5EF4-FFF2-40B4-BE49-F238E27FC236}">
                <a16:creationId xmlns:a16="http://schemas.microsoft.com/office/drawing/2014/main" id="{E45C1318-88DD-4A34-8704-CE03610A7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0825" y="4343400"/>
            <a:ext cx="9525" cy="219075"/>
          </a:xfrm>
          <a:custGeom xmlns:a="http://schemas.openxmlformats.org/drawingml/2006/main">
            <a:pathLst>
              <a:path w="9525" h="219075">
                <a:moveTo>
                  <a:pt x="0" y="0"/>
                </a:moveTo>
                <a:lnTo>
                  <a:pt x="0" y="219075"/>
                </a:lnTo>
              </a:path>
            </a:pathLst>
          </a:custGeom>
          <a:noFill xmlns:a="http://schemas.openxmlformats.org/drawingml/2006/main"/>
          <a:ln xmlns:a="http://schemas.openxmlformats.org/drawingml/2006/main" w="20955">
            <a:solidFill>
              <a:srgbClr val="231F20"/>
            </a:solidFill>
          </a:ln>
        </p:spPr>
      </p:sp>
      <p:sp>
        <p:nvSpPr>
          <p:cNvPr id="23" name="wire-101">
            <a:extLst xmlns:a="http://schemas.openxmlformats.org/drawingml/2006/main">
              <a:ext uri="{FF2B5EF4-FFF2-40B4-BE49-F238E27FC236}">
                <a16:creationId xmlns:a16="http://schemas.microsoft.com/office/drawing/2014/main" id="{B3CF5F44-BF42-4452-AF41-004887747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72700" y="4562475"/>
            <a:ext cx="476250" cy="9525"/>
          </a:xfrm>
          <a:custGeom xmlns:a="http://schemas.openxmlformats.org/drawingml/2006/main">
            <a:pathLst>
              <a:path w="476250" h="9525">
                <a:moveTo>
                  <a:pt x="0" y="0"/>
                </a:moveTo>
                <a:lnTo>
                  <a:pt x="4762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955">
            <a:solidFill>
              <a:srgbClr val="231F20"/>
            </a:solidFill>
          </a:ln>
        </p:spPr>
      </p:sp>
      <p:sp>
        <p:nvSpPr>
          <p:cNvPr id="24" name="text-102">
            <a:extLst xmlns:a="http://schemas.openxmlformats.org/drawingml/2006/main">
              <a:ext uri="{FF2B5EF4-FFF2-40B4-BE49-F238E27FC236}">
                <a16:creationId xmlns:a16="http://schemas.microsoft.com/office/drawing/2014/main" id="{BF21BC09-CD08-471F-8967-D14E667D9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4857750"/>
            <a:ext cx="6572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2400" b="1">
                <a:solidFill>
                  <a:srgbClr val="231F20"/>
                </a:solidFill>
                <a:latin typeface="Meiryo"/>
                <a:ea typeface="Meiryo"/>
                <a:cs typeface="Meiryo"/>
              </a:defRPr>
            </a:defPPr>
          </a:lstStyle>
          <a:p xmlns:a="http://schemas.openxmlformats.org/drawingml/2006/main">
            <a:pPr algn="ctr">
              <a:defRPr sz="2400" b="1">
                <a:solidFill>
                  <a:srgbClr val="231F20"/>
                </a:solidFill>
                <a:latin typeface="Meiryo"/>
                <a:ea typeface="Meiryo"/>
                <a:cs typeface="Meiryo"/>
              </a:defRPr>
            </a:pPr>
            <a:r>
              <a:rPr sz="2400" b="1">
                <a:solidFill>
                  <a:srgbClr val="231F20"/>
                </a:solidFill>
                <a:latin typeface="Meiryo"/>
                <a:ea typeface="Meiryo"/>
                <a:cs typeface="Meiryo"/>
              </a:rPr>
              <a:t>一画面分の処理を繰り返す</a:t>
            </a:r>
          </a:p>
        </p:txBody>
      </p:sp>
      <p:sp>
        <p:nvSpPr>
          <p:cNvPr id="25" name="text-103">
            <a:extLst xmlns:a="http://schemas.openxmlformats.org/drawingml/2006/main">
              <a:ext uri="{FF2B5EF4-FFF2-40B4-BE49-F238E27FC236}">
                <a16:creationId xmlns:a16="http://schemas.microsoft.com/office/drawing/2014/main" id="{4276F575-7073-4702-A2A0-25E5CF8AE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619750"/>
            <a:ext cx="10668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2250" b="0">
                <a:solidFill>
                  <a:srgbClr val="231F20"/>
                </a:solidFill>
                <a:latin typeface="Meiryo"/>
                <a:ea typeface="Meiryo"/>
                <a:cs typeface="Meiryo"/>
              </a:defRPr>
            </a:defPPr>
          </a:lstStyle>
          <a:p xmlns:a="http://schemas.openxmlformats.org/drawingml/2006/main">
            <a:pPr algn="ctr">
              <a:defRPr sz="2250" b="0">
                <a:solidFill>
                  <a:srgbClr val="231F20"/>
                </a:solidFill>
                <a:latin typeface="Meiryo"/>
                <a:ea typeface="Meiryo"/>
                <a:cs typeface="Meiryo"/>
              </a:defRPr>
            </a:pPr>
            <a:r>
              <a:rPr sz="2250" b="0">
                <a:solidFill>
                  <a:srgbClr val="231F20"/>
                </a:solidFill>
                <a:latin typeface="Meiryo"/>
                <a:ea typeface="Meiryo"/>
                <a:cs typeface="Meiryo"/>
              </a:rPr>
              <a:t>CPUは位置を計算し、描画回路は画素の色を作る</a:t>
            </a:r>
          </a:p>
        </p:txBody>
      </p:sp>
    </p:spTree>
    <p:extLst>
      <p:ext uri="{BB962C8B-B14F-4D97-AF65-F5344CB8AC3E}">
        <p14:creationId xmlns:p14="http://schemas.microsoft.com/office/powerpoint/2010/main" val="57469459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text-104">
            <a:extLst xmlns:a="http://schemas.openxmlformats.org/drawingml/2006/main">
              <a:ext uri="{FF2B5EF4-FFF2-40B4-BE49-F238E27FC236}">
                <a16:creationId xmlns:a16="http://schemas.microsoft.com/office/drawing/2014/main" id="{55A6CC84-C8B0-4160-93D8-01BEFBE0D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858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3000" b="1">
                <a:solidFill>
                  <a:srgbClr val="231F20"/>
                </a:solidFill>
                <a:latin typeface="Meiryo"/>
                <a:ea typeface="Meiryo"/>
                <a:cs typeface="Meiryo"/>
              </a:defRPr>
            </a:defPPr>
          </a:lstStyle>
          <a:p xmlns:a="http://schemas.openxmlformats.org/drawingml/2006/main">
            <a:pPr algn="l">
              <a:defRPr sz="3000" b="1">
                <a:solidFill>
                  <a:srgbClr val="231F20"/>
                </a:solidFill>
                <a:latin typeface="Meiryo"/>
                <a:ea typeface="Meiryo"/>
                <a:cs typeface="Meiryo"/>
              </a:defRPr>
            </a:pPr>
            <a:r>
              <a:rPr sz="3000" b="1">
                <a:solidFill>
                  <a:srgbClr val="231F20"/>
                </a:solidFill>
                <a:latin typeface="Meiryo"/>
                <a:ea typeface="Meiryo"/>
                <a:cs typeface="Meiryo"/>
              </a:rPr>
              <a:t>CPUから描画回路へ命令を渡す</a:t>
            </a:r>
          </a:p>
        </p:txBody>
      </p:sp>
      <p:sp>
        <p:nvSpPr>
          <p:cNvPr id="2" name="text-105">
            <a:extLst xmlns:a="http://schemas.openxmlformats.org/drawingml/2006/main">
              <a:ext uri="{FF2B5EF4-FFF2-40B4-BE49-F238E27FC236}">
                <a16:creationId xmlns:a16="http://schemas.microsoft.com/office/drawing/2014/main" id="{EA0DB09B-F9B9-48B7-9DF2-1AC3DC1C8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6362700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r">
              <a:defRPr sz="1350" b="0">
                <a:solidFill>
                  <a:srgbClr val="231F20"/>
                </a:solidFill>
                <a:latin typeface="Meiryo"/>
                <a:ea typeface="Meiryo"/>
                <a:cs typeface="Meiryo"/>
              </a:defRPr>
            </a:defPPr>
          </a:lstStyle>
          <a:p xmlns:a="http://schemas.openxmlformats.org/drawingml/2006/main">
            <a:pPr algn="r">
              <a:defRPr sz="1350" b="0">
                <a:solidFill>
                  <a:srgbClr val="231F20"/>
                </a:solidFill>
                <a:latin typeface="Meiryo"/>
                <a:ea typeface="Meiryo"/>
                <a:cs typeface="Meiryo"/>
              </a:defRPr>
            </a:pPr>
            <a:r>
              <a:rPr sz="1350" b="0">
                <a:solidFill>
                  <a:srgbClr val="231F20"/>
                </a:solidFill>
                <a:latin typeface="Meiryo"/>
                <a:ea typeface="Meiryo"/>
                <a:cs typeface="Meiryo"/>
              </a:rPr>
              <a:t>5</a:t>
            </a:r>
          </a:p>
        </p:txBody>
      </p:sp>
      <p:sp>
        <p:nvSpPr>
          <p:cNvPr id="3" name="circuit-106">
            <a:extLst xmlns:a="http://schemas.openxmlformats.org/drawingml/2006/main">
              <a:ext uri="{FF2B5EF4-FFF2-40B4-BE49-F238E27FC236}">
                <a16:creationId xmlns:a16="http://schemas.microsoft.com/office/drawing/2014/main" id="{2EF1A8D4-78F7-4E8A-B0EE-95170EC0B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676400"/>
            <a:ext cx="238125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231F20"/>
            </a:solidFill>
          </a:ln>
        </p:spPr>
      </p:sp>
      <p:sp>
        <p:nvSpPr>
          <p:cNvPr id="4" name="text-107">
            <a:extLst xmlns:a="http://schemas.openxmlformats.org/drawingml/2006/main">
              <a:ext uri="{FF2B5EF4-FFF2-40B4-BE49-F238E27FC236}">
                <a16:creationId xmlns:a16="http://schemas.microsoft.com/office/drawing/2014/main" id="{4A060B5F-E5F5-4D18-938A-396700BA3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733550"/>
            <a:ext cx="215265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2175" b="0">
                <a:solidFill>
                  <a:srgbClr val="231F20"/>
                </a:solidFill>
                <a:latin typeface="Meiryo"/>
                <a:ea typeface="Meiryo"/>
                <a:cs typeface="Meiryo"/>
              </a:defRPr>
            </a:defPPr>
          </a:lstStyle>
          <a:p xmlns:a="http://schemas.openxmlformats.org/drawingml/2006/main">
            <a:pPr algn="ctr">
              <a:defRPr sz="2175" b="0">
                <a:solidFill>
                  <a:srgbClr val="231F20"/>
                </a:solidFill>
                <a:latin typeface="Meiryo"/>
                <a:ea typeface="Meiryo"/>
                <a:cs typeface="Meiryo"/>
              </a:defRPr>
            </a:pPr>
            <a:r>
              <a:rPr sz="2175" b="0">
                <a:solidFill>
                  <a:srgbClr val="231F20"/>
                </a:solidFill>
                <a:latin typeface="Meiryo"/>
                <a:ea typeface="Meiryo"/>
                <a:cs typeface="Meiryo"/>
              </a:rPr>
              <a:t>Wally</a:t>
            </a:r>
          </a:p>
          <a:p xmlns:a="http://schemas.openxmlformats.org/drawingml/2006/main">
            <a:pPr algn="ctr">
              <a:defRPr sz="2175" b="0">
                <a:solidFill>
                  <a:srgbClr val="231F20"/>
                </a:solidFill>
                <a:latin typeface="Meiryo"/>
                <a:ea typeface="Meiryo"/>
                <a:cs typeface="Meiryo"/>
              </a:defRPr>
            </a:pPr>
            <a:r>
              <a:rPr sz="2175" b="0">
                <a:solidFill>
                  <a:srgbClr val="231F20"/>
                </a:solidFill>
                <a:latin typeface="Meiryo"/>
                <a:ea typeface="Meiryo"/>
                <a:cs typeface="Meiryo"/>
              </a:rPr>
              <a:t>20 MHz</a:t>
            </a:r>
          </a:p>
        </p:txBody>
      </p:sp>
      <p:sp>
        <p:nvSpPr>
          <p:cNvPr id="5" name="circuit-108">
            <a:extLst xmlns:a="http://schemas.openxmlformats.org/drawingml/2006/main">
              <a:ext uri="{FF2B5EF4-FFF2-40B4-BE49-F238E27FC236}">
                <a16:creationId xmlns:a16="http://schemas.microsoft.com/office/drawing/2014/main" id="{D9D9C3C8-8F64-43FE-B099-FF3586706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5775" y="1676400"/>
            <a:ext cx="352425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BF8"/>
          </a:solidFill>
          <a:ln xmlns:a="http://schemas.openxmlformats.org/drawingml/2006/main" w="19050">
            <a:solidFill>
              <a:srgbClr val="231F20"/>
            </a:solidFill>
          </a:ln>
        </p:spPr>
      </p:sp>
      <p:sp>
        <p:nvSpPr>
          <p:cNvPr id="6" name="text-109">
            <a:extLst xmlns:a="http://schemas.openxmlformats.org/drawingml/2006/main">
              <a:ext uri="{FF2B5EF4-FFF2-40B4-BE49-F238E27FC236}">
                <a16:creationId xmlns:a16="http://schemas.microsoft.com/office/drawing/2014/main" id="{B5442C4B-D603-4D0C-926B-00D8B3E2B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0075" y="1733550"/>
            <a:ext cx="329565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2100" b="0">
                <a:solidFill>
                  <a:srgbClr val="231F20"/>
                </a:solidFill>
                <a:latin typeface="Meiryo"/>
                <a:ea typeface="Meiryo"/>
                <a:cs typeface="Meiryo"/>
              </a:defRPr>
            </a:defPPr>
          </a:lstStyle>
          <a:p xmlns:a="http://schemas.openxmlformats.org/drawingml/2006/main">
            <a:pPr algn="ctr">
              <a:defRPr sz="2100" b="0">
                <a:solidFill>
                  <a:srgbClr val="231F20"/>
                </a:solidFill>
                <a:latin typeface="Meiryo"/>
                <a:ea typeface="Meiryo"/>
                <a:cs typeface="Meiryo"/>
              </a:defRPr>
            </a:pPr>
            <a:r>
              <a:rPr sz="2100" b="0">
                <a:solidFill>
                  <a:srgbClr val="231F20"/>
                </a:solidFill>
                <a:latin typeface="Meiryo"/>
                <a:ea typeface="Meiryo"/>
                <a:cs typeface="Meiryo"/>
              </a:rPr>
              <a:t>接続回路とFIFO</a:t>
            </a:r>
          </a:p>
          <a:p xmlns:a="http://schemas.openxmlformats.org/drawingml/2006/main">
            <a:pPr algn="ctr">
              <a:defRPr sz="2100" b="0">
                <a:solidFill>
                  <a:srgbClr val="231F20"/>
                </a:solidFill>
                <a:latin typeface="Meiryo"/>
                <a:ea typeface="Meiryo"/>
                <a:cs typeface="Meiryo"/>
              </a:defRPr>
            </a:pPr>
            <a:r>
              <a:rPr sz="2100" b="0">
                <a:solidFill>
                  <a:srgbClr val="231F20"/>
                </a:solidFill>
                <a:latin typeface="Meiryo"/>
                <a:ea typeface="Meiryo"/>
                <a:cs typeface="Meiryo"/>
              </a:rPr>
              <a:t>命令を順番に保存</a:t>
            </a:r>
          </a:p>
        </p:txBody>
      </p:sp>
      <p:sp>
        <p:nvSpPr>
          <p:cNvPr id="7" name="circuit-110">
            <a:extLst xmlns:a="http://schemas.openxmlformats.org/drawingml/2006/main">
              <a:ext uri="{FF2B5EF4-FFF2-40B4-BE49-F238E27FC236}">
                <a16:creationId xmlns:a16="http://schemas.microsoft.com/office/drawing/2014/main" id="{F44290F1-3D12-4DF0-BB54-06C306045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1676400"/>
            <a:ext cx="238125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231F20"/>
            </a:solidFill>
          </a:ln>
        </p:spPr>
      </p:sp>
      <p:sp>
        <p:nvSpPr>
          <p:cNvPr id="8" name="text-111">
            <a:extLst xmlns:a="http://schemas.openxmlformats.org/drawingml/2006/main">
              <a:ext uri="{FF2B5EF4-FFF2-40B4-BE49-F238E27FC236}">
                <a16:creationId xmlns:a16="http://schemas.microsoft.com/office/drawing/2014/main" id="{FCF019ED-79BB-4945-96B3-056553E3C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1733550"/>
            <a:ext cx="215265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2175" b="0">
                <a:solidFill>
                  <a:srgbClr val="231F20"/>
                </a:solidFill>
                <a:latin typeface="Meiryo"/>
                <a:ea typeface="Meiryo"/>
                <a:cs typeface="Meiryo"/>
              </a:defRPr>
            </a:defPPr>
          </a:lstStyle>
          <a:p xmlns:a="http://schemas.openxmlformats.org/drawingml/2006/main">
            <a:pPr algn="ctr">
              <a:defRPr sz="2175" b="0">
                <a:solidFill>
                  <a:srgbClr val="231F20"/>
                </a:solidFill>
                <a:latin typeface="Meiryo"/>
                <a:ea typeface="Meiryo"/>
                <a:cs typeface="Meiryo"/>
              </a:defRPr>
            </a:pPr>
            <a:r>
              <a:rPr sz="2175" b="0">
                <a:solidFill>
                  <a:srgbClr val="231F20"/>
                </a:solidFill>
                <a:latin typeface="Meiryo"/>
                <a:ea typeface="Meiryo"/>
                <a:cs typeface="Meiryo"/>
              </a:rPr>
              <a:t>RasterIX</a:t>
            </a:r>
          </a:p>
          <a:p xmlns:a="http://schemas.openxmlformats.org/drawingml/2006/main">
            <a:pPr algn="ctr">
              <a:defRPr sz="2175" b="0">
                <a:solidFill>
                  <a:srgbClr val="231F20"/>
                </a:solidFill>
                <a:latin typeface="Meiryo"/>
                <a:ea typeface="Meiryo"/>
                <a:cs typeface="Meiryo"/>
              </a:defRPr>
            </a:pPr>
            <a:r>
              <a:rPr sz="2175" b="0">
                <a:solidFill>
                  <a:srgbClr val="231F20"/>
                </a:solidFill>
                <a:latin typeface="Meiryo"/>
                <a:ea typeface="Meiryo"/>
                <a:cs typeface="Meiryo"/>
              </a:rPr>
              <a:t>100 MHz</a:t>
            </a:r>
          </a:p>
        </p:txBody>
      </p:sp>
      <p:sp>
        <p:nvSpPr>
          <p:cNvPr id="9" name="wire-112">
            <a:extLst xmlns:a="http://schemas.openxmlformats.org/drawingml/2006/main">
              <a:ext uri="{FF2B5EF4-FFF2-40B4-BE49-F238E27FC236}">
                <a16:creationId xmlns:a16="http://schemas.microsoft.com/office/drawing/2014/main" id="{09D6E3CF-7902-491E-8175-0C370F5EB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2190750"/>
            <a:ext cx="1095375" cy="9525"/>
          </a:xfrm>
          <a:custGeom xmlns:a="http://schemas.openxmlformats.org/drawingml/2006/main">
            <a:pathLst>
              <a:path w="1095375" h="9525">
                <a:moveTo>
                  <a:pt x="0" y="0"/>
                </a:moveTo>
                <a:lnTo>
                  <a:pt x="10953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955">
            <a:solidFill>
              <a:srgbClr val="231F20"/>
            </a:solidFill>
          </a:ln>
        </p:spPr>
      </p:sp>
      <p:sp>
        <p:nvSpPr>
          <p:cNvPr id="10" name="logic-113">
            <a:extLst xmlns:a="http://schemas.openxmlformats.org/drawingml/2006/main">
              <a:ext uri="{FF2B5EF4-FFF2-40B4-BE49-F238E27FC236}">
                <a16:creationId xmlns:a16="http://schemas.microsoft.com/office/drawing/2014/main" id="{4B8B4786-6E34-488A-89A7-588772712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81475" y="2143125"/>
            <a:ext cx="114300" cy="95250"/>
          </a:xfrm>
          <a:custGeom xmlns:a="http://schemas.openxmlformats.org/drawingml/2006/main">
            <a:pathLst>
              <a:path w="114300" h="95250">
                <a:moveTo>
                  <a:pt x="114300" y="47625"/>
                </a:moveTo>
                <a:lnTo>
                  <a:pt x="0" y="0"/>
                </a:lnTo>
                <a:lnTo>
                  <a:pt x="0" y="95250"/>
                </a:lnTo>
                <a:close/>
              </a:path>
            </a:pathLst>
          </a:custGeom>
          <a:solidFill xmlns:a="http://schemas.openxmlformats.org/drawingml/2006/main">
            <a:srgbClr val="231F20"/>
          </a:solidFill>
          <a:ln xmlns:a="http://schemas.openxmlformats.org/drawingml/2006/main" w="19050">
            <a:solidFill>
              <a:srgbClr val="231F20"/>
            </a:solidFill>
          </a:ln>
        </p:spPr>
      </p:sp>
      <p:sp>
        <p:nvSpPr>
          <p:cNvPr id="11" name="wire-114">
            <a:extLst xmlns:a="http://schemas.openxmlformats.org/drawingml/2006/main">
              <a:ext uri="{FF2B5EF4-FFF2-40B4-BE49-F238E27FC236}">
                <a16:creationId xmlns:a16="http://schemas.microsoft.com/office/drawing/2014/main" id="{0EDCB925-ED36-417B-ADCB-39EEC10C9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0025" y="2190750"/>
            <a:ext cx="1095375" cy="9525"/>
          </a:xfrm>
          <a:custGeom xmlns:a="http://schemas.openxmlformats.org/drawingml/2006/main">
            <a:pathLst>
              <a:path w="1095375" h="9525">
                <a:moveTo>
                  <a:pt x="0" y="0"/>
                </a:moveTo>
                <a:lnTo>
                  <a:pt x="10953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955">
            <a:solidFill>
              <a:srgbClr val="231F20"/>
            </a:solidFill>
          </a:ln>
        </p:spPr>
      </p:sp>
      <p:sp>
        <p:nvSpPr>
          <p:cNvPr id="12" name="logic-115">
            <a:extLst xmlns:a="http://schemas.openxmlformats.org/drawingml/2006/main">
              <a:ext uri="{FF2B5EF4-FFF2-40B4-BE49-F238E27FC236}">
                <a16:creationId xmlns:a16="http://schemas.microsoft.com/office/drawing/2014/main" id="{D3BA43C9-5423-49FC-8FBA-A96E3EA4B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2143125"/>
            <a:ext cx="114300" cy="95250"/>
          </a:xfrm>
          <a:custGeom xmlns:a="http://schemas.openxmlformats.org/drawingml/2006/main">
            <a:pathLst>
              <a:path w="114300" h="95250">
                <a:moveTo>
                  <a:pt x="114300" y="47625"/>
                </a:moveTo>
                <a:lnTo>
                  <a:pt x="0" y="0"/>
                </a:lnTo>
                <a:lnTo>
                  <a:pt x="0" y="95250"/>
                </a:lnTo>
                <a:close/>
              </a:path>
            </a:pathLst>
          </a:custGeom>
          <a:solidFill xmlns:a="http://schemas.openxmlformats.org/drawingml/2006/main">
            <a:srgbClr val="231F20"/>
          </a:solidFill>
          <a:ln xmlns:a="http://schemas.openxmlformats.org/drawingml/2006/main" w="19050">
            <a:solidFill>
              <a:srgbClr val="231F20"/>
            </a:solidFill>
          </a:ln>
        </p:spPr>
      </p:sp>
      <p:sp>
        <p:nvSpPr>
          <p:cNvPr id="13" name="text-116">
            <a:extLst xmlns:a="http://schemas.openxmlformats.org/drawingml/2006/main">
              <a:ext uri="{FF2B5EF4-FFF2-40B4-BE49-F238E27FC236}">
                <a16:creationId xmlns:a16="http://schemas.microsoft.com/office/drawing/2014/main" id="{4BEBACA9-608B-4AB2-886B-5338F6090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" y="3038475"/>
            <a:ext cx="4667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2100" b="0">
                <a:solidFill>
                  <a:srgbClr val="231F20"/>
                </a:solidFill>
                <a:latin typeface="Meiryo"/>
                <a:ea typeface="Meiryo"/>
                <a:cs typeface="Meiryo"/>
              </a:defRPr>
            </a:defPPr>
          </a:lstStyle>
          <a:p xmlns:a="http://schemas.openxmlformats.org/drawingml/2006/main">
            <a:pPr algn="l">
              <a:defRPr sz="2100" b="0">
                <a:solidFill>
                  <a:srgbClr val="231F20"/>
                </a:solidFill>
                <a:latin typeface="Meiryo"/>
                <a:ea typeface="Meiryo"/>
                <a:cs typeface="Meiryo"/>
              </a:defRPr>
            </a:pPr>
            <a:r>
              <a:rPr sz="2100" b="0">
                <a:solidFill>
                  <a:srgbClr val="231F20"/>
                </a:solidFill>
                <a:latin typeface="Meiryo"/>
                <a:ea typeface="Meiryo"/>
                <a:cs typeface="Meiryo"/>
              </a:rPr>
              <a:t>CPUは番地を指定して書く</a:t>
            </a:r>
          </a:p>
        </p:txBody>
      </p:sp>
      <p:sp>
        <p:nvSpPr>
          <p:cNvPr id="14" name="text-117">
            <a:extLst xmlns:a="http://schemas.openxmlformats.org/drawingml/2006/main">
              <a:ext uri="{FF2B5EF4-FFF2-40B4-BE49-F238E27FC236}">
                <a16:creationId xmlns:a16="http://schemas.microsoft.com/office/drawing/2014/main" id="{90C61B28-001E-4D9D-834A-E123768B2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3038475"/>
            <a:ext cx="4762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2100" b="0">
                <a:solidFill>
                  <a:srgbClr val="231F20"/>
                </a:solidFill>
                <a:latin typeface="Meiryo"/>
                <a:ea typeface="Meiryo"/>
                <a:cs typeface="Meiryo"/>
              </a:defRPr>
            </a:defPPr>
          </a:lstStyle>
          <a:p xmlns:a="http://schemas.openxmlformats.org/drawingml/2006/main">
            <a:pPr algn="l">
              <a:defRPr sz="2100" b="0">
                <a:solidFill>
                  <a:srgbClr val="231F20"/>
                </a:solidFill>
                <a:latin typeface="Meiryo"/>
                <a:ea typeface="Meiryo"/>
                <a:cs typeface="Meiryo"/>
              </a:defRPr>
            </a:pPr>
            <a:r>
              <a:rPr sz="2100" b="0">
                <a:solidFill>
                  <a:srgbClr val="231F20"/>
                </a:solidFill>
                <a:latin typeface="Meiryo"/>
                <a:ea typeface="Meiryo"/>
                <a:cs typeface="Meiryo"/>
              </a:rPr>
              <a:t>RasterIXは命令を順に受け取る</a:t>
            </a:r>
          </a:p>
        </p:txBody>
      </p:sp>
      <p:sp>
        <p:nvSpPr>
          <p:cNvPr id="15" name="text-118">
            <a:extLst xmlns:a="http://schemas.openxmlformats.org/drawingml/2006/main">
              <a:ext uri="{FF2B5EF4-FFF2-40B4-BE49-F238E27FC236}">
                <a16:creationId xmlns:a16="http://schemas.microsoft.com/office/drawing/2014/main" id="{DA7A911C-0901-4B62-9E85-036754E46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" y="4114800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2550" b="1">
                <a:solidFill>
                  <a:srgbClr val="231F20"/>
                </a:solidFill>
                <a:latin typeface="Meiryo"/>
                <a:ea typeface="Meiryo"/>
                <a:cs typeface="Meiryo"/>
              </a:defRPr>
            </a:defPPr>
          </a:lstStyle>
          <a:p xmlns:a="http://schemas.openxmlformats.org/drawingml/2006/main">
            <a:pPr algn="ctr">
              <a:defRPr sz="2550" b="1">
                <a:solidFill>
                  <a:srgbClr val="231F20"/>
                </a:solidFill>
                <a:latin typeface="Meiryo"/>
                <a:ea typeface="Meiryo"/>
                <a:cs typeface="Meiryo"/>
              </a:defRPr>
            </a:pPr>
            <a:r>
              <a:rPr sz="2550" b="1">
                <a:solidFill>
                  <a:srgbClr val="231F20"/>
                </a:solidFill>
                <a:latin typeface="Meiryo"/>
                <a:ea typeface="Meiryo"/>
                <a:cs typeface="Meiryo"/>
              </a:rPr>
              <a:t>接続回路が、両側の受け渡しをつなぐ</a:t>
            </a:r>
          </a:p>
        </p:txBody>
      </p:sp>
      <p:sp>
        <p:nvSpPr>
          <p:cNvPr id="16" name="text-119">
            <a:extLst xmlns:a="http://schemas.openxmlformats.org/drawingml/2006/main">
              <a:ext uri="{FF2B5EF4-FFF2-40B4-BE49-F238E27FC236}">
                <a16:creationId xmlns:a16="http://schemas.microsoft.com/office/drawing/2014/main" id="{B662DB2F-6E47-49B0-BFCF-0BA3C79B3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010150"/>
            <a:ext cx="10096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2250" b="0">
                <a:solidFill>
                  <a:srgbClr val="231F20"/>
                </a:solidFill>
                <a:latin typeface="Meiryo"/>
                <a:ea typeface="Meiryo"/>
                <a:cs typeface="Meiryo"/>
              </a:defRPr>
            </a:defPPr>
          </a:lstStyle>
          <a:p xmlns:a="http://schemas.openxmlformats.org/drawingml/2006/main">
            <a:pPr algn="ctr">
              <a:defRPr sz="2250" b="0">
                <a:solidFill>
                  <a:srgbClr val="231F20"/>
                </a:solidFill>
                <a:latin typeface="Meiryo"/>
                <a:ea typeface="Meiryo"/>
                <a:cs typeface="Meiryo"/>
              </a:defRPr>
            </a:pPr>
            <a:r>
              <a:rPr sz="2250" b="0">
                <a:solidFill>
                  <a:srgbClr val="231F20"/>
                </a:solidFill>
                <a:latin typeface="Meiryo"/>
                <a:ea typeface="Meiryo"/>
                <a:cs typeface="Meiryo"/>
              </a:rPr>
              <a:t>別々のクロックでも、値と順番を保つ</a:t>
            </a:r>
          </a:p>
        </p:txBody>
      </p:sp>
      <p:sp>
        <p:nvSpPr>
          <p:cNvPr id="17" name="text-120">
            <a:extLst xmlns:a="http://schemas.openxmlformats.org/drawingml/2006/main">
              <a:ext uri="{FF2B5EF4-FFF2-40B4-BE49-F238E27FC236}">
                <a16:creationId xmlns:a16="http://schemas.microsoft.com/office/drawing/2014/main" id="{7B95B59C-1E5E-4E61-ABE2-332403393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715000"/>
            <a:ext cx="10096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2175" b="0">
                <a:solidFill>
                  <a:srgbClr val="231F20"/>
                </a:solidFill>
                <a:latin typeface="Meiryo"/>
                <a:ea typeface="Meiryo"/>
                <a:cs typeface="Meiryo"/>
              </a:defRPr>
            </a:defPPr>
          </a:lstStyle>
          <a:p xmlns:a="http://schemas.openxmlformats.org/drawingml/2006/main">
            <a:pPr algn="ctr">
              <a:defRPr sz="2175" b="0">
                <a:solidFill>
                  <a:srgbClr val="231F20"/>
                </a:solidFill>
                <a:latin typeface="Meiryo"/>
                <a:ea typeface="Meiryo"/>
                <a:cs typeface="Meiryo"/>
              </a:defRPr>
            </a:pPr>
            <a:r>
              <a:rPr sz="2175" b="0">
                <a:solidFill>
                  <a:srgbClr val="231F20"/>
                </a:solidFill>
                <a:latin typeface="Meiryo"/>
                <a:ea typeface="Meiryo"/>
                <a:cs typeface="Meiryo"/>
              </a:rPr>
              <a:t>保存できない間は、CPUの書き込みを待たせる</a:t>
            </a:r>
          </a:p>
        </p:txBody>
      </p:sp>
    </p:spTree>
    <p:extLst>
      <p:ext uri="{BB962C8B-B14F-4D97-AF65-F5344CB8AC3E}">
        <p14:creationId xmlns:p14="http://schemas.microsoft.com/office/powerpoint/2010/main" val="159825184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text-121">
            <a:extLst xmlns:a="http://schemas.openxmlformats.org/drawingml/2006/main">
              <a:ext uri="{FF2B5EF4-FFF2-40B4-BE49-F238E27FC236}">
                <a16:creationId xmlns:a16="http://schemas.microsoft.com/office/drawing/2014/main" id="{14FEF62A-7799-4172-8F00-E87DFE67D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858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3000" b="1">
                <a:solidFill>
                  <a:srgbClr val="231F20"/>
                </a:solidFill>
                <a:latin typeface="Meiryo"/>
                <a:ea typeface="Meiryo"/>
                <a:cs typeface="Meiryo"/>
              </a:defRPr>
            </a:defPPr>
          </a:lstStyle>
          <a:p xmlns:a="http://schemas.openxmlformats.org/drawingml/2006/main">
            <a:pPr algn="l">
              <a:defRPr sz="3000" b="1">
                <a:solidFill>
                  <a:srgbClr val="231F20"/>
                </a:solidFill>
                <a:latin typeface="Meiryo"/>
                <a:ea typeface="Meiryo"/>
                <a:cs typeface="Meiryo"/>
              </a:defRPr>
            </a:pPr>
            <a:r>
              <a:rPr sz="3000" b="1">
                <a:solidFill>
                  <a:srgbClr val="231F20"/>
                </a:solidFill>
                <a:latin typeface="Meiryo"/>
                <a:ea typeface="Meiryo"/>
                <a:cs typeface="Meiryo"/>
              </a:rPr>
              <a:t>表示中の画像を途中で書き換えない</a:t>
            </a:r>
          </a:p>
        </p:txBody>
      </p:sp>
      <p:sp>
        <p:nvSpPr>
          <p:cNvPr id="2" name="text-122">
            <a:extLst xmlns:a="http://schemas.openxmlformats.org/drawingml/2006/main">
              <a:ext uri="{FF2B5EF4-FFF2-40B4-BE49-F238E27FC236}">
                <a16:creationId xmlns:a16="http://schemas.microsoft.com/office/drawing/2014/main" id="{ED94A16D-AF38-4D30-A4B3-247FD39DF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6362700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r">
              <a:defRPr sz="1350" b="0">
                <a:solidFill>
                  <a:srgbClr val="231F20"/>
                </a:solidFill>
                <a:latin typeface="Meiryo"/>
                <a:ea typeface="Meiryo"/>
                <a:cs typeface="Meiryo"/>
              </a:defRPr>
            </a:defPPr>
          </a:lstStyle>
          <a:p xmlns:a="http://schemas.openxmlformats.org/drawingml/2006/main">
            <a:pPr algn="r">
              <a:defRPr sz="1350" b="0">
                <a:solidFill>
                  <a:srgbClr val="231F20"/>
                </a:solidFill>
                <a:latin typeface="Meiryo"/>
                <a:ea typeface="Meiryo"/>
                <a:cs typeface="Meiryo"/>
              </a:defRPr>
            </a:pPr>
            <a:r>
              <a:rPr sz="1350" b="0">
                <a:solidFill>
                  <a:srgbClr val="231F20"/>
                </a:solidFill>
                <a:latin typeface="Meiryo"/>
                <a:ea typeface="Meiryo"/>
                <a:cs typeface="Meiryo"/>
              </a:rPr>
              <a:t>6</a:t>
            </a:r>
          </a:p>
        </p:txBody>
      </p:sp>
      <p:sp>
        <p:nvSpPr>
          <p:cNvPr id="3" name="text-123">
            <a:extLst xmlns:a="http://schemas.openxmlformats.org/drawingml/2006/main">
              <a:ext uri="{FF2B5EF4-FFF2-40B4-BE49-F238E27FC236}">
                <a16:creationId xmlns:a16="http://schemas.microsoft.com/office/drawing/2014/main" id="{D6CFF447-1521-458D-9E42-4FFB16719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" y="1543050"/>
            <a:ext cx="3524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2400" b="1">
                <a:solidFill>
                  <a:srgbClr val="231F20"/>
                </a:solidFill>
                <a:latin typeface="Meiryo"/>
                <a:ea typeface="Meiryo"/>
                <a:cs typeface="Meiryo"/>
              </a:defRPr>
            </a:defPPr>
          </a:lstStyle>
          <a:p xmlns:a="http://schemas.openxmlformats.org/drawingml/2006/main">
            <a:pPr algn="ctr">
              <a:defRPr sz="2400" b="1">
                <a:solidFill>
                  <a:srgbClr val="231F20"/>
                </a:solidFill>
                <a:latin typeface="Meiryo"/>
                <a:ea typeface="Meiryo"/>
                <a:cs typeface="Meiryo"/>
              </a:defRPr>
            </a:pPr>
            <a:r>
              <a:rPr sz="2400" b="1">
                <a:solidFill>
                  <a:srgbClr val="231F20"/>
                </a:solidFill>
                <a:latin typeface="Meiryo"/>
                <a:ea typeface="Meiryo"/>
                <a:cs typeface="Meiryo"/>
              </a:rPr>
              <a:t>切り替え前</a:t>
            </a:r>
          </a:p>
        </p:txBody>
      </p:sp>
      <p:sp>
        <p:nvSpPr>
          <p:cNvPr id="4" name="text-124">
            <a:extLst xmlns:a="http://schemas.openxmlformats.org/drawingml/2006/main">
              <a:ext uri="{FF2B5EF4-FFF2-40B4-BE49-F238E27FC236}">
                <a16:creationId xmlns:a16="http://schemas.microsoft.com/office/drawing/2014/main" id="{20C1135E-38C9-4B1B-9A0C-AF50B8765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1543050"/>
            <a:ext cx="3524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2400" b="1">
                <a:solidFill>
                  <a:srgbClr val="231F20"/>
                </a:solidFill>
                <a:latin typeface="Meiryo"/>
                <a:ea typeface="Meiryo"/>
                <a:cs typeface="Meiryo"/>
              </a:defRPr>
            </a:defPPr>
          </a:lstStyle>
          <a:p xmlns:a="http://schemas.openxmlformats.org/drawingml/2006/main">
            <a:pPr algn="ctr">
              <a:defRPr sz="2400" b="1">
                <a:solidFill>
                  <a:srgbClr val="231F20"/>
                </a:solidFill>
                <a:latin typeface="Meiryo"/>
                <a:ea typeface="Meiryo"/>
                <a:cs typeface="Meiryo"/>
              </a:defRPr>
            </a:pPr>
            <a:r>
              <a:rPr sz="2400" b="1">
                <a:solidFill>
                  <a:srgbClr val="231F20"/>
                </a:solidFill>
                <a:latin typeface="Meiryo"/>
                <a:ea typeface="Meiryo"/>
                <a:cs typeface="Meiryo"/>
              </a:rPr>
              <a:t>切り替え後</a:t>
            </a:r>
          </a:p>
        </p:txBody>
      </p:sp>
      <p:sp>
        <p:nvSpPr>
          <p:cNvPr id="5" name="circuit-125">
            <a:extLst xmlns:a="http://schemas.openxmlformats.org/drawingml/2006/main">
              <a:ext uri="{FF2B5EF4-FFF2-40B4-BE49-F238E27FC236}">
                <a16:creationId xmlns:a16="http://schemas.microsoft.com/office/drawing/2014/main" id="{A99D169F-BAE5-4AE9-85FB-B9A4DA45F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" y="2352675"/>
            <a:ext cx="352425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BF8"/>
          </a:solidFill>
          <a:ln xmlns:a="http://schemas.openxmlformats.org/drawingml/2006/main" w="19050">
            <a:solidFill>
              <a:srgbClr val="231F20"/>
            </a:solidFill>
          </a:ln>
        </p:spPr>
      </p:sp>
      <p:sp>
        <p:nvSpPr>
          <p:cNvPr id="6" name="text-126">
            <a:extLst xmlns:a="http://schemas.openxmlformats.org/drawingml/2006/main">
              <a:ext uri="{FF2B5EF4-FFF2-40B4-BE49-F238E27FC236}">
                <a16:creationId xmlns:a16="http://schemas.microsoft.com/office/drawing/2014/main" id="{3A9035A6-0163-418B-9734-D8869AB1D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409825"/>
            <a:ext cx="32956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2325" b="0">
                <a:solidFill>
                  <a:srgbClr val="231F20"/>
                </a:solidFill>
                <a:latin typeface="Meiryo"/>
                <a:ea typeface="Meiryo"/>
                <a:cs typeface="Meiryo"/>
              </a:defRPr>
            </a:defPPr>
          </a:lstStyle>
          <a:p xmlns:a="http://schemas.openxmlformats.org/drawingml/2006/main">
            <a:pPr algn="ctr">
              <a:defRPr sz="2325" b="0">
                <a:solidFill>
                  <a:srgbClr val="231F20"/>
                </a:solidFill>
                <a:latin typeface="Meiryo"/>
                <a:ea typeface="Meiryo"/>
                <a:cs typeface="Meiryo"/>
              </a:defRPr>
            </a:pPr>
            <a:r>
              <a:rPr sz="2325" b="0">
                <a:solidFill>
                  <a:srgbClr val="231F20"/>
                </a:solidFill>
                <a:latin typeface="Meiryo"/>
                <a:ea typeface="Meiryo"/>
                <a:cs typeface="Meiryo"/>
              </a:rPr>
              <a:t>画像A：表示中</a:t>
            </a:r>
          </a:p>
        </p:txBody>
      </p:sp>
      <p:sp>
        <p:nvSpPr>
          <p:cNvPr id="7" name="circuit-127">
            <a:extLst xmlns:a="http://schemas.openxmlformats.org/drawingml/2006/main">
              <a:ext uri="{FF2B5EF4-FFF2-40B4-BE49-F238E27FC236}">
                <a16:creationId xmlns:a16="http://schemas.microsoft.com/office/drawing/2014/main" id="{826C0515-CE7B-4FB8-86E8-831ED6D42D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" y="3895725"/>
            <a:ext cx="352425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231F20"/>
            </a:solidFill>
          </a:ln>
        </p:spPr>
      </p:sp>
      <p:sp>
        <p:nvSpPr>
          <p:cNvPr id="8" name="text-128">
            <a:extLst xmlns:a="http://schemas.openxmlformats.org/drawingml/2006/main">
              <a:ext uri="{FF2B5EF4-FFF2-40B4-BE49-F238E27FC236}">
                <a16:creationId xmlns:a16="http://schemas.microsoft.com/office/drawing/2014/main" id="{1247612D-C315-4431-AB7F-FDB2E4BEB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952875"/>
            <a:ext cx="32956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2325" b="0">
                <a:solidFill>
                  <a:srgbClr val="231F20"/>
                </a:solidFill>
                <a:latin typeface="Meiryo"/>
                <a:ea typeface="Meiryo"/>
                <a:cs typeface="Meiryo"/>
              </a:defRPr>
            </a:defPPr>
          </a:lstStyle>
          <a:p xmlns:a="http://schemas.openxmlformats.org/drawingml/2006/main">
            <a:pPr algn="ctr">
              <a:defRPr sz="2325" b="0">
                <a:solidFill>
                  <a:srgbClr val="231F20"/>
                </a:solidFill>
                <a:latin typeface="Meiryo"/>
                <a:ea typeface="Meiryo"/>
                <a:cs typeface="Meiryo"/>
              </a:defRPr>
            </a:pPr>
            <a:r>
              <a:rPr sz="2325" b="0">
                <a:solidFill>
                  <a:srgbClr val="231F20"/>
                </a:solidFill>
                <a:latin typeface="Meiryo"/>
                <a:ea typeface="Meiryo"/>
                <a:cs typeface="Meiryo"/>
              </a:rPr>
              <a:t>画像B：描画中</a:t>
            </a:r>
          </a:p>
        </p:txBody>
      </p:sp>
      <p:sp>
        <p:nvSpPr>
          <p:cNvPr id="9" name="circuit-129">
            <a:extLst xmlns:a="http://schemas.openxmlformats.org/drawingml/2006/main">
              <a:ext uri="{FF2B5EF4-FFF2-40B4-BE49-F238E27FC236}">
                <a16:creationId xmlns:a16="http://schemas.microsoft.com/office/drawing/2014/main" id="{369D0823-DD78-4F8F-AD43-8EA0F1E4C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352675"/>
            <a:ext cx="352425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231F20"/>
            </a:solidFill>
          </a:ln>
        </p:spPr>
      </p:sp>
      <p:sp>
        <p:nvSpPr>
          <p:cNvPr id="10" name="text-130">
            <a:extLst xmlns:a="http://schemas.openxmlformats.org/drawingml/2006/main">
              <a:ext uri="{FF2B5EF4-FFF2-40B4-BE49-F238E27FC236}">
                <a16:creationId xmlns:a16="http://schemas.microsoft.com/office/drawing/2014/main" id="{ED9453F3-7DEB-4FBB-9797-D3BB299EC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409825"/>
            <a:ext cx="32956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2250" b="0">
                <a:solidFill>
                  <a:srgbClr val="231F20"/>
                </a:solidFill>
                <a:latin typeface="Meiryo"/>
                <a:ea typeface="Meiryo"/>
                <a:cs typeface="Meiryo"/>
              </a:defRPr>
            </a:defPPr>
          </a:lstStyle>
          <a:p xmlns:a="http://schemas.openxmlformats.org/drawingml/2006/main">
            <a:pPr algn="ctr">
              <a:defRPr sz="2250" b="0">
                <a:solidFill>
                  <a:srgbClr val="231F20"/>
                </a:solidFill>
                <a:latin typeface="Meiryo"/>
                <a:ea typeface="Meiryo"/>
                <a:cs typeface="Meiryo"/>
              </a:defRPr>
            </a:pPr>
            <a:r>
              <a:rPr sz="2250" b="0">
                <a:solidFill>
                  <a:srgbClr val="231F20"/>
                </a:solidFill>
                <a:latin typeface="Meiryo"/>
                <a:ea typeface="Meiryo"/>
                <a:cs typeface="Meiryo"/>
              </a:rPr>
              <a:t>画像A：次の描画先</a:t>
            </a:r>
          </a:p>
        </p:txBody>
      </p:sp>
      <p:sp>
        <p:nvSpPr>
          <p:cNvPr id="11" name="circuit-131">
            <a:extLst xmlns:a="http://schemas.openxmlformats.org/drawingml/2006/main">
              <a:ext uri="{FF2B5EF4-FFF2-40B4-BE49-F238E27FC236}">
                <a16:creationId xmlns:a16="http://schemas.microsoft.com/office/drawing/2014/main" id="{5AD9B8F9-BA08-453C-891D-676C61B04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895725"/>
            <a:ext cx="352425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BF8"/>
          </a:solidFill>
          <a:ln xmlns:a="http://schemas.openxmlformats.org/drawingml/2006/main" w="19050">
            <a:solidFill>
              <a:srgbClr val="231F20"/>
            </a:solidFill>
          </a:ln>
        </p:spPr>
      </p:sp>
      <p:sp>
        <p:nvSpPr>
          <p:cNvPr id="12" name="text-132">
            <a:extLst xmlns:a="http://schemas.openxmlformats.org/drawingml/2006/main">
              <a:ext uri="{FF2B5EF4-FFF2-40B4-BE49-F238E27FC236}">
                <a16:creationId xmlns:a16="http://schemas.microsoft.com/office/drawing/2014/main" id="{2EA22AA8-CDA5-4581-9143-68761A68C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3952875"/>
            <a:ext cx="32956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2325" b="0">
                <a:solidFill>
                  <a:srgbClr val="231F20"/>
                </a:solidFill>
                <a:latin typeface="Meiryo"/>
                <a:ea typeface="Meiryo"/>
                <a:cs typeface="Meiryo"/>
              </a:defRPr>
            </a:defPPr>
          </a:lstStyle>
          <a:p xmlns:a="http://schemas.openxmlformats.org/drawingml/2006/main">
            <a:pPr algn="ctr">
              <a:defRPr sz="2325" b="0">
                <a:solidFill>
                  <a:srgbClr val="231F20"/>
                </a:solidFill>
                <a:latin typeface="Meiryo"/>
                <a:ea typeface="Meiryo"/>
                <a:cs typeface="Meiryo"/>
              </a:defRPr>
            </a:pPr>
            <a:r>
              <a:rPr sz="2325" b="0">
                <a:solidFill>
                  <a:srgbClr val="231F20"/>
                </a:solidFill>
                <a:latin typeface="Meiryo"/>
                <a:ea typeface="Meiryo"/>
                <a:cs typeface="Meiryo"/>
              </a:rPr>
              <a:t>画像B：表示中</a:t>
            </a:r>
          </a:p>
        </p:txBody>
      </p:sp>
      <p:sp>
        <p:nvSpPr>
          <p:cNvPr id="13" name="wire-133">
            <a:extLst xmlns:a="http://schemas.openxmlformats.org/drawingml/2006/main">
              <a:ext uri="{FF2B5EF4-FFF2-40B4-BE49-F238E27FC236}">
                <a16:creationId xmlns:a16="http://schemas.microsoft.com/office/drawing/2014/main" id="{AB6DDFBD-46F5-41AF-BE21-9CBD27670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3562350"/>
            <a:ext cx="2343150" cy="9525"/>
          </a:xfrm>
          <a:custGeom xmlns:a="http://schemas.openxmlformats.org/drawingml/2006/main">
            <a:pathLst>
              <a:path w="2343150" h="9525">
                <a:moveTo>
                  <a:pt x="0" y="0"/>
                </a:moveTo>
                <a:lnTo>
                  <a:pt x="23431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955">
            <a:solidFill>
              <a:srgbClr val="1673C3"/>
            </a:solidFill>
          </a:ln>
        </p:spPr>
      </p:sp>
      <p:sp>
        <p:nvSpPr>
          <p:cNvPr id="14" name="logic-134">
            <a:extLst xmlns:a="http://schemas.openxmlformats.org/drawingml/2006/main">
              <a:ext uri="{FF2B5EF4-FFF2-40B4-BE49-F238E27FC236}">
                <a16:creationId xmlns:a16="http://schemas.microsoft.com/office/drawing/2014/main" id="{ACC9D468-065A-4568-A574-A4D602067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3514725"/>
            <a:ext cx="114300" cy="95250"/>
          </a:xfrm>
          <a:custGeom xmlns:a="http://schemas.openxmlformats.org/drawingml/2006/main">
            <a:pathLst>
              <a:path w="114300" h="95250">
                <a:moveTo>
                  <a:pt x="114300" y="47625"/>
                </a:moveTo>
                <a:lnTo>
                  <a:pt x="0" y="0"/>
                </a:lnTo>
                <a:lnTo>
                  <a:pt x="0" y="95250"/>
                </a:lnTo>
                <a:close/>
              </a:path>
            </a:pathLst>
          </a:custGeom>
          <a:solidFill xmlns:a="http://schemas.openxmlformats.org/drawingml/2006/main">
            <a:srgbClr val="1673C3"/>
          </a:solidFill>
          <a:ln xmlns:a="http://schemas.openxmlformats.org/drawingml/2006/main" w="19050">
            <a:solidFill>
              <a:srgbClr val="1673C3"/>
            </a:solidFill>
          </a:ln>
        </p:spPr>
      </p:sp>
      <p:sp>
        <p:nvSpPr>
          <p:cNvPr id="15" name="text-135">
            <a:extLst xmlns:a="http://schemas.openxmlformats.org/drawingml/2006/main">
              <a:ext uri="{FF2B5EF4-FFF2-40B4-BE49-F238E27FC236}">
                <a16:creationId xmlns:a16="http://schemas.microsoft.com/office/drawing/2014/main" id="{901EF70B-CD5D-4C72-9B4E-C11C155D1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2390775"/>
            <a:ext cx="25336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950" b="0">
                <a:solidFill>
                  <a:srgbClr val="231F20"/>
                </a:solidFill>
                <a:latin typeface="Meiryo"/>
                <a:ea typeface="Meiryo"/>
                <a:cs typeface="Meiryo"/>
              </a:defRPr>
            </a:defPPr>
          </a:lstStyle>
          <a:p xmlns:a="http://schemas.openxmlformats.org/drawingml/2006/main">
            <a:pPr algn="ctr">
              <a:defRPr sz="1950" b="0">
                <a:solidFill>
                  <a:srgbClr val="231F20"/>
                </a:solidFill>
                <a:latin typeface="Meiryo"/>
                <a:ea typeface="Meiryo"/>
                <a:cs typeface="Meiryo"/>
              </a:defRPr>
            </a:pPr>
            <a:r>
              <a:rPr sz="1950" b="0">
                <a:solidFill>
                  <a:srgbClr val="231F20"/>
                </a:solidFill>
                <a:latin typeface="Meiryo"/>
                <a:ea typeface="Meiryo"/>
                <a:cs typeface="Meiryo"/>
              </a:rPr>
              <a:t>画像Bの完成後</a:t>
            </a:r>
          </a:p>
          <a:p xmlns:a="http://schemas.openxmlformats.org/drawingml/2006/main">
            <a:pPr algn="ctr">
              <a:defRPr sz="1950" b="0">
                <a:solidFill>
                  <a:srgbClr val="231F20"/>
                </a:solidFill>
                <a:latin typeface="Meiryo"/>
                <a:ea typeface="Meiryo"/>
                <a:cs typeface="Meiryo"/>
              </a:defRPr>
            </a:pPr>
            <a:r>
              <a:rPr sz="1950" b="0">
                <a:solidFill>
                  <a:srgbClr val="231F20"/>
                </a:solidFill>
                <a:latin typeface="Meiryo"/>
                <a:ea typeface="Meiryo"/>
                <a:cs typeface="Meiryo"/>
              </a:rPr>
              <a:t>表示の区切りで</a:t>
            </a:r>
          </a:p>
        </p:txBody>
      </p:sp>
      <p:sp>
        <p:nvSpPr>
          <p:cNvPr id="16" name="text-136">
            <a:extLst xmlns:a="http://schemas.openxmlformats.org/drawingml/2006/main">
              <a:ext uri="{FF2B5EF4-FFF2-40B4-BE49-F238E27FC236}">
                <a16:creationId xmlns:a16="http://schemas.microsoft.com/office/drawing/2014/main" id="{478E8FA2-69D2-4DD4-B246-B7C220479B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3905250"/>
            <a:ext cx="25336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950" b="0">
                <a:solidFill>
                  <a:srgbClr val="231F20"/>
                </a:solidFill>
                <a:latin typeface="Meiryo"/>
                <a:ea typeface="Meiryo"/>
                <a:cs typeface="Meiryo"/>
              </a:defRPr>
            </a:defPPr>
          </a:lstStyle>
          <a:p xmlns:a="http://schemas.openxmlformats.org/drawingml/2006/main">
            <a:pPr algn="ctr">
              <a:defRPr sz="1950" b="0">
                <a:solidFill>
                  <a:srgbClr val="231F20"/>
                </a:solidFill>
                <a:latin typeface="Meiryo"/>
                <a:ea typeface="Meiryo"/>
                <a:cs typeface="Meiryo"/>
              </a:defRPr>
            </a:pPr>
            <a:r>
              <a:rPr sz="1950" b="0">
                <a:solidFill>
                  <a:srgbClr val="231F20"/>
                </a:solidFill>
                <a:latin typeface="Meiryo"/>
                <a:ea typeface="Meiryo"/>
                <a:cs typeface="Meiryo"/>
              </a:rPr>
              <a:t>読む先と描く先を</a:t>
            </a:r>
          </a:p>
          <a:p xmlns:a="http://schemas.openxmlformats.org/drawingml/2006/main">
            <a:pPr algn="ctr">
              <a:defRPr sz="1950" b="0">
                <a:solidFill>
                  <a:srgbClr val="231F20"/>
                </a:solidFill>
                <a:latin typeface="Meiryo"/>
                <a:ea typeface="Meiryo"/>
                <a:cs typeface="Meiryo"/>
              </a:defRPr>
            </a:pPr>
            <a:r>
              <a:rPr sz="1950" b="0">
                <a:solidFill>
                  <a:srgbClr val="231F20"/>
                </a:solidFill>
                <a:latin typeface="Meiryo"/>
                <a:ea typeface="Meiryo"/>
                <a:cs typeface="Meiryo"/>
              </a:rPr>
              <a:t>入れ替える</a:t>
            </a:r>
          </a:p>
        </p:txBody>
      </p:sp>
      <p:sp>
        <p:nvSpPr>
          <p:cNvPr id="17" name="text-137">
            <a:extLst xmlns:a="http://schemas.openxmlformats.org/drawingml/2006/main">
              <a:ext uri="{FF2B5EF4-FFF2-40B4-BE49-F238E27FC236}">
                <a16:creationId xmlns:a16="http://schemas.microsoft.com/office/drawing/2014/main" id="{7A7CA47D-2D68-4BBA-8EAF-50EA9C4DC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10225"/>
            <a:ext cx="10858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2250" b="1">
                <a:solidFill>
                  <a:srgbClr val="231F20"/>
                </a:solidFill>
                <a:latin typeface="Meiryo"/>
                <a:ea typeface="Meiryo"/>
                <a:cs typeface="Meiryo"/>
              </a:defRPr>
            </a:defPPr>
          </a:lstStyle>
          <a:p xmlns:a="http://schemas.openxmlformats.org/drawingml/2006/main">
            <a:pPr algn="ctr">
              <a:defRPr sz="2250" b="1">
                <a:solidFill>
                  <a:srgbClr val="231F20"/>
                </a:solidFill>
                <a:latin typeface="Meiryo"/>
                <a:ea typeface="Meiryo"/>
                <a:cs typeface="Meiryo"/>
              </a:defRPr>
            </a:pPr>
            <a:r>
              <a:rPr sz="2250" b="1">
                <a:solidFill>
                  <a:srgbClr val="231F20"/>
                </a:solidFill>
                <a:latin typeface="Meiryo"/>
                <a:ea typeface="Meiryo"/>
                <a:cs typeface="Meiryo"/>
              </a:rPr>
              <a:t>切り替え完了後に、古い表示画像Aを描き直せる</a:t>
            </a:r>
          </a:p>
        </p:txBody>
      </p:sp>
    </p:spTree>
    <p:extLst>
      <p:ext uri="{BB962C8B-B14F-4D97-AF65-F5344CB8AC3E}">
        <p14:creationId xmlns:p14="http://schemas.microsoft.com/office/powerpoint/2010/main" val="755213471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ext-138">
            <a:extLst xmlns:a="http://schemas.openxmlformats.org/drawingml/2006/main">
              <a:ext uri="{FF2B5EF4-FFF2-40B4-BE49-F238E27FC236}">
                <a16:creationId xmlns:a16="http://schemas.microsoft.com/office/drawing/2014/main" id="{E8EEC773-CB75-4E83-801F-76DFD2AED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858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3000" b="1">
                <a:solidFill>
                  <a:srgbClr val="231F20"/>
                </a:solidFill>
                <a:latin typeface="Meiryo"/>
                <a:ea typeface="Meiryo"/>
                <a:cs typeface="Meiryo"/>
              </a:defRPr>
            </a:defPPr>
          </a:lstStyle>
          <a:p xmlns:a="http://schemas.openxmlformats.org/drawingml/2006/main">
            <a:pPr algn="l">
              <a:defRPr sz="3000" b="1">
                <a:solidFill>
                  <a:srgbClr val="231F20"/>
                </a:solidFill>
                <a:latin typeface="Meiryo"/>
                <a:ea typeface="Meiryo"/>
                <a:cs typeface="Meiryo"/>
              </a:defRPr>
            </a:pPr>
            <a:r>
              <a:rPr sz="3000" b="1">
                <a:solidFill>
                  <a:srgbClr val="231F20"/>
                </a:solidFill>
                <a:latin typeface="Meiryo"/>
                <a:ea typeface="Meiryo"/>
                <a:cs typeface="Meiryo"/>
              </a:rPr>
              <a:t>実機でブロック崩しの動作を確認した</a:t>
            </a:r>
          </a:p>
        </p:txBody>
      </p:sp>
      <p:sp>
        <p:nvSpPr>
          <p:cNvPr id="2" name="text-139">
            <a:extLst xmlns:a="http://schemas.openxmlformats.org/drawingml/2006/main">
              <a:ext uri="{FF2B5EF4-FFF2-40B4-BE49-F238E27FC236}">
                <a16:creationId xmlns:a16="http://schemas.microsoft.com/office/drawing/2014/main" id="{F4F9F378-15E7-4500-899D-DEBB41E16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6362700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r">
              <a:defRPr sz="1350" b="0">
                <a:solidFill>
                  <a:srgbClr val="231F20"/>
                </a:solidFill>
                <a:latin typeface="Meiryo"/>
                <a:ea typeface="Meiryo"/>
                <a:cs typeface="Meiryo"/>
              </a:defRPr>
            </a:defPPr>
          </a:lstStyle>
          <a:p xmlns:a="http://schemas.openxmlformats.org/drawingml/2006/main">
            <a:pPr algn="r">
              <a:defRPr sz="1350" b="0">
                <a:solidFill>
                  <a:srgbClr val="231F20"/>
                </a:solidFill>
                <a:latin typeface="Meiryo"/>
                <a:ea typeface="Meiryo"/>
                <a:cs typeface="Meiryo"/>
              </a:defRPr>
            </a:pPr>
            <a:r>
              <a:rPr sz="1350" b="0">
                <a:solidFill>
                  <a:srgbClr val="231F20"/>
                </a:solidFill>
                <a:latin typeface="Meiryo"/>
                <a:ea typeface="Meiryo"/>
                <a:cs typeface="Meiryo"/>
              </a:rPr>
              <a:t>7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678B0D2-6690-48CE-A679-AD045719478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eb6a7f99ce04796"/>
          <a:stretch xmlns:a="http://schemas.openxmlformats.org/drawingml/2006/main"/>
        </p:blipFill>
        <p:spPr>
          <a:xfrm xmlns:a="http://schemas.openxmlformats.org/drawingml/2006/main">
            <a:off x="609600" y="1754386"/>
            <a:ext cx="6191250" cy="3482578"/>
          </a:xfrm>
          <a:prstGeom xmlns:a="http://schemas.openxmlformats.org/drawingml/2006/main" prst="rect">
            <a:avLst/>
          </a:prstGeom>
        </p:spPr>
      </p:pic>
      <p:sp>
        <p:nvSpPr>
          <p:cNvPr id="4" name="text-140">
            <a:extLst xmlns:a="http://schemas.openxmlformats.org/drawingml/2006/main">
              <a:ext uri="{FF2B5EF4-FFF2-40B4-BE49-F238E27FC236}">
                <a16:creationId xmlns:a16="http://schemas.microsoft.com/office/drawing/2014/main" id="{42D57D3B-4D45-4B27-8274-E2CA64196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3275" y="1752600"/>
            <a:ext cx="4429125" cy="1314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2250" b="1">
                <a:solidFill>
                  <a:srgbClr val="231F20"/>
                </a:solidFill>
                <a:latin typeface="Meiryo"/>
                <a:ea typeface="Meiryo"/>
                <a:cs typeface="Meiryo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231F20"/>
                </a:solidFill>
                <a:latin typeface="Meiryo"/>
                <a:ea typeface="Meiryo"/>
                <a:cs typeface="Meiryo"/>
              </a:defRPr>
            </a:pPr>
            <a:r>
              <a:rPr sz="2250" b="1">
                <a:solidFill>
                  <a:srgbClr val="231F20"/>
                </a:solidFill>
                <a:latin typeface="Meiryo"/>
                <a:ea typeface="Meiryo"/>
                <a:cs typeface="Meiryo"/>
              </a:rPr>
              <a:t>640 × 480 画素</a:t>
            </a:r>
          </a:p>
          <a:p xmlns:a="http://schemas.openxmlformats.org/drawingml/2006/main">
            <a:pPr algn="l">
              <a:defRPr sz="2250" b="1">
                <a:solidFill>
                  <a:srgbClr val="231F20"/>
                </a:solidFill>
                <a:latin typeface="Meiryo"/>
                <a:ea typeface="Meiryo"/>
                <a:cs typeface="Meiryo"/>
              </a:defRPr>
            </a:pPr>
            <a:r>
              <a:rPr sz="2250" b="1">
                <a:solidFill>
                  <a:srgbClr val="231F20"/>
                </a:solidFill>
                <a:latin typeface="Meiryo"/>
                <a:ea typeface="Meiryo"/>
                <a:cs typeface="Meiryo"/>
              </a:rPr>
              <a:t>4条件で全画素が</a:t>
            </a:r>
          </a:p>
          <a:p xmlns:a="http://schemas.openxmlformats.org/drawingml/2006/main">
            <a:pPr algn="l">
              <a:defRPr sz="2250" b="1">
                <a:solidFill>
                  <a:srgbClr val="231F20"/>
                </a:solidFill>
                <a:latin typeface="Meiryo"/>
                <a:ea typeface="Meiryo"/>
                <a:cs typeface="Meiryo"/>
              </a:defRPr>
            </a:pPr>
            <a:r>
              <a:rPr sz="2250" b="1">
                <a:solidFill>
                  <a:srgbClr val="231F20"/>
                </a:solidFill>
                <a:latin typeface="Meiryo"/>
                <a:ea typeface="Meiryo"/>
                <a:cs typeface="Meiryo"/>
              </a:rPr>
              <a:t>期待画像と一致</a:t>
            </a:r>
          </a:p>
        </p:txBody>
      </p:sp>
      <p:sp>
        <p:nvSpPr>
          <p:cNvPr id="5" name="text-141">
            <a:extLst xmlns:a="http://schemas.openxmlformats.org/drawingml/2006/main">
              <a:ext uri="{FF2B5EF4-FFF2-40B4-BE49-F238E27FC236}">
                <a16:creationId xmlns:a16="http://schemas.microsoft.com/office/drawing/2014/main" id="{DC759AC9-8628-492B-9EDC-A9487F2A4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3275" y="3333750"/>
            <a:ext cx="4429125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2250" b="0">
                <a:solidFill>
                  <a:srgbClr val="231F20"/>
                </a:solidFill>
                <a:latin typeface="Meiryo"/>
                <a:ea typeface="Meiryo"/>
                <a:cs typeface="Meiryo"/>
              </a:defRPr>
            </a:defPPr>
          </a:lstStyle>
          <a:p xmlns:a="http://schemas.openxmlformats.org/drawingml/2006/main">
            <a:pPr algn="l">
              <a:defRPr sz="2250" b="0">
                <a:solidFill>
                  <a:srgbClr val="231F20"/>
                </a:solidFill>
                <a:latin typeface="Meiryo"/>
                <a:ea typeface="Meiryo"/>
                <a:cs typeface="Meiryo"/>
              </a:defRPr>
            </a:pPr>
            <a:r>
              <a:rPr sz="2250" b="0">
                <a:solidFill>
                  <a:srgbClr val="231F20"/>
                </a:solidFill>
                <a:latin typeface="Meiryo"/>
                <a:ea typeface="Meiryo"/>
                <a:cs typeface="Meiryo"/>
              </a:rPr>
              <a:t>5分間の自動プレイ</a:t>
            </a:r>
          </a:p>
          <a:p xmlns:a="http://schemas.openxmlformats.org/drawingml/2006/main">
            <a:pPr algn="l">
              <a:defRPr sz="2250" b="0">
                <a:solidFill>
                  <a:srgbClr val="231F20"/>
                </a:solidFill>
                <a:latin typeface="Meiryo"/>
                <a:ea typeface="Meiryo"/>
                <a:cs typeface="Meiryo"/>
              </a:defRPr>
            </a:pPr>
            <a:r>
              <a:rPr sz="2250" b="0">
                <a:solidFill>
                  <a:srgbClr val="231F20"/>
                </a:solidFill>
                <a:latin typeface="Meiryo"/>
                <a:ea typeface="Meiryo"/>
                <a:cs typeface="Meiryo"/>
              </a:rPr>
              <a:t>別に30秒間の映像を確認</a:t>
            </a:r>
          </a:p>
        </p:txBody>
      </p:sp>
      <p:sp>
        <p:nvSpPr>
          <p:cNvPr id="6" name="text-142">
            <a:extLst xmlns:a="http://schemas.openxmlformats.org/drawingml/2006/main">
              <a:ext uri="{FF2B5EF4-FFF2-40B4-BE49-F238E27FC236}">
                <a16:creationId xmlns:a16="http://schemas.microsoft.com/office/drawing/2014/main" id="{B7856C06-3207-4DA6-B78E-E9E1E6D77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3275" y="4867275"/>
            <a:ext cx="44291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875" b="0">
                <a:solidFill>
                  <a:srgbClr val="231F20"/>
                </a:solidFill>
                <a:latin typeface="Meiryo"/>
                <a:ea typeface="Meiryo"/>
                <a:cs typeface="Meiryo"/>
              </a:defRPr>
            </a:defPPr>
          </a:lstStyle>
          <a:p xmlns:a="http://schemas.openxmlformats.org/drawingml/2006/main">
            <a:pPr algn="l">
              <a:defRPr sz="1875" b="0">
                <a:solidFill>
                  <a:srgbClr val="231F20"/>
                </a:solidFill>
                <a:latin typeface="Meiryo"/>
                <a:ea typeface="Meiryo"/>
                <a:cs typeface="Meiryo"/>
              </a:defRPr>
            </a:pPr>
            <a:r>
              <a:rPr sz="1875" b="0">
                <a:solidFill>
                  <a:srgbClr val="231F20"/>
                </a:solidFill>
                <a:latin typeface="Meiryo"/>
                <a:ea typeface="Meiryo"/>
                <a:cs typeface="Meiryo"/>
              </a:rPr>
              <a:t>動作確認には描画処理を</a:t>
            </a:r>
          </a:p>
          <a:p xmlns:a="http://schemas.openxmlformats.org/drawingml/2006/main">
            <a:pPr algn="l">
              <a:defRPr sz="1875" b="0">
                <a:solidFill>
                  <a:srgbClr val="231F20"/>
                </a:solidFill>
                <a:latin typeface="Meiryo"/>
                <a:ea typeface="Meiryo"/>
                <a:cs typeface="Meiryo"/>
              </a:defRPr>
            </a:pPr>
            <a:r>
              <a:rPr sz="1875" b="0">
                <a:solidFill>
                  <a:srgbClr val="231F20"/>
                </a:solidFill>
                <a:latin typeface="Meiryo"/>
                <a:ea typeface="Meiryo"/>
                <a:cs typeface="Meiryo"/>
              </a:rPr>
              <a:t>軽くした完成版を使用</a:t>
            </a:r>
          </a:p>
        </p:txBody>
      </p:sp>
      <p:sp>
        <p:nvSpPr>
          <p:cNvPr id="7" name="text-143">
            <a:extLst xmlns:a="http://schemas.openxmlformats.org/drawingml/2006/main">
              <a:ext uri="{FF2B5EF4-FFF2-40B4-BE49-F238E27FC236}">
                <a16:creationId xmlns:a16="http://schemas.microsoft.com/office/drawing/2014/main" id="{5CB33655-C04A-49D3-9E7F-9F5C21C2C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10275"/>
            <a:ext cx="10858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875" b="0">
                <a:solidFill>
                  <a:srgbClr val="231F20"/>
                </a:solidFill>
                <a:latin typeface="Meiryo"/>
                <a:ea typeface="Meiryo"/>
                <a:cs typeface="Meiryo"/>
              </a:defRPr>
            </a:defPPr>
          </a:lstStyle>
          <a:p xmlns:a="http://schemas.openxmlformats.org/drawingml/2006/main">
            <a:pPr algn="l">
              <a:defRPr sz="1875" b="0">
                <a:solidFill>
                  <a:srgbClr val="231F20"/>
                </a:solidFill>
                <a:latin typeface="Meiryo"/>
                <a:ea typeface="Meiryo"/>
                <a:cs typeface="Meiryo"/>
              </a:defRPr>
            </a:pPr>
            <a:r>
              <a:rPr sz="1875" b="0">
                <a:solidFill>
                  <a:srgbClr val="231F20"/>
                </a:solidFill>
                <a:latin typeface="Meiryo"/>
                <a:ea typeface="Meiryo"/>
                <a:cs typeface="Meiryo"/>
              </a:rPr>
              <a:t>課題：映像を受信できない場合の条件を調べる</a:t>
            </a:r>
          </a:p>
        </p:txBody>
      </p:sp>
    </p:spTree>
    <p:extLst>
      <p:ext uri="{BB962C8B-B14F-4D97-AF65-F5344CB8AC3E}">
        <p14:creationId xmlns:p14="http://schemas.microsoft.com/office/powerpoint/2010/main" val="869636482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text-144">
            <a:extLst xmlns:a="http://schemas.openxmlformats.org/drawingml/2006/main">
              <a:ext uri="{FF2B5EF4-FFF2-40B4-BE49-F238E27FC236}">
                <a16:creationId xmlns:a16="http://schemas.microsoft.com/office/drawing/2014/main" id="{B0D0A147-AE82-4B23-BC28-F2DEC814E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858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3000" b="1">
                <a:solidFill>
                  <a:srgbClr val="231F20"/>
                </a:solidFill>
                <a:latin typeface="Meiryo"/>
                <a:ea typeface="Meiryo"/>
                <a:cs typeface="Meiryo"/>
              </a:defRPr>
            </a:defPPr>
          </a:lstStyle>
          <a:p xmlns:a="http://schemas.openxmlformats.org/drawingml/2006/main">
            <a:pPr algn="l">
              <a:defRPr sz="3000" b="1">
                <a:solidFill>
                  <a:srgbClr val="231F20"/>
                </a:solidFill>
                <a:latin typeface="Meiryo"/>
                <a:ea typeface="Meiryo"/>
                <a:cs typeface="Meiryo"/>
              </a:defRPr>
            </a:pPr>
            <a:r>
              <a:rPr sz="3000" b="1">
                <a:solidFill>
                  <a:srgbClr val="231F20"/>
                </a:solidFill>
                <a:latin typeface="Meiryo"/>
                <a:ea typeface="Meiryo"/>
                <a:cs typeface="Meiryo"/>
              </a:rPr>
              <a:t>Wallyを拡張するための設計例</a:t>
            </a:r>
          </a:p>
        </p:txBody>
      </p:sp>
      <p:sp>
        <p:nvSpPr>
          <p:cNvPr id="2" name="text-145">
            <a:extLst xmlns:a="http://schemas.openxmlformats.org/drawingml/2006/main">
              <a:ext uri="{FF2B5EF4-FFF2-40B4-BE49-F238E27FC236}">
                <a16:creationId xmlns:a16="http://schemas.microsoft.com/office/drawing/2014/main" id="{E49C70AA-5A2B-4619-827E-93948CC9D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6362700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r">
              <a:defRPr sz="1350" b="0">
                <a:solidFill>
                  <a:srgbClr val="231F20"/>
                </a:solidFill>
                <a:latin typeface="Meiryo"/>
                <a:ea typeface="Meiryo"/>
                <a:cs typeface="Meiryo"/>
              </a:defRPr>
            </a:defPPr>
          </a:lstStyle>
          <a:p xmlns:a="http://schemas.openxmlformats.org/drawingml/2006/main">
            <a:pPr algn="r">
              <a:defRPr sz="1350" b="0">
                <a:solidFill>
                  <a:srgbClr val="231F20"/>
                </a:solidFill>
                <a:latin typeface="Meiryo"/>
                <a:ea typeface="Meiryo"/>
                <a:cs typeface="Meiryo"/>
              </a:defRPr>
            </a:pPr>
            <a:r>
              <a:rPr sz="1350" b="0">
                <a:solidFill>
                  <a:srgbClr val="231F20"/>
                </a:solidFill>
                <a:latin typeface="Meiryo"/>
                <a:ea typeface="Meiryo"/>
                <a:cs typeface="Meiryo"/>
              </a:rPr>
              <a:t>8</a:t>
            </a:r>
          </a:p>
        </p:txBody>
      </p:sp>
      <p:sp>
        <p:nvSpPr>
          <p:cNvPr id="3" name="text-146">
            <a:extLst xmlns:a="http://schemas.openxmlformats.org/drawingml/2006/main">
              <a:ext uri="{FF2B5EF4-FFF2-40B4-BE49-F238E27FC236}">
                <a16:creationId xmlns:a16="http://schemas.microsoft.com/office/drawing/2014/main" id="{C339FA2D-631C-4B96-95C6-C6A061FE3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524000"/>
            <a:ext cx="10382250" cy="1209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3075" b="1">
                <a:solidFill>
                  <a:srgbClr val="231F20"/>
                </a:solidFill>
                <a:latin typeface="Meiryo"/>
                <a:ea typeface="Meiryo"/>
                <a:cs typeface="Meiryo"/>
              </a:defRPr>
            </a:defPPr>
          </a:lstStyle>
          <a:p xmlns:a="http://schemas.openxmlformats.org/drawingml/2006/main">
            <a:pPr algn="l">
              <a:defRPr sz="3075" b="1">
                <a:solidFill>
                  <a:srgbClr val="231F20"/>
                </a:solidFill>
                <a:latin typeface="Meiryo"/>
                <a:ea typeface="Meiryo"/>
                <a:cs typeface="Meiryo"/>
              </a:defRPr>
            </a:pPr>
            <a:r>
              <a:rPr sz="3075" b="1">
                <a:solidFill>
                  <a:srgbClr val="231F20"/>
                </a:solidFill>
                <a:latin typeface="Meiryo"/>
                <a:ea typeface="Meiryo"/>
                <a:cs typeface="Meiryo"/>
              </a:rPr>
              <a:t>Wallyに描画・表示機能を加え、</a:t>
            </a:r>
          </a:p>
          <a:p xmlns:a="http://schemas.openxmlformats.org/drawingml/2006/main">
            <a:pPr algn="l">
              <a:defRPr sz="3075" b="1">
                <a:solidFill>
                  <a:srgbClr val="231F20"/>
                </a:solidFill>
                <a:latin typeface="Meiryo"/>
                <a:ea typeface="Meiryo"/>
                <a:cs typeface="Meiryo"/>
              </a:defRPr>
            </a:pPr>
            <a:r>
              <a:rPr sz="3075" b="1">
                <a:solidFill>
                  <a:srgbClr val="231F20"/>
                </a:solidFill>
                <a:latin typeface="Meiryo"/>
                <a:ea typeface="Meiryo"/>
                <a:cs typeface="Meiryo"/>
              </a:rPr>
              <a:t>ブロック崩しの動作を実機で確認した</a:t>
            </a:r>
          </a:p>
        </p:txBody>
      </p:sp>
      <p:sp>
        <p:nvSpPr>
          <p:cNvPr id="4" name="text-147">
            <a:extLst xmlns:a="http://schemas.openxmlformats.org/drawingml/2006/main">
              <a:ext uri="{FF2B5EF4-FFF2-40B4-BE49-F238E27FC236}">
                <a16:creationId xmlns:a16="http://schemas.microsoft.com/office/drawing/2014/main" id="{5DD75380-9DB8-4A29-BDDA-EB0106A76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209925"/>
            <a:ext cx="1047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2175" b="0">
                <a:solidFill>
                  <a:srgbClr val="231F20"/>
                </a:solidFill>
                <a:latin typeface="Meiryo"/>
                <a:ea typeface="Meiryo"/>
                <a:cs typeface="Meiryo"/>
              </a:defRPr>
            </a:defPPr>
          </a:lstStyle>
          <a:p xmlns:a="http://schemas.openxmlformats.org/drawingml/2006/main">
            <a:pPr algn="l">
              <a:defRPr sz="2175" b="0">
                <a:solidFill>
                  <a:srgbClr val="231F20"/>
                </a:solidFill>
                <a:latin typeface="Meiryo"/>
                <a:ea typeface="Meiryo"/>
                <a:cs typeface="Meiryo"/>
              </a:defRPr>
            </a:pPr>
            <a:r>
              <a:rPr sz="2175" b="0">
                <a:solidFill>
                  <a:srgbClr val="231F20"/>
                </a:solidFill>
                <a:latin typeface="Meiryo"/>
                <a:ea typeface="Meiryo"/>
                <a:cs typeface="Meiryo"/>
              </a:rPr>
              <a:t>命令の接続・画像用メモリ・表示の切り替えを実装</a:t>
            </a:r>
          </a:p>
        </p:txBody>
      </p:sp>
      <p:sp>
        <p:nvSpPr>
          <p:cNvPr id="5" name="text-148">
            <a:extLst xmlns:a="http://schemas.openxmlformats.org/drawingml/2006/main">
              <a:ext uri="{FF2B5EF4-FFF2-40B4-BE49-F238E27FC236}">
                <a16:creationId xmlns:a16="http://schemas.microsoft.com/office/drawing/2014/main" id="{906EE0CA-D276-495A-AD2D-3CA294773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076700"/>
            <a:ext cx="10382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2250" b="0">
                <a:solidFill>
                  <a:srgbClr val="231F20"/>
                </a:solidFill>
                <a:latin typeface="Meiryo"/>
                <a:ea typeface="Meiryo"/>
                <a:cs typeface="Meiryo"/>
              </a:defRPr>
            </a:defPPr>
          </a:lstStyle>
          <a:p xmlns:a="http://schemas.openxmlformats.org/drawingml/2006/main">
            <a:pPr algn="l">
              <a:defRPr sz="2250" b="0">
                <a:solidFill>
                  <a:srgbClr val="231F20"/>
                </a:solidFill>
                <a:latin typeface="Meiryo"/>
                <a:ea typeface="Meiryo"/>
                <a:cs typeface="Meiryo"/>
              </a:defRPr>
            </a:pPr>
            <a:r>
              <a:rPr sz="2250" b="0">
                <a:solidFill>
                  <a:srgbClr val="231F20"/>
                </a:solidFill>
                <a:latin typeface="Meiryo"/>
                <a:ea typeface="Meiryo"/>
                <a:cs typeface="Meiryo"/>
              </a:rPr>
              <a:t>接続設計と試験条件を公開し、</a:t>
            </a:r>
          </a:p>
          <a:p xmlns:a="http://schemas.openxmlformats.org/drawingml/2006/main">
            <a:pPr algn="l">
              <a:defRPr sz="2250" b="0">
                <a:solidFill>
                  <a:srgbClr val="231F20"/>
                </a:solidFill>
                <a:latin typeface="Meiryo"/>
                <a:ea typeface="Meiryo"/>
                <a:cs typeface="Meiryo"/>
              </a:defRPr>
            </a:pPr>
            <a:r>
              <a:rPr sz="2250" b="0">
                <a:solidFill>
                  <a:srgbClr val="231F20"/>
                </a:solidFill>
                <a:latin typeface="Meiryo"/>
                <a:ea typeface="Meiryo"/>
                <a:cs typeface="Meiryo"/>
              </a:rPr>
              <a:t>Wallyを拡張する人が参照できる形にまとめた</a:t>
            </a:r>
          </a:p>
        </p:txBody>
      </p:sp>
      <p:sp>
        <p:nvSpPr>
          <p:cNvPr id="6" name="text-149">
            <a:extLst xmlns:a="http://schemas.openxmlformats.org/drawingml/2006/main">
              <a:ext uri="{FF2B5EF4-FFF2-40B4-BE49-F238E27FC236}">
                <a16:creationId xmlns:a16="http://schemas.microsoft.com/office/drawing/2014/main" id="{1A3CE8DB-55C9-4E70-811C-E0DE0A069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553075"/>
            <a:ext cx="1047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2250" b="1">
                <a:solidFill>
                  <a:srgbClr val="231F20"/>
                </a:solidFill>
                <a:latin typeface="Meiryo"/>
                <a:ea typeface="Meiryo"/>
                <a:cs typeface="Meiryo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231F20"/>
                </a:solidFill>
                <a:latin typeface="Meiryo"/>
                <a:ea typeface="Meiryo"/>
                <a:cs typeface="Meiryo"/>
              </a:defRPr>
            </a:pPr>
            <a:r>
              <a:rPr sz="2250" b="1">
                <a:solidFill>
                  <a:srgbClr val="231F20"/>
                </a:solidFill>
                <a:latin typeface="Meiryo"/>
                <a:ea typeface="Meiryo"/>
                <a:cs typeface="Meiryo"/>
              </a:rPr>
              <a:t>最終発表：専用コントローラーによる操作を検証</a:t>
            </a:r>
          </a:p>
        </p:txBody>
      </p:sp>
    </p:spTree>
    <p:extLst>
      <p:ext uri="{BB962C8B-B14F-4D97-AF65-F5344CB8AC3E}">
        <p14:creationId xmlns:p14="http://schemas.microsoft.com/office/powerpoint/2010/main" val="108613906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title>Presentation</dc:title>
  <dcterms:created xsi:type="dcterms:W3CDTF">2026-10-13T04:28:21.7990000Z</dcterms:created>
  <dcterms:modified xsi:type="dcterms:W3CDTF">2026-10-13T04:28:21.7990000Z</dcterms:modified>
</coreProperties>
</file>