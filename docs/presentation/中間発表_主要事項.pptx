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xml version='1.0' encoding='UTF-8' standalone='yes'?>
<Relationships xmlns="http://schemas.openxmlformats.org/package/2006/relationships"><Relationship Type="http://schemas.openxmlformats.org/package/2006/relationships/metadata/core-properties" Target="/docProps/core.xml" Id="R6e54637ae3184eac"/><Relationship Type="http://schemas.openxmlformats.org/officeDocument/2006/relationships/extended-properties" Target="/docProps/app.xml" Id="Re9fd3c51d1784821"/><Relationship Type="http://schemas.openxmlformats.org/officeDocument/2006/relationships/officeDocument" Target="/ppt/presentation.xml" Id="R0cb44badf9d24d03"/></Relationships>
</file>

<file path=ppt/presentation.xml><?xml version="1.0" encoding="utf-8"?>
<p:presentation xmlns:p="http://schemas.openxmlformats.org/presentationml/2006/main">
  <p:sldMasterIdLst>
    <p:sldMasterId xmlns:r="http://schemas.openxmlformats.org/officeDocument/2006/relationships" id="2147483648" r:id="Rf1e13a78212740b4"/>
  </p:sldMasterIdLst>
  <p:notesMasterIdLst>
    <p:notesMasterId xmlns:r="http://schemas.openxmlformats.org/officeDocument/2006/relationships" r:id="R7b9040cbcd3c4674"/>
  </p:notesMasterIdLst>
  <p:sldIdLst>
    <p:sldId xmlns:r="http://schemas.openxmlformats.org/officeDocument/2006/relationships" id="256" r:id="R263cd7840cef488b"/>
    <p:sldId xmlns:r="http://schemas.openxmlformats.org/officeDocument/2006/relationships" id="257" r:id="R49d91104d95347bc"/>
    <p:sldId xmlns:r="http://schemas.openxmlformats.org/officeDocument/2006/relationships" id="258" r:id="R755236e0a0eb42a5"/>
    <p:sldId xmlns:r="http://schemas.openxmlformats.org/officeDocument/2006/relationships" id="259" r:id="Rf38aea831c534c81"/>
    <p:sldId xmlns:r="http://schemas.openxmlformats.org/officeDocument/2006/relationships" id="260" r:id="R20b32a9d07d5470c"/>
    <p:sldId xmlns:r="http://schemas.openxmlformats.org/officeDocument/2006/relationships" id="261" r:id="R192e1485f17b4a8c"/>
    <p:sldId xmlns:r="http://schemas.openxmlformats.org/officeDocument/2006/relationships" id="262" r:id="Reac398f0950e4593"/>
    <p:sldId xmlns:r="http://schemas.openxmlformats.org/officeDocument/2006/relationships" id="263" r:id="Rafd94b476a8e441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Type="http://schemas.openxmlformats.org/officeDocument/2006/relationships/theme" Target="/ppt/theme/theme1.xml" Id="R50aed613fad847f7"/><Relationship Type="http://schemas.openxmlformats.org/officeDocument/2006/relationships/slideMaster" Target="/ppt/slideMasters/slideMaster1.xml" Id="Rf1e13a78212740b4"/><Relationship Type="http://schemas.openxmlformats.org/officeDocument/2006/relationships/notesMaster" Target="/ppt/notesMasters/notesMaster1.xml" Id="R7b9040cbcd3c4674"/><Relationship Type="http://schemas.openxmlformats.org/officeDocument/2006/relationships/presProps" Target="/ppt/presProps.xml" Id="R704ad9deb08f4cb1"/><Relationship Type="http://schemas.openxmlformats.org/officeDocument/2006/relationships/tableStyles" Target="/ppt/tableStyles.xml" Id="Rf88960bb1f7741f7"/><Relationship Type="http://schemas.openxmlformats.org/officeDocument/2006/relationships/slide" Target="/ppt/slides/slide1.xml" Id="R263cd7840cef488b"/><Relationship Type="http://schemas.openxmlformats.org/officeDocument/2006/relationships/slide" Target="/ppt/slides/slide2.xml" Id="R49d91104d95347bc"/><Relationship Type="http://schemas.openxmlformats.org/officeDocument/2006/relationships/slide" Target="/ppt/slides/slide3.xml" Id="R755236e0a0eb42a5"/><Relationship Type="http://schemas.openxmlformats.org/officeDocument/2006/relationships/slide" Target="/ppt/slides/slide4.xml" Id="Rf38aea831c534c81"/><Relationship Type="http://schemas.openxmlformats.org/officeDocument/2006/relationships/slide" Target="/ppt/slides/slide5.xml" Id="R20b32a9d07d5470c"/><Relationship Type="http://schemas.openxmlformats.org/officeDocument/2006/relationships/slide" Target="/ppt/slides/slide6.xml" Id="R192e1485f17b4a8c"/><Relationship Type="http://schemas.openxmlformats.org/officeDocument/2006/relationships/slide" Target="/ppt/slides/slide7.xml" Id="Reac398f0950e4593"/><Relationship Type="http://schemas.openxmlformats.org/officeDocument/2006/relationships/slide" Target="/ppt/slides/slide8.xml" Id="Rafd94b476a8e441b"/></Relationships>
</file>

<file path=ppt/notesMasters/_rels/notesMaster1.xml.rels><?xml version='1.0' encoding='UTF-8' standalone='yes'?>
<Relationships xmlns="http://schemas.openxmlformats.org/package/2006/relationships"><Relationship Type="http://schemas.openxmlformats.org/officeDocument/2006/relationships/theme" Target="/ppt/notesMasters/theme/theme3.xml" Id="Re55e4862513a4a82"/></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Type="http://schemas.openxmlformats.org/officeDocument/2006/relationships/slide" Target="/ppt/slides/slide1.xml" Id="R1ae19ec83a8c4ceb"/><Relationship Type="http://schemas.openxmlformats.org/officeDocument/2006/relationships/notesMaster" Target="/ppt/notesMasters/notesMaster1.xml" Id="R727da4a17b3a480a"/></Relationships>
</file>

<file path=ppt/notesSlides/_rels/notesSlide2.xml.rels><?xml version='1.0' encoding='UTF-8' standalone='yes'?>
<Relationships xmlns="http://schemas.openxmlformats.org/package/2006/relationships"><Relationship Type="http://schemas.openxmlformats.org/officeDocument/2006/relationships/slide" Target="/ppt/slides/slide2.xml" Id="R500892afeb9e422c"/><Relationship Type="http://schemas.openxmlformats.org/officeDocument/2006/relationships/notesMaster" Target="/ppt/notesMasters/notesMaster1.xml" Id="R8d3f2c7952fe4685"/></Relationships>
</file>

<file path=ppt/notesSlides/_rels/notesSlide3.xml.rels><?xml version='1.0' encoding='UTF-8' standalone='yes'?>
<Relationships xmlns="http://schemas.openxmlformats.org/package/2006/relationships"><Relationship Type="http://schemas.openxmlformats.org/officeDocument/2006/relationships/slide" Target="/ppt/slides/slide3.xml" Id="R2efb325cd86d4dad"/><Relationship Type="http://schemas.openxmlformats.org/officeDocument/2006/relationships/notesMaster" Target="/ppt/notesMasters/notesMaster1.xml" Id="Raa87a8e5905742e1"/></Relationships>
</file>

<file path=ppt/notesSlides/_rels/notesSlide4.xml.rels><?xml version='1.0' encoding='UTF-8' standalone='yes'?>
<Relationships xmlns="http://schemas.openxmlformats.org/package/2006/relationships"><Relationship Type="http://schemas.openxmlformats.org/officeDocument/2006/relationships/slide" Target="/ppt/slides/slide4.xml" Id="R59c8cd3c5e5145e3"/><Relationship Type="http://schemas.openxmlformats.org/officeDocument/2006/relationships/notesMaster" Target="/ppt/notesMasters/notesMaster1.xml" Id="Rdd5cda05ceba4e57"/></Relationships>
</file>

<file path=ppt/notesSlides/_rels/notesSlide5.xml.rels><?xml version='1.0' encoding='UTF-8' standalone='yes'?>
<Relationships xmlns="http://schemas.openxmlformats.org/package/2006/relationships"><Relationship Type="http://schemas.openxmlformats.org/officeDocument/2006/relationships/slide" Target="/ppt/slides/slide5.xml" Id="Re7123cd0c9bf435b"/><Relationship Type="http://schemas.openxmlformats.org/officeDocument/2006/relationships/notesMaster" Target="/ppt/notesMasters/notesMaster1.xml" Id="Rebbbc2d0d78e45ae"/></Relationships>
</file>

<file path=ppt/notesSlides/_rels/notesSlide6.xml.rels><?xml version='1.0' encoding='UTF-8' standalone='yes'?>
<Relationships xmlns="http://schemas.openxmlformats.org/package/2006/relationships"><Relationship Type="http://schemas.openxmlformats.org/officeDocument/2006/relationships/slide" Target="/ppt/slides/slide6.xml" Id="R0b3cb1ab56a940ac"/><Relationship Type="http://schemas.openxmlformats.org/officeDocument/2006/relationships/notesMaster" Target="/ppt/notesMasters/notesMaster1.xml" Id="R4f3f41b7a5584e30"/></Relationships>
</file>

<file path=ppt/notesSlides/_rels/notesSlide7.xml.rels><?xml version='1.0' encoding='UTF-8' standalone='yes'?>
<Relationships xmlns="http://schemas.openxmlformats.org/package/2006/relationships"><Relationship Type="http://schemas.openxmlformats.org/officeDocument/2006/relationships/slide" Target="/ppt/slides/slide7.xml" Id="R08624e5cc72e43b2"/><Relationship Type="http://schemas.openxmlformats.org/officeDocument/2006/relationships/notesMaster" Target="/ppt/notesMasters/notesMaster1.xml" Id="R1a74cf0892b24990"/></Relationships>
</file>

<file path=ppt/notesSlides/_rels/notesSlide8.xml.rels><?xml version='1.0' encoding='UTF-8' standalone='yes'?>
<Relationships xmlns="http://schemas.openxmlformats.org/package/2006/relationships"><Relationship Type="http://schemas.openxmlformats.org/officeDocument/2006/relationships/slide" Target="/ppt/slides/slide8.xml" Id="Rb630eb3b0cda44ad"/><Relationship Type="http://schemas.openxmlformats.org/officeDocument/2006/relationships/notesMaster" Target="/ppt/notesMasters/notesMaster1.xml" Id="Ra1fd69a7c95b4c1b"/></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想定時間：25秒</a:t>
            </a:r>
          </a:p>
          <a:p xmlns:a="http://schemas.openxmlformats.org/drawingml/2006/main">
            <a:r>
              <a:t/>
            </a:r>
          </a:p>
          <a:p xmlns:a="http://schemas.openxmlformats.org/drawingml/2006/main">
            <a:r>
              <a:t>公開CPUであるWallyに、画面を描く回路を接続し、ブロック崩しを動かすゲーム機を作りました。目的は、Wallyに周辺機能を追加する学習者が、接続方法と確認方法を参照できる例を示すことです。今日は、基板の中に何を作り、どう画面を出し、何を確かめたかを説明します。</a:t>
            </a:r>
          </a:p>
          <a:p xmlns:a="http://schemas.openxmlformats.org/drawingml/2006/main">
            <a:r>
              <a:t>根拠：docs/thesis/本文.md 第6〜10章、第13章。実験記録 E6。製品 https://github.com/SoshiroFujimori/wally-game-console/tree/261832d48832dd6e26c4971ab8893ce61200688b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想定時間：40秒</a:t>
            </a:r>
          </a:p>
          <a:p xmlns:a="http://schemas.openxmlformats.org/drawingml/2006/main">
            <a:r>
              <a:t/>
            </a:r>
          </a:p>
          <a:p xmlns:a="http://schemas.openxmlformats.org/drawingml/2006/main">
            <a:r>
              <a:t>FPGAボードには、FPGAチップのほかにメモリやSDカードスロット、HDMI端子があります。FPGAには、論理ゲートや記憶素子の接続を設定して、目的に合った回路を実装できます。図のゲートはそのイメージです。周辺の部品そのものをFPGAの中に作るのではなく、その部品を操作する回路を中に作ります。</a:t>
            </a:r>
          </a:p>
          <a:p xmlns:a="http://schemas.openxmlformats.org/drawingml/2006/main">
            <a:r>
              <a:t>根拠：docs/thesis/本文.md 第6〜10章、第13章。実験記録 E6。製品 https://github.com/SoshiroFujimori/wally-game-console/tree/261832d48832dd6e26c4971ab8893ce61200688b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想定時間：50秒</a:t>
            </a:r>
          </a:p>
          <a:p xmlns:a="http://schemas.openxmlformats.org/drawingml/2006/main">
            <a:r>
              <a:t/>
            </a:r>
          </a:p>
          <a:p xmlns:a="http://schemas.openxmlformats.org/drawingml/2006/main">
            <a:r>
              <a:t>このFPGAの中に、WallyとRasterIXを配置しました。前の図と、部品とチップの位置は同じです。CPUのバスにはSDカード制御回路と、描画命令を渡す接続回路をつなぎます。CPUも描画側も外のDDR3メモリを使うため、メモリへのアクセスをまとめます。RasterIXが作った画像は、表示回路が読み、HDMI端子から出します。既存のCPUと描画回路を利用し、この接続と制御を設計した部分が本研究です。</a:t>
            </a:r>
          </a:p>
          <a:p xmlns:a="http://schemas.openxmlformats.org/drawingml/2006/main">
            <a:r>
              <a:t>根拠：docs/thesis/本文.md 第6〜10章、第13章。実験記録 E6。製品 https://github.com/SoshiroFujimori/wally-game-console/tree/261832d48832dd6e26c4971ab8893ce61200688b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想定時間：40秒</a:t>
            </a:r>
          </a:p>
          <a:p xmlns:a="http://schemas.openxmlformats.org/drawingml/2006/main">
            <a:r>
              <a:t/>
            </a:r>
          </a:p>
          <a:p xmlns:a="http://schemas.openxmlformats.org/drawingml/2006/main">
            <a:r>
              <a:t>CPUはSDカードから読み込んだゲームプログラムを実行します。ゲームの一回の処理では、ボールなどの位置を更新し、その位置と色を描画命令にします。CPUは命令列をメモリに用意してから接続回路へ送ります。RasterIXは命令に従って画素の色を計算し、画像をメモリへ保存します。表示回路がその画像を読むと、画面にボールが見えます。この処理を繰り返すことで、動いて見えます。</a:t>
            </a:r>
          </a:p>
          <a:p xmlns:a="http://schemas.openxmlformats.org/drawingml/2006/main">
            <a:r>
              <a:t>根拠：docs/thesis/本文.md 第6〜10章、第13章。実験記録 E6。製品 https://github.com/SoshiroFujimori/wally-game-console/tree/261832d48832dd6e26c4971ab8893ce61200688b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想定時間：50秒</a:t>
            </a:r>
          </a:p>
          <a:p xmlns:a="http://schemas.openxmlformats.org/drawingml/2006/main">
            <a:r>
              <a:t/>
            </a:r>
          </a:p>
          <a:p xmlns:a="http://schemas.openxmlformats.org/drawingml/2006/main">
            <a:r>
              <a:t>CPUとRasterIXは異なるクロックで動きます。そのため、命令の値と順番を保って渡す接続が必要です。一つの方法は、一語を保持し、相手の受取確認が戻るたびに次を送る方法です。採用したFIFOは、命令を順番に預かる待ち行列です。空きがあれば、CPUは次の命令へ進めます。同じゲームで比べたところ、この図の三方式では512語FIFOの送信待ちが最も短くなりました。この数字はゲーム全体ではなく、書き込みを待たされた時間です。</a:t>
            </a:r>
          </a:p>
          <a:p xmlns:a="http://schemas.openxmlformats.org/drawingml/2006/main">
            <a:r>
              <a:t>根拠：E6、第13.10〜13.13節。1語方式は4相ハンドシェイク。初期状態、全体描画、180フレームを3回、各試行平均の中央値。CPU 20 MHz、RasterIX 100 MHz。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想定時間：45秒</a:t>
            </a:r>
          </a:p>
          <a:p xmlns:a="http://schemas.openxmlformats.org/drawingml/2006/main">
            <a:r>
              <a:t/>
            </a:r>
          </a:p>
          <a:p xmlns:a="http://schemas.openxmlformats.org/drawingml/2006/main">
            <a:r>
              <a:t>もう一つの接続設計が、表示する画像の切り替えです。表示回路は画像を読み続けます。その同じ画像を途中で描き換えると、新旧の画面が混ざるおそれがあります。そこで画像を二枚分用意し、一方を表示している間に、もう一方に描きます。完成後、表示の区切りで役割を交代します。また、古い画像の読み出しが残っている間は、そこへの描き直しを始めないよう、切り替え完了を確認します。</a:t>
            </a:r>
          </a:p>
          <a:p xmlns:a="http://schemas.openxmlformats.org/drawingml/2006/main">
            <a:r>
              <a:t>根拠：docs/thesis/本文.md 第6〜10章、第13章。実験記録 E6。製品 https://github.com/SoshiroFujimori/wally-game-console/tree/261832d48832dd6e26c4971ab8893ce61200688b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想定時間：55秒</a:t>
            </a:r>
          </a:p>
          <a:p xmlns:a="http://schemas.openxmlformats.org/drawingml/2006/main">
            <a:r>
              <a:t/>
            </a:r>
          </a:p>
          <a:p xmlns:a="http://schemas.openxmlformats.org/drawingml/2006/main">
            <a:r>
              <a:t>実機では640×480画素のブロック崩しを動かしました。ここに示したのは、実機映像の一場面です。通常版で5分間の自動プレイが継続し、別途保存した30秒の映像でもボールの移動を確認しました。接続を比較した三方式では、選んだ27画面の全画素が正解画像と一致しました。ただし、すべての途中画像を比べたわけではありません。また、大きいテクスチャと映像機器での認識には未解決の条件があります。専用のゲームコントローラーは、まだ検証していません。</a:t>
            </a:r>
          </a:p>
          <a:p xmlns:a="http://schemas.openxmlformats.org/drawingml/2006/main">
            <a:r>
              <a:t>根拠：E6、第13.11節と13.15〜13.16節。画像：docs/thesis/figs/fifo-study-game.png。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想定時間：25秒</a:t>
            </a:r>
          </a:p>
          <a:p xmlns:a="http://schemas.openxmlformats.org/drawingml/2006/main">
            <a:r>
              <a:t/>
            </a:r>
          </a:p>
          <a:p xmlns:a="http://schemas.openxmlformats.org/drawingml/2006/main">
            <a:r>
              <a:t>WallyをFPGAボードに実装し、描画回路、メモリ、表示をつなぐことで、二次元ゲームを動かしました。動いたという報告に加え、命令の渡し方を比較し、採用した接続の根拠を示しました。設計とソース、試験条件を公開し、Wallyへ周辺機能を追加したい学習者が、同じ構成を検討するときの参照例とします。今後は残る不具合の検証と、専用コントローラーの接続を進めます。</a:t>
            </a:r>
          </a:p>
          <a:p xmlns:a="http://schemas.openxmlformats.org/drawingml/2006/main">
            <a:r>
              <a:t>根拠：docs/thesis/本文.md 第6〜10章、第13章。実験記録 E6。製品 https://github.com/SoshiroFujimori/wally-game-console/tree/261832d48832dd6e26c4971ab8893ce61200688b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Type="http://schemas.openxmlformats.org/officeDocument/2006/relationships/slideMaster" Target="/ppt/slideMasters/slideMaster1.xml" Id="R4ca15b1a565541fe"/></Relationships>
</file>

<file path=ppt/slideLayouts/_rels/slideLayout2.xml.rels><?xml version='1.0' encoding='UTF-8' standalone='yes'?>
<Relationships xmlns="http://schemas.openxmlformats.org/package/2006/relationships"><Relationship Type="http://schemas.openxmlformats.org/officeDocument/2006/relationships/slideMaster" Target="/ppt/slideMasters/slideMaster1.xml" Id="Raea292a0a57b4834"/></Relationships>
</file>

<file path=ppt/slideLayouts/_rels/slideLayout3.xml.rels><?xml version='1.0' encoding='UTF-8' standalone='yes'?>
<Relationships xmlns="http://schemas.openxmlformats.org/package/2006/relationships"><Relationship Type="http://schemas.openxmlformats.org/officeDocument/2006/relationships/slideMaster" Target="/ppt/slideMasters/slideMaster1.xml" Id="Rf598e9818a5840aa"/></Relationships>
</file>

<file path=ppt/slideLayouts/_rels/slideLayout4.xml.rels><?xml version='1.0' encoding='UTF-8' standalone='yes'?>
<Relationships xmlns="http://schemas.openxmlformats.org/package/2006/relationships"><Relationship Type="http://schemas.openxmlformats.org/officeDocument/2006/relationships/slideMaster" Target="/ppt/slideMasters/slideMaster1.xml" Id="Rf845455f06be4377"/></Relationships>
</file>

<file path=ppt/slideLayouts/_rels/slideLayout5.xml.rels><?xml version='1.0' encoding='UTF-8' standalone='yes'?>
<Relationships xmlns="http://schemas.openxmlformats.org/package/2006/relationships"><Relationship Type="http://schemas.openxmlformats.org/officeDocument/2006/relationships/slideMaster" Target="/ppt/slideMasters/slideMaster1.xml" Id="Rd90090268f8345e2"/></Relationships>
</file>

<file path=ppt/slideLayouts/_rels/slideLayout6.xml.rels><?xml version='1.0' encoding='UTF-8' standalone='yes'?>
<Relationships xmlns="http://schemas.openxmlformats.org/package/2006/relationships"><Relationship Type="http://schemas.openxmlformats.org/officeDocument/2006/relationships/slideMaster" Target="/ppt/slideMasters/slideMaster1.xml" Id="R1b009a784e8144c3"/></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E09A3AA-BBD7-4758-A46A-DEC7D4C1037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B934987-FC46-435D-87FE-4ECB100FC11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B52F47C-9667-4B50-A049-F6438F70D00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5650D46-E0A1-4D83-ACB5-6E00B937B7B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4198E15-7006-49B2-A775-4447B0D35BB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36DFDBD-0635-4686-9D52-D9E25C4F690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E36D116-6D09-4C81-A5DA-BE4AA761689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E618FCA-41D1-4C7A-8D2F-30D67A17757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549E315-C5F5-49D2-A920-9027CF54200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AC8A0D9-C168-48B5-95C3-D78A4C9B21C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Type="http://schemas.openxmlformats.org/officeDocument/2006/relationships/theme" Target="/ppt/slideMasters/theme/theme2.xml" Id="Re8458d82ab394354"/><Relationship Type="http://schemas.openxmlformats.org/officeDocument/2006/relationships/slideLayout" Target="/ppt/slideLayouts/slideLayout1.xml" Id="R5e00b7651940438f"/><Relationship Type="http://schemas.openxmlformats.org/officeDocument/2006/relationships/slideLayout" Target="/ppt/slideLayouts/slideLayout2.xml" Id="R20c35189b1e141cb"/><Relationship Type="http://schemas.openxmlformats.org/officeDocument/2006/relationships/slideLayout" Target="/ppt/slideLayouts/slideLayout3.xml" Id="R159d58a94f0f4fcd"/><Relationship Type="http://schemas.openxmlformats.org/officeDocument/2006/relationships/slideLayout" Target="/ppt/slideLayouts/slideLayout4.xml" Id="R0c1ca3fb18ef446a"/><Relationship Type="http://schemas.openxmlformats.org/officeDocument/2006/relationships/slideLayout" Target="/ppt/slideLayouts/slideLayout5.xml" Id="Rafaf3415f9e94277"/><Relationship Type="http://schemas.openxmlformats.org/officeDocument/2006/relationships/slideLayout" Target="/ppt/slideLayouts/slideLayout6.xml" Id="Rbb4337d8e5344ec7"/></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e00b7651940438f"/>
    <p:sldLayoutId xmlns:r="http://schemas.openxmlformats.org/officeDocument/2006/relationships" id="2147483650" r:id="R20c35189b1e141cb"/>
    <p:sldLayoutId xmlns:r="http://schemas.openxmlformats.org/officeDocument/2006/relationships" id="2147483651" r:id="R159d58a94f0f4fcd"/>
    <p:sldLayoutId xmlns:r="http://schemas.openxmlformats.org/officeDocument/2006/relationships" id="2147483652" r:id="R0c1ca3fb18ef446a"/>
    <p:sldLayoutId xmlns:r="http://schemas.openxmlformats.org/officeDocument/2006/relationships" id="2147483653" r:id="Rafaf3415f9e94277"/>
    <p:sldLayoutId xmlns:r="http://schemas.openxmlformats.org/officeDocument/2006/relationships" id="2147483654" r:id="Rbb4337d8e5344ec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Type="http://schemas.openxmlformats.org/officeDocument/2006/relationships/slideLayout" Target="/ppt/slideLayouts/slideLayout6.xml" Id="Rfcd459c7228a4035"/><Relationship Type="http://schemas.openxmlformats.org/officeDocument/2006/relationships/notesSlide" Target="/ppt/notesSlides/notesSlide1.xml" Id="Rb5fecacf6f5d4ac2"/></Relationships>
</file>

<file path=ppt/slides/_rels/slide2.xml.rels><?xml version='1.0' encoding='UTF-8' standalone='yes'?>
<Relationships xmlns="http://schemas.openxmlformats.org/package/2006/relationships"><Relationship Type="http://schemas.openxmlformats.org/officeDocument/2006/relationships/slideLayout" Target="/ppt/slideLayouts/slideLayout6.xml" Id="Rf9a9bdb6034b4b9c"/><Relationship Type="http://schemas.openxmlformats.org/officeDocument/2006/relationships/notesSlide" Target="/ppt/notesSlides/notesSlide2.xml" Id="R2d7340e9a8a040aa"/></Relationships>
</file>

<file path=ppt/slides/_rels/slide3.xml.rels><?xml version='1.0' encoding='UTF-8' standalone='yes'?>
<Relationships xmlns="http://schemas.openxmlformats.org/package/2006/relationships"><Relationship Type="http://schemas.openxmlformats.org/officeDocument/2006/relationships/slideLayout" Target="/ppt/slideLayouts/slideLayout6.xml" Id="R79ec0d2fe6954d6d"/><Relationship Type="http://schemas.openxmlformats.org/officeDocument/2006/relationships/notesSlide" Target="/ppt/notesSlides/notesSlide3.xml" Id="Rae36d48f6bd643ff"/></Relationships>
</file>

<file path=ppt/slides/_rels/slide4.xml.rels><?xml version='1.0' encoding='UTF-8' standalone='yes'?>
<Relationships xmlns="http://schemas.openxmlformats.org/package/2006/relationships"><Relationship Type="http://schemas.openxmlformats.org/officeDocument/2006/relationships/slideLayout" Target="/ppt/slideLayouts/slideLayout6.xml" Id="R01b05d36e90d4bcb"/><Relationship Type="http://schemas.openxmlformats.org/officeDocument/2006/relationships/notesSlide" Target="/ppt/notesSlides/notesSlide4.xml" Id="R8741ab0258cd408a"/></Relationships>
</file>

<file path=ppt/slides/_rels/slide5.xml.rels><?xml version='1.0' encoding='UTF-8' standalone='yes'?>
<Relationships xmlns="http://schemas.openxmlformats.org/package/2006/relationships"><Relationship Type="http://schemas.openxmlformats.org/officeDocument/2006/relationships/slideLayout" Target="/ppt/slideLayouts/slideLayout6.xml" Id="Rcaf94da7f1a847ef"/><Relationship Type="http://schemas.openxmlformats.org/officeDocument/2006/relationships/notesSlide" Target="/ppt/notesSlides/notesSlide5.xml" Id="R32d95d29cac94746"/></Relationships>
</file>

<file path=ppt/slides/_rels/slide6.xml.rels><?xml version='1.0' encoding='UTF-8' standalone='yes'?>
<Relationships xmlns="http://schemas.openxmlformats.org/package/2006/relationships"><Relationship Type="http://schemas.openxmlformats.org/officeDocument/2006/relationships/slideLayout" Target="/ppt/slideLayouts/slideLayout6.xml" Id="Rbfc0c3ef1d214e7b"/><Relationship Type="http://schemas.openxmlformats.org/officeDocument/2006/relationships/notesSlide" Target="/ppt/notesSlides/notesSlide6.xml" Id="R5734c3cecce34db0"/></Relationships>
</file>

<file path=ppt/slides/_rels/slide7.xml.rels><?xml version='1.0' encoding='UTF-8' standalone='yes'?>
<Relationships xmlns="http://schemas.openxmlformats.org/package/2006/relationships"><Relationship Type="http://schemas.openxmlformats.org/officeDocument/2006/relationships/slideLayout" Target="/ppt/slideLayouts/slideLayout6.xml" Id="R1e04ccdf4f1b4cae"/><Relationship Type="http://schemas.openxmlformats.org/officeDocument/2006/relationships/image" Target="/ppt/media/image.png" Id="R53ff83d16a15471f"/><Relationship Type="http://schemas.openxmlformats.org/officeDocument/2006/relationships/notesSlide" Target="/ppt/notesSlides/notesSlide7.xml" Id="Rd3ba4d1a8e4d46d1"/></Relationships>
</file>

<file path=ppt/slides/_rels/slide8.xml.rels><?xml version='1.0' encoding='UTF-8' standalone='yes'?>
<Relationships xmlns="http://schemas.openxmlformats.org/package/2006/relationships"><Relationship Type="http://schemas.openxmlformats.org/officeDocument/2006/relationships/slideLayout" Target="/ppt/slideLayouts/slideLayout6.xml" Id="Rfad98c1bd5dd4cbc"/><Relationship Type="http://schemas.openxmlformats.org/officeDocument/2006/relationships/notesSlide" Target="/ppt/notesSlides/notesSlide8.xml" Id="R74c115fc4faf4527"/></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ext-1">
            <a:extLst xmlns:a="http://schemas.openxmlformats.org/drawingml/2006/main">
              <a:ext uri="{FF2B5EF4-FFF2-40B4-BE49-F238E27FC236}">
                <a16:creationId xmlns:a16="http://schemas.microsoft.com/office/drawing/2014/main" id="{BBDD8E20-0C0E-46B7-B107-AB1311E3E11E}"/>
              </a:ext>
            </a:extLst>
          </p:cNvPr>
          <p:cNvSpPr>
            <a:spLocks xmlns:a="http://schemas.openxmlformats.org/drawingml/2006/main" noGrp="1"/>
          </p:cNvSpPr>
          <p:nvPr/>
        </p:nvSpPr>
        <p:spPr>
          <a:xfrm xmlns:a="http://schemas.openxmlformats.org/drawingml/2006/main">
            <a:off x="609600" y="381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3000" b="1">
                <a:solidFill>
                  <a:srgbClr val="231F20"/>
                </a:solidFill>
                <a:latin typeface="Meiryo"/>
                <a:ea typeface="Meiryo"/>
                <a:cs typeface="Meiryo"/>
              </a:defRPr>
            </a:defPPr>
          </a:lstStyle>
          <a:p xmlns:a="http://schemas.openxmlformats.org/drawingml/2006/main">
            <a:pPr algn="l">
              <a:defRPr sz="3000" b="1">
                <a:solidFill>
                  <a:srgbClr val="231F20"/>
                </a:solidFill>
                <a:latin typeface="Meiryo"/>
                <a:ea typeface="Meiryo"/>
                <a:cs typeface="Meiryo"/>
              </a:defRPr>
            </a:pPr>
            <a:r>
              <a:rPr sz="3000" b="1">
                <a:solidFill>
                  <a:srgbClr val="231F20"/>
                </a:solidFill>
                <a:latin typeface="Meiryo"/>
                <a:ea typeface="Meiryo"/>
                <a:cs typeface="Meiryo"/>
              </a:rPr>
              <a:t>FPGAを用いた二次元ゲーム機の設計と実装</a:t>
            </a:r>
          </a:p>
        </p:txBody>
      </p:sp>
      <p:sp>
        <p:nvSpPr>
          <p:cNvPr id="2" name="text-2">
            <a:extLst xmlns:a="http://schemas.openxmlformats.org/drawingml/2006/main">
              <a:ext uri="{FF2B5EF4-FFF2-40B4-BE49-F238E27FC236}">
                <a16:creationId xmlns:a16="http://schemas.microsoft.com/office/drawing/2014/main" id="{E33C9205-1446-4584-862B-C7EE35709D42}"/>
              </a:ext>
            </a:extLst>
          </p:cNvPr>
          <p:cNvSpPr>
            <a:spLocks xmlns:a="http://schemas.openxmlformats.org/drawingml/2006/main" noGrp="1"/>
          </p:cNvSpPr>
          <p:nvPr/>
        </p:nvSpPr>
        <p:spPr>
          <a:xfrm xmlns:a="http://schemas.openxmlformats.org/drawingml/2006/main">
            <a:off x="11353800" y="6362700"/>
            <a:ext cx="266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231F20"/>
                </a:solidFill>
                <a:latin typeface="Meiryo"/>
                <a:ea typeface="Meiryo"/>
                <a:cs typeface="Meiryo"/>
              </a:defRPr>
            </a:defPPr>
          </a:lstStyle>
          <a:p xmlns:a="http://schemas.openxmlformats.org/drawingml/2006/main">
            <a:pPr algn="r">
              <a:defRPr sz="1350" b="0">
                <a:solidFill>
                  <a:srgbClr val="231F20"/>
                </a:solidFill>
                <a:latin typeface="Meiryo"/>
                <a:ea typeface="Meiryo"/>
                <a:cs typeface="Meiryo"/>
              </a:defRPr>
            </a:pPr>
            <a:r>
              <a:rPr sz="1350" b="0">
                <a:solidFill>
                  <a:srgbClr val="231F20"/>
                </a:solidFill>
                <a:latin typeface="Meiryo"/>
                <a:ea typeface="Meiryo"/>
                <a:cs typeface="Meiryo"/>
              </a:rPr>
              <a:t>1</a:t>
            </a:r>
          </a:p>
        </p:txBody>
      </p:sp>
      <p:sp>
        <p:nvSpPr>
          <p:cNvPr id="3" name="text-3">
            <a:extLst xmlns:a="http://schemas.openxmlformats.org/drawingml/2006/main">
              <a:ext uri="{FF2B5EF4-FFF2-40B4-BE49-F238E27FC236}">
                <a16:creationId xmlns:a16="http://schemas.microsoft.com/office/drawing/2014/main" id="{D27714FF-566C-4D8B-93DD-D5C2A5E51E4B}"/>
              </a:ext>
            </a:extLst>
          </p:cNvPr>
          <p:cNvSpPr>
            <a:spLocks xmlns:a="http://schemas.openxmlformats.org/drawingml/2006/main" noGrp="1"/>
          </p:cNvSpPr>
          <p:nvPr/>
        </p:nvSpPr>
        <p:spPr>
          <a:xfrm xmlns:a="http://schemas.openxmlformats.org/drawingml/2006/main">
            <a:off x="819150" y="1952625"/>
            <a:ext cx="100965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3675" b="1">
                <a:solidFill>
                  <a:srgbClr val="231F20"/>
                </a:solidFill>
                <a:latin typeface="Meiryo"/>
                <a:ea typeface="Meiryo"/>
                <a:cs typeface="Meiryo"/>
              </a:defRPr>
            </a:defPPr>
          </a:lstStyle>
          <a:p xmlns:a="http://schemas.openxmlformats.org/drawingml/2006/main">
            <a:pPr algn="l">
              <a:defRPr sz="3675" b="1">
                <a:solidFill>
                  <a:srgbClr val="231F20"/>
                </a:solidFill>
                <a:latin typeface="Meiryo"/>
                <a:ea typeface="Meiryo"/>
                <a:cs typeface="Meiryo"/>
              </a:defRPr>
            </a:pPr>
            <a:r>
              <a:rPr sz="3675" b="1">
                <a:solidFill>
                  <a:srgbClr val="231F20"/>
                </a:solidFill>
                <a:latin typeface="Meiryo"/>
                <a:ea typeface="Meiryo"/>
                <a:cs typeface="Meiryo"/>
              </a:rPr>
              <a:t>公開CPUに描画機能を追加し、</a:t>
            </a:r>
          </a:p>
          <a:p xmlns:a="http://schemas.openxmlformats.org/drawingml/2006/main">
            <a:pPr algn="l">
              <a:defRPr sz="3675" b="1">
                <a:solidFill>
                  <a:srgbClr val="231F20"/>
                </a:solidFill>
                <a:latin typeface="Meiryo"/>
                <a:ea typeface="Meiryo"/>
                <a:cs typeface="Meiryo"/>
              </a:defRPr>
            </a:pPr>
            <a:r>
              <a:rPr sz="3675" b="1">
                <a:solidFill>
                  <a:srgbClr val="231F20"/>
                </a:solidFill>
                <a:latin typeface="Meiryo"/>
                <a:ea typeface="Meiryo"/>
                <a:cs typeface="Meiryo"/>
              </a:rPr>
              <a:t>ブロック崩しを動かす</a:t>
            </a:r>
          </a:p>
        </p:txBody>
      </p:sp>
      <p:sp>
        <p:nvSpPr>
          <p:cNvPr id="4" name="text-4">
            <a:extLst xmlns:a="http://schemas.openxmlformats.org/drawingml/2006/main">
              <a:ext uri="{FF2B5EF4-FFF2-40B4-BE49-F238E27FC236}">
                <a16:creationId xmlns:a16="http://schemas.microsoft.com/office/drawing/2014/main" id="{F9BA049F-D906-4F80-96C9-7D356CC9F2C6}"/>
              </a:ext>
            </a:extLst>
          </p:cNvPr>
          <p:cNvSpPr>
            <a:spLocks xmlns:a="http://schemas.openxmlformats.org/drawingml/2006/main" noGrp="1"/>
          </p:cNvSpPr>
          <p:nvPr/>
        </p:nvSpPr>
        <p:spPr>
          <a:xfrm xmlns:a="http://schemas.openxmlformats.org/drawingml/2006/main">
            <a:off x="819150" y="4210050"/>
            <a:ext cx="1028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325" b="0">
                <a:solidFill>
                  <a:srgbClr val="231F20"/>
                </a:solidFill>
                <a:latin typeface="Meiryo"/>
                <a:ea typeface="Meiryo"/>
                <a:cs typeface="Meiryo"/>
              </a:defRPr>
            </a:defPPr>
          </a:lstStyle>
          <a:p xmlns:a="http://schemas.openxmlformats.org/drawingml/2006/main">
            <a:pPr algn="l">
              <a:defRPr sz="2325" b="0">
                <a:solidFill>
                  <a:srgbClr val="231F20"/>
                </a:solidFill>
                <a:latin typeface="Meiryo"/>
                <a:ea typeface="Meiryo"/>
                <a:cs typeface="Meiryo"/>
              </a:defRPr>
            </a:pPr>
            <a:r>
              <a:rPr sz="2325" b="0">
                <a:solidFill>
                  <a:srgbClr val="231F20"/>
                </a:solidFill>
                <a:latin typeface="Meiryo"/>
                <a:ea typeface="Meiryo"/>
                <a:cs typeface="Meiryo"/>
              </a:rPr>
              <a:t>Wallyの学習者が参照できる接続設計と動作例</a:t>
            </a:r>
          </a:p>
        </p:txBody>
      </p:sp>
      <p:sp>
        <p:nvSpPr>
          <p:cNvPr id="5" name="text-5">
            <a:extLst xmlns:a="http://schemas.openxmlformats.org/drawingml/2006/main">
              <a:ext uri="{FF2B5EF4-FFF2-40B4-BE49-F238E27FC236}">
                <a16:creationId xmlns:a16="http://schemas.microsoft.com/office/drawing/2014/main" id="{015EAC8A-6F00-4DE3-BC90-7A0C602C384D}"/>
              </a:ext>
            </a:extLst>
          </p:cNvPr>
          <p:cNvSpPr>
            <a:spLocks xmlns:a="http://schemas.openxmlformats.org/drawingml/2006/main" noGrp="1"/>
          </p:cNvSpPr>
          <p:nvPr/>
        </p:nvSpPr>
        <p:spPr>
          <a:xfrm xmlns:a="http://schemas.openxmlformats.org/drawingml/2006/main">
            <a:off x="819150" y="558165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75" b="0">
                <a:solidFill>
                  <a:srgbClr val="231F20"/>
                </a:solidFill>
                <a:latin typeface="Meiryo"/>
                <a:ea typeface="Meiryo"/>
                <a:cs typeface="Meiryo"/>
              </a:defRPr>
            </a:defPPr>
          </a:lstStyle>
          <a:p xmlns:a="http://schemas.openxmlformats.org/drawingml/2006/main">
            <a:pPr algn="l">
              <a:defRPr sz="1875" b="0">
                <a:solidFill>
                  <a:srgbClr val="231F20"/>
                </a:solidFill>
                <a:latin typeface="Meiryo"/>
                <a:ea typeface="Meiryo"/>
                <a:cs typeface="Meiryo"/>
              </a:defRPr>
            </a:pPr>
            <a:r>
              <a:rPr sz="1875" b="0">
                <a:solidFill>
                  <a:srgbClr val="231F20"/>
                </a:solidFill>
                <a:latin typeface="Meiryo"/>
                <a:ea typeface="Meiryo"/>
                <a:cs typeface="Meiryo"/>
              </a:rPr>
              <a:t>Wally：CPUの公開設計　　RasterIX：描画回路の公開設計</a:t>
            </a:r>
          </a:p>
        </p:txBody>
      </p:sp>
    </p:spTree>
    <p:extLst>
      <p:ext uri="{BB962C8B-B14F-4D97-AF65-F5344CB8AC3E}">
        <p14:creationId xmlns:p14="http://schemas.microsoft.com/office/powerpoint/2010/main" val="145773908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text-6">
            <a:extLst xmlns:a="http://schemas.openxmlformats.org/drawingml/2006/main">
              <a:ext uri="{FF2B5EF4-FFF2-40B4-BE49-F238E27FC236}">
                <a16:creationId xmlns:a16="http://schemas.microsoft.com/office/drawing/2014/main" id="{6FBA1C34-C8A0-45DD-A465-F1FDB20A8A79}"/>
              </a:ext>
            </a:extLst>
          </p:cNvPr>
          <p:cNvSpPr>
            <a:spLocks xmlns:a="http://schemas.openxmlformats.org/drawingml/2006/main" noGrp="1"/>
          </p:cNvSpPr>
          <p:nvPr/>
        </p:nvSpPr>
        <p:spPr>
          <a:xfrm xmlns:a="http://schemas.openxmlformats.org/drawingml/2006/main">
            <a:off x="609600" y="381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3000" b="1">
                <a:solidFill>
                  <a:srgbClr val="231F20"/>
                </a:solidFill>
                <a:latin typeface="Meiryo"/>
                <a:ea typeface="Meiryo"/>
                <a:cs typeface="Meiryo"/>
              </a:defRPr>
            </a:defPPr>
          </a:lstStyle>
          <a:p xmlns:a="http://schemas.openxmlformats.org/drawingml/2006/main">
            <a:pPr algn="l">
              <a:defRPr sz="3000" b="1">
                <a:solidFill>
                  <a:srgbClr val="231F20"/>
                </a:solidFill>
                <a:latin typeface="Meiryo"/>
                <a:ea typeface="Meiryo"/>
                <a:cs typeface="Meiryo"/>
              </a:defRPr>
            </a:pPr>
            <a:r>
              <a:rPr sz="3000" b="1">
                <a:solidFill>
                  <a:srgbClr val="231F20"/>
                </a:solidFill>
                <a:latin typeface="Meiryo"/>
                <a:ea typeface="Meiryo"/>
                <a:cs typeface="Meiryo"/>
              </a:rPr>
              <a:t>FPGAボードに回路を実装する</a:t>
            </a:r>
          </a:p>
        </p:txBody>
      </p:sp>
      <p:sp>
        <p:nvSpPr>
          <p:cNvPr id="2" name="text-7">
            <a:extLst xmlns:a="http://schemas.openxmlformats.org/drawingml/2006/main">
              <a:ext uri="{FF2B5EF4-FFF2-40B4-BE49-F238E27FC236}">
                <a16:creationId xmlns:a16="http://schemas.microsoft.com/office/drawing/2014/main" id="{0870896A-C2FA-40F1-A44D-9A7E359A1DAF}"/>
              </a:ext>
            </a:extLst>
          </p:cNvPr>
          <p:cNvSpPr>
            <a:spLocks xmlns:a="http://schemas.openxmlformats.org/drawingml/2006/main" noGrp="1"/>
          </p:cNvSpPr>
          <p:nvPr/>
        </p:nvSpPr>
        <p:spPr>
          <a:xfrm xmlns:a="http://schemas.openxmlformats.org/drawingml/2006/main">
            <a:off x="11353800" y="6362700"/>
            <a:ext cx="266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231F20"/>
                </a:solidFill>
                <a:latin typeface="Meiryo"/>
                <a:ea typeface="Meiryo"/>
                <a:cs typeface="Meiryo"/>
              </a:defRPr>
            </a:defPPr>
          </a:lstStyle>
          <a:p xmlns:a="http://schemas.openxmlformats.org/drawingml/2006/main">
            <a:pPr algn="r">
              <a:defRPr sz="1350" b="0">
                <a:solidFill>
                  <a:srgbClr val="231F20"/>
                </a:solidFill>
                <a:latin typeface="Meiryo"/>
                <a:ea typeface="Meiryo"/>
                <a:cs typeface="Meiryo"/>
              </a:defRPr>
            </a:pPr>
            <a:r>
              <a:rPr sz="1350" b="0">
                <a:solidFill>
                  <a:srgbClr val="231F20"/>
                </a:solidFill>
                <a:latin typeface="Meiryo"/>
                <a:ea typeface="Meiryo"/>
                <a:cs typeface="Meiryo"/>
              </a:rPr>
              <a:t>2</a:t>
            </a:r>
          </a:p>
        </p:txBody>
      </p:sp>
      <p:sp>
        <p:nvSpPr>
          <p:cNvPr id="3" name="circuit-8">
            <a:extLst xmlns:a="http://schemas.openxmlformats.org/drawingml/2006/main">
              <a:ext uri="{FF2B5EF4-FFF2-40B4-BE49-F238E27FC236}">
                <a16:creationId xmlns:a16="http://schemas.microsoft.com/office/drawing/2014/main" id="{CED436F3-1DED-4F5E-9B2C-672BA31FC467}"/>
              </a:ext>
            </a:extLst>
          </p:cNvPr>
          <p:cNvSpPr>
            <a:spLocks xmlns:a="http://schemas.openxmlformats.org/drawingml/2006/main" noGrp="1"/>
          </p:cNvSpPr>
          <p:nvPr/>
        </p:nvSpPr>
        <p:spPr>
          <a:xfrm xmlns:a="http://schemas.openxmlformats.org/drawingml/2006/main">
            <a:off x="876300" y="1762125"/>
            <a:ext cx="10439400" cy="390525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4" name="text-9">
            <a:extLst xmlns:a="http://schemas.openxmlformats.org/drawingml/2006/main">
              <a:ext uri="{FF2B5EF4-FFF2-40B4-BE49-F238E27FC236}">
                <a16:creationId xmlns:a16="http://schemas.microsoft.com/office/drawing/2014/main" id="{4C449D34-330E-41A7-AE66-C826FBA4EFFB}"/>
              </a:ext>
            </a:extLst>
          </p:cNvPr>
          <p:cNvSpPr>
            <a:spLocks xmlns:a="http://schemas.openxmlformats.org/drawingml/2006/main" noGrp="1"/>
          </p:cNvSpPr>
          <p:nvPr/>
        </p:nvSpPr>
        <p:spPr>
          <a:xfrm xmlns:a="http://schemas.openxmlformats.org/drawingml/2006/main">
            <a:off x="1066800" y="525780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0">
                <a:solidFill>
                  <a:srgbClr val="231F20"/>
                </a:solidFill>
                <a:latin typeface="Meiryo"/>
                <a:ea typeface="Meiryo"/>
                <a:cs typeface="Meiryo"/>
              </a:defRPr>
            </a:defPPr>
          </a:lstStyle>
          <a:p xmlns:a="http://schemas.openxmlformats.org/drawingml/2006/main">
            <a:pPr algn="l">
              <a:defRPr sz="1800" b="0">
                <a:solidFill>
                  <a:srgbClr val="231F20"/>
                </a:solidFill>
                <a:latin typeface="Meiryo"/>
                <a:ea typeface="Meiryo"/>
                <a:cs typeface="Meiryo"/>
              </a:defRPr>
            </a:pPr>
            <a:r>
              <a:rPr sz="1800" b="0">
                <a:solidFill>
                  <a:srgbClr val="231F20"/>
                </a:solidFill>
                <a:latin typeface="Meiryo"/>
                <a:ea typeface="Meiryo"/>
                <a:cs typeface="Meiryo"/>
              </a:rPr>
              <a:t>Nexys Video ボード</a:t>
            </a:r>
          </a:p>
        </p:txBody>
      </p:sp>
      <p:sp>
        <p:nvSpPr>
          <p:cNvPr id="5" name="circuit-10">
            <a:extLst xmlns:a="http://schemas.openxmlformats.org/drawingml/2006/main">
              <a:ext uri="{FF2B5EF4-FFF2-40B4-BE49-F238E27FC236}">
                <a16:creationId xmlns:a16="http://schemas.microsoft.com/office/drawing/2014/main" id="{5E17A505-D5B7-4A2B-8A0A-CD6FD59E5CF3}"/>
              </a:ext>
            </a:extLst>
          </p:cNvPr>
          <p:cNvSpPr>
            <a:spLocks xmlns:a="http://schemas.openxmlformats.org/drawingml/2006/main" noGrp="1"/>
          </p:cNvSpPr>
          <p:nvPr/>
        </p:nvSpPr>
        <p:spPr>
          <a:xfrm xmlns:a="http://schemas.openxmlformats.org/drawingml/2006/main">
            <a:off x="1314450" y="1962150"/>
            <a:ext cx="2686050" cy="59055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6" name="text-11">
            <a:extLst xmlns:a="http://schemas.openxmlformats.org/drawingml/2006/main">
              <a:ext uri="{FF2B5EF4-FFF2-40B4-BE49-F238E27FC236}">
                <a16:creationId xmlns:a16="http://schemas.microsoft.com/office/drawing/2014/main" id="{756203E2-4893-4B9E-9A22-2F72CFA3D30B}"/>
              </a:ext>
            </a:extLst>
          </p:cNvPr>
          <p:cNvSpPr>
            <a:spLocks xmlns:a="http://schemas.openxmlformats.org/drawingml/2006/main" noGrp="1"/>
          </p:cNvSpPr>
          <p:nvPr/>
        </p:nvSpPr>
        <p:spPr>
          <a:xfrm xmlns:a="http://schemas.openxmlformats.org/drawingml/2006/main">
            <a:off x="1428750" y="2019300"/>
            <a:ext cx="2457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00" b="0">
                <a:solidFill>
                  <a:srgbClr val="231F20"/>
                </a:solidFill>
                <a:latin typeface="Meiryo"/>
                <a:ea typeface="Meiryo"/>
                <a:cs typeface="Meiryo"/>
              </a:defRPr>
            </a:defPPr>
          </a:lstStyle>
          <a:p xmlns:a="http://schemas.openxmlformats.org/drawingml/2006/main">
            <a:pPr algn="ctr">
              <a:defRPr sz="2100" b="0">
                <a:solidFill>
                  <a:srgbClr val="231F20"/>
                </a:solidFill>
                <a:latin typeface="Meiryo"/>
                <a:ea typeface="Meiryo"/>
                <a:cs typeface="Meiryo"/>
              </a:defRPr>
            </a:pPr>
            <a:r>
              <a:rPr sz="2100" b="0">
                <a:solidFill>
                  <a:srgbClr val="231F20"/>
                </a:solidFill>
                <a:latin typeface="Meiryo"/>
                <a:ea typeface="Meiryo"/>
                <a:cs typeface="Meiryo"/>
              </a:rPr>
              <a:t>SDカード</a:t>
            </a:r>
          </a:p>
        </p:txBody>
      </p:sp>
      <p:sp>
        <p:nvSpPr>
          <p:cNvPr id="7" name="wire-12">
            <a:extLst xmlns:a="http://schemas.openxmlformats.org/drawingml/2006/main">
              <a:ext uri="{FF2B5EF4-FFF2-40B4-BE49-F238E27FC236}">
                <a16:creationId xmlns:a16="http://schemas.microsoft.com/office/drawing/2014/main" id="{081C60E1-B51C-45D7-9CC1-942473273061}"/>
              </a:ext>
            </a:extLst>
          </p:cNvPr>
          <p:cNvSpPr>
            <a:spLocks xmlns:a="http://schemas.openxmlformats.org/drawingml/2006/main" noGrp="1"/>
          </p:cNvSpPr>
          <p:nvPr/>
        </p:nvSpPr>
        <p:spPr>
          <a:xfrm xmlns:a="http://schemas.openxmlformats.org/drawingml/2006/main">
            <a:off x="2657475" y="2552700"/>
            <a:ext cx="9525" cy="590550"/>
          </a:xfrm>
          <a:custGeom xmlns:a="http://schemas.openxmlformats.org/drawingml/2006/main">
            <a:pathLst>
              <a:path w="9525" h="590550">
                <a:moveTo>
                  <a:pt x="0" y="0"/>
                </a:moveTo>
                <a:lnTo>
                  <a:pt x="0" y="590550"/>
                </a:lnTo>
              </a:path>
            </a:pathLst>
          </a:custGeom>
          <a:noFill xmlns:a="http://schemas.openxmlformats.org/drawingml/2006/main"/>
          <a:ln xmlns:a="http://schemas.openxmlformats.org/drawingml/2006/main" w="20955">
            <a:solidFill>
              <a:srgbClr val="231F20"/>
            </a:solidFill>
          </a:ln>
        </p:spPr>
      </p:sp>
      <p:sp>
        <p:nvSpPr>
          <p:cNvPr id="8" name="circuit-13">
            <a:extLst xmlns:a="http://schemas.openxmlformats.org/drawingml/2006/main">
              <a:ext uri="{FF2B5EF4-FFF2-40B4-BE49-F238E27FC236}">
                <a16:creationId xmlns:a16="http://schemas.microsoft.com/office/drawing/2014/main" id="{28BAB3DC-AF62-4E51-A1CC-985876E85FCA}"/>
              </a:ext>
            </a:extLst>
          </p:cNvPr>
          <p:cNvSpPr>
            <a:spLocks xmlns:a="http://schemas.openxmlformats.org/drawingml/2006/main" noGrp="1"/>
          </p:cNvSpPr>
          <p:nvPr/>
        </p:nvSpPr>
        <p:spPr>
          <a:xfrm xmlns:a="http://schemas.openxmlformats.org/drawingml/2006/main">
            <a:off x="4733925" y="1962150"/>
            <a:ext cx="2686050" cy="59055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9" name="text-14">
            <a:extLst xmlns:a="http://schemas.openxmlformats.org/drawingml/2006/main">
              <a:ext uri="{FF2B5EF4-FFF2-40B4-BE49-F238E27FC236}">
                <a16:creationId xmlns:a16="http://schemas.microsoft.com/office/drawing/2014/main" id="{1761364E-74EF-48D2-89A4-AE003A5B245D}"/>
              </a:ext>
            </a:extLst>
          </p:cNvPr>
          <p:cNvSpPr>
            <a:spLocks xmlns:a="http://schemas.openxmlformats.org/drawingml/2006/main" noGrp="1"/>
          </p:cNvSpPr>
          <p:nvPr/>
        </p:nvSpPr>
        <p:spPr>
          <a:xfrm xmlns:a="http://schemas.openxmlformats.org/drawingml/2006/main">
            <a:off x="4848225" y="2019300"/>
            <a:ext cx="2457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00" b="0">
                <a:solidFill>
                  <a:srgbClr val="231F20"/>
                </a:solidFill>
                <a:latin typeface="Meiryo"/>
                <a:ea typeface="Meiryo"/>
                <a:cs typeface="Meiryo"/>
              </a:defRPr>
            </a:defPPr>
          </a:lstStyle>
          <a:p xmlns:a="http://schemas.openxmlformats.org/drawingml/2006/main">
            <a:pPr algn="ctr">
              <a:defRPr sz="2100" b="0">
                <a:solidFill>
                  <a:srgbClr val="231F20"/>
                </a:solidFill>
                <a:latin typeface="Meiryo"/>
                <a:ea typeface="Meiryo"/>
                <a:cs typeface="Meiryo"/>
              </a:defRPr>
            </a:pPr>
            <a:r>
              <a:rPr sz="2100" b="0">
                <a:solidFill>
                  <a:srgbClr val="231F20"/>
                </a:solidFill>
                <a:latin typeface="Meiryo"/>
                <a:ea typeface="Meiryo"/>
                <a:cs typeface="Meiryo"/>
              </a:rPr>
              <a:t>DDR3メモリ</a:t>
            </a:r>
          </a:p>
        </p:txBody>
      </p:sp>
      <p:sp>
        <p:nvSpPr>
          <p:cNvPr id="10" name="wire-15">
            <a:extLst xmlns:a="http://schemas.openxmlformats.org/drawingml/2006/main">
              <a:ext uri="{FF2B5EF4-FFF2-40B4-BE49-F238E27FC236}">
                <a16:creationId xmlns:a16="http://schemas.microsoft.com/office/drawing/2014/main" id="{E1B0448A-3A94-4D2A-BAFB-CC4AA102BF2E}"/>
              </a:ext>
            </a:extLst>
          </p:cNvPr>
          <p:cNvSpPr>
            <a:spLocks xmlns:a="http://schemas.openxmlformats.org/drawingml/2006/main" noGrp="1"/>
          </p:cNvSpPr>
          <p:nvPr/>
        </p:nvSpPr>
        <p:spPr>
          <a:xfrm xmlns:a="http://schemas.openxmlformats.org/drawingml/2006/main">
            <a:off x="6076950" y="2552700"/>
            <a:ext cx="9525" cy="590550"/>
          </a:xfrm>
          <a:custGeom xmlns:a="http://schemas.openxmlformats.org/drawingml/2006/main">
            <a:pathLst>
              <a:path w="9525" h="590550">
                <a:moveTo>
                  <a:pt x="0" y="0"/>
                </a:moveTo>
                <a:lnTo>
                  <a:pt x="0" y="590550"/>
                </a:lnTo>
              </a:path>
            </a:pathLst>
          </a:custGeom>
          <a:noFill xmlns:a="http://schemas.openxmlformats.org/drawingml/2006/main"/>
          <a:ln xmlns:a="http://schemas.openxmlformats.org/drawingml/2006/main" w="20955">
            <a:solidFill>
              <a:srgbClr val="231F20"/>
            </a:solidFill>
          </a:ln>
        </p:spPr>
      </p:sp>
      <p:sp>
        <p:nvSpPr>
          <p:cNvPr id="11" name="circuit-16">
            <a:extLst xmlns:a="http://schemas.openxmlformats.org/drawingml/2006/main">
              <a:ext uri="{FF2B5EF4-FFF2-40B4-BE49-F238E27FC236}">
                <a16:creationId xmlns:a16="http://schemas.microsoft.com/office/drawing/2014/main" id="{C30D773B-01EA-45C2-9C95-8E0C0F9B611D}"/>
              </a:ext>
            </a:extLst>
          </p:cNvPr>
          <p:cNvSpPr>
            <a:spLocks xmlns:a="http://schemas.openxmlformats.org/drawingml/2006/main" noGrp="1"/>
          </p:cNvSpPr>
          <p:nvPr/>
        </p:nvSpPr>
        <p:spPr>
          <a:xfrm xmlns:a="http://schemas.openxmlformats.org/drawingml/2006/main">
            <a:off x="8153400" y="1962150"/>
            <a:ext cx="2686050" cy="59055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12" name="text-17">
            <a:extLst xmlns:a="http://schemas.openxmlformats.org/drawingml/2006/main">
              <a:ext uri="{FF2B5EF4-FFF2-40B4-BE49-F238E27FC236}">
                <a16:creationId xmlns:a16="http://schemas.microsoft.com/office/drawing/2014/main" id="{B41F6F4B-5305-4EA2-98E5-347520B22A84}"/>
              </a:ext>
            </a:extLst>
          </p:cNvPr>
          <p:cNvSpPr>
            <a:spLocks xmlns:a="http://schemas.openxmlformats.org/drawingml/2006/main" noGrp="1"/>
          </p:cNvSpPr>
          <p:nvPr/>
        </p:nvSpPr>
        <p:spPr>
          <a:xfrm xmlns:a="http://schemas.openxmlformats.org/drawingml/2006/main">
            <a:off x="8267700" y="2019300"/>
            <a:ext cx="2457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00" b="0">
                <a:solidFill>
                  <a:srgbClr val="231F20"/>
                </a:solidFill>
                <a:latin typeface="Meiryo"/>
                <a:ea typeface="Meiryo"/>
                <a:cs typeface="Meiryo"/>
              </a:defRPr>
            </a:defPPr>
          </a:lstStyle>
          <a:p xmlns:a="http://schemas.openxmlformats.org/drawingml/2006/main">
            <a:pPr algn="ctr">
              <a:defRPr sz="2100" b="0">
                <a:solidFill>
                  <a:srgbClr val="231F20"/>
                </a:solidFill>
                <a:latin typeface="Meiryo"/>
                <a:ea typeface="Meiryo"/>
                <a:cs typeface="Meiryo"/>
              </a:defRPr>
            </a:pPr>
            <a:r>
              <a:rPr sz="2100" b="0">
                <a:solidFill>
                  <a:srgbClr val="231F20"/>
                </a:solidFill>
                <a:latin typeface="Meiryo"/>
                <a:ea typeface="Meiryo"/>
                <a:cs typeface="Meiryo"/>
              </a:rPr>
              <a:t>HDMI端子</a:t>
            </a:r>
          </a:p>
        </p:txBody>
      </p:sp>
      <p:sp>
        <p:nvSpPr>
          <p:cNvPr id="13" name="wire-18">
            <a:extLst xmlns:a="http://schemas.openxmlformats.org/drawingml/2006/main">
              <a:ext uri="{FF2B5EF4-FFF2-40B4-BE49-F238E27FC236}">
                <a16:creationId xmlns:a16="http://schemas.microsoft.com/office/drawing/2014/main" id="{42139D83-C327-42EC-8817-85FDB33C0346}"/>
              </a:ext>
            </a:extLst>
          </p:cNvPr>
          <p:cNvSpPr>
            <a:spLocks xmlns:a="http://schemas.openxmlformats.org/drawingml/2006/main" noGrp="1"/>
          </p:cNvSpPr>
          <p:nvPr/>
        </p:nvSpPr>
        <p:spPr>
          <a:xfrm xmlns:a="http://schemas.openxmlformats.org/drawingml/2006/main">
            <a:off x="9496425" y="2552700"/>
            <a:ext cx="9525" cy="590550"/>
          </a:xfrm>
          <a:custGeom xmlns:a="http://schemas.openxmlformats.org/drawingml/2006/main">
            <a:pathLst>
              <a:path w="9525" h="590550">
                <a:moveTo>
                  <a:pt x="0" y="0"/>
                </a:moveTo>
                <a:lnTo>
                  <a:pt x="0" y="590550"/>
                </a:lnTo>
              </a:path>
            </a:pathLst>
          </a:custGeom>
          <a:noFill xmlns:a="http://schemas.openxmlformats.org/drawingml/2006/main"/>
          <a:ln xmlns:a="http://schemas.openxmlformats.org/drawingml/2006/main" w="20955">
            <a:solidFill>
              <a:srgbClr val="231F20"/>
            </a:solidFill>
          </a:ln>
        </p:spPr>
      </p:sp>
      <p:sp>
        <p:nvSpPr>
          <p:cNvPr id="14" name="circuit-19">
            <a:extLst xmlns:a="http://schemas.openxmlformats.org/drawingml/2006/main">
              <a:ext uri="{FF2B5EF4-FFF2-40B4-BE49-F238E27FC236}">
                <a16:creationId xmlns:a16="http://schemas.microsoft.com/office/drawing/2014/main" id="{10C61005-4B6C-41EA-8934-4FB34A3DFA0D}"/>
              </a:ext>
            </a:extLst>
          </p:cNvPr>
          <p:cNvSpPr>
            <a:spLocks xmlns:a="http://schemas.openxmlformats.org/drawingml/2006/main" noGrp="1"/>
          </p:cNvSpPr>
          <p:nvPr/>
        </p:nvSpPr>
        <p:spPr>
          <a:xfrm xmlns:a="http://schemas.openxmlformats.org/drawingml/2006/main">
            <a:off x="1733550" y="3143250"/>
            <a:ext cx="8724900" cy="1905000"/>
          </a:xfrm>
          <a:prstGeom xmlns:a="http://schemas.openxmlformats.org/drawingml/2006/main" prst="rect">
            <a:avLst/>
          </a:prstGeom>
          <a:solidFill xmlns:a="http://schemas.openxmlformats.org/drawingml/2006/main">
            <a:srgbClr val="E5EBF8"/>
          </a:solidFill>
          <a:ln xmlns:a="http://schemas.openxmlformats.org/drawingml/2006/main" w="19050">
            <a:solidFill>
              <a:srgbClr val="231F20"/>
            </a:solidFill>
          </a:ln>
        </p:spPr>
      </p:sp>
      <p:sp>
        <p:nvSpPr>
          <p:cNvPr id="15" name="text-20">
            <a:extLst xmlns:a="http://schemas.openxmlformats.org/drawingml/2006/main">
              <a:ext uri="{FF2B5EF4-FFF2-40B4-BE49-F238E27FC236}">
                <a16:creationId xmlns:a16="http://schemas.microsoft.com/office/drawing/2014/main" id="{A7573F92-2DF0-4552-8276-2083825B07D9}"/>
              </a:ext>
            </a:extLst>
          </p:cNvPr>
          <p:cNvSpPr>
            <a:spLocks xmlns:a="http://schemas.openxmlformats.org/drawingml/2006/main" noGrp="1"/>
          </p:cNvSpPr>
          <p:nvPr/>
        </p:nvSpPr>
        <p:spPr>
          <a:xfrm xmlns:a="http://schemas.openxmlformats.org/drawingml/2006/main">
            <a:off x="2000250" y="3333750"/>
            <a:ext cx="247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231F20"/>
                </a:solidFill>
                <a:latin typeface="Meiryo"/>
                <a:ea typeface="Meiryo"/>
                <a:cs typeface="Meiryo"/>
              </a:defRPr>
            </a:defPPr>
          </a:lstStyle>
          <a:p xmlns:a="http://schemas.openxmlformats.org/drawingml/2006/main">
            <a:pPr algn="l">
              <a:defRPr sz="2100" b="1">
                <a:solidFill>
                  <a:srgbClr val="231F20"/>
                </a:solidFill>
                <a:latin typeface="Meiryo"/>
                <a:ea typeface="Meiryo"/>
                <a:cs typeface="Meiryo"/>
              </a:defRPr>
            </a:pPr>
            <a:r>
              <a:rPr sz="2100" b="1">
                <a:solidFill>
                  <a:srgbClr val="231F20"/>
                </a:solidFill>
                <a:latin typeface="Meiryo"/>
                <a:ea typeface="Meiryo"/>
                <a:cs typeface="Meiryo"/>
              </a:rPr>
              <a:t>FPGAチップ</a:t>
            </a:r>
          </a:p>
        </p:txBody>
      </p:sp>
      <p:sp>
        <p:nvSpPr>
          <p:cNvPr id="16" name="and-gate-21">
            <a:extLst xmlns:a="http://schemas.openxmlformats.org/drawingml/2006/main">
              <a:ext uri="{FF2B5EF4-FFF2-40B4-BE49-F238E27FC236}">
                <a16:creationId xmlns:a16="http://schemas.microsoft.com/office/drawing/2014/main" id="{31C29F03-F791-4B48-AFE3-B84B3E8148F6}"/>
              </a:ext>
            </a:extLst>
          </p:cNvPr>
          <p:cNvSpPr>
            <a:spLocks xmlns:a="http://schemas.openxmlformats.org/drawingml/2006/main" noGrp="1"/>
          </p:cNvSpPr>
          <p:nvPr/>
        </p:nvSpPr>
        <p:spPr>
          <a:xfrm xmlns:a="http://schemas.openxmlformats.org/drawingml/2006/main">
            <a:off x="3333750" y="4019550"/>
            <a:ext cx="628650" cy="609600"/>
          </a:xfrm>
          <a:custGeom xmlns:a="http://schemas.openxmlformats.org/drawingml/2006/main">
            <a:pathLst>
              <a:path w="628650" h="609600">
                <a:moveTo>
                  <a:pt x="0" y="0"/>
                </a:moveTo>
                <a:lnTo>
                  <a:pt x="304800" y="0"/>
                </a:lnTo>
                <a:cubicBezTo>
                  <a:pt x="723900" y="0"/>
                  <a:pt x="723900" y="609600"/>
                  <a:pt x="304800" y="609600"/>
                </a:cubicBezTo>
                <a:lnTo>
                  <a:pt x="0" y="609600"/>
                </a:lnTo>
                <a:close/>
              </a:path>
            </a:pathLst>
          </a:custGeom>
          <a:solidFill xmlns:a="http://schemas.openxmlformats.org/drawingml/2006/main">
            <a:srgbClr val="FFFFFF"/>
          </a:solidFill>
          <a:ln xmlns:a="http://schemas.openxmlformats.org/drawingml/2006/main" w="19050">
            <a:solidFill>
              <a:srgbClr val="231F20"/>
            </a:solidFill>
          </a:ln>
        </p:spPr>
      </p:sp>
      <p:sp>
        <p:nvSpPr>
          <p:cNvPr id="17" name="wire-22">
            <a:extLst xmlns:a="http://schemas.openxmlformats.org/drawingml/2006/main">
              <a:ext uri="{FF2B5EF4-FFF2-40B4-BE49-F238E27FC236}">
                <a16:creationId xmlns:a16="http://schemas.microsoft.com/office/drawing/2014/main" id="{E6871896-403C-4A7D-9665-36B4DC68CA8E}"/>
              </a:ext>
            </a:extLst>
          </p:cNvPr>
          <p:cNvSpPr>
            <a:spLocks xmlns:a="http://schemas.openxmlformats.org/drawingml/2006/main" noGrp="1"/>
          </p:cNvSpPr>
          <p:nvPr/>
        </p:nvSpPr>
        <p:spPr>
          <a:xfrm xmlns:a="http://schemas.openxmlformats.org/drawingml/2006/main">
            <a:off x="3048000" y="4162425"/>
            <a:ext cx="285750" cy="9525"/>
          </a:xfrm>
          <a:custGeom xmlns:a="http://schemas.openxmlformats.org/drawingml/2006/main">
            <a:pathLst>
              <a:path w="285750" h="9525">
                <a:moveTo>
                  <a:pt x="0" y="0"/>
                </a:moveTo>
                <a:lnTo>
                  <a:pt x="285750" y="0"/>
                </a:lnTo>
              </a:path>
            </a:pathLst>
          </a:custGeom>
          <a:noFill xmlns:a="http://schemas.openxmlformats.org/drawingml/2006/main"/>
          <a:ln xmlns:a="http://schemas.openxmlformats.org/drawingml/2006/main" w="20955">
            <a:solidFill>
              <a:srgbClr val="231F20"/>
            </a:solidFill>
          </a:ln>
        </p:spPr>
      </p:sp>
      <p:sp>
        <p:nvSpPr>
          <p:cNvPr id="18" name="wire-23">
            <a:extLst xmlns:a="http://schemas.openxmlformats.org/drawingml/2006/main">
              <a:ext uri="{FF2B5EF4-FFF2-40B4-BE49-F238E27FC236}">
                <a16:creationId xmlns:a16="http://schemas.microsoft.com/office/drawing/2014/main" id="{4A797759-8845-49A6-9235-4C14286946F8}"/>
              </a:ext>
            </a:extLst>
          </p:cNvPr>
          <p:cNvSpPr>
            <a:spLocks xmlns:a="http://schemas.openxmlformats.org/drawingml/2006/main" noGrp="1"/>
          </p:cNvSpPr>
          <p:nvPr/>
        </p:nvSpPr>
        <p:spPr>
          <a:xfrm xmlns:a="http://schemas.openxmlformats.org/drawingml/2006/main">
            <a:off x="3048000" y="4486275"/>
            <a:ext cx="285750" cy="9525"/>
          </a:xfrm>
          <a:custGeom xmlns:a="http://schemas.openxmlformats.org/drawingml/2006/main">
            <a:pathLst>
              <a:path w="285750" h="9525">
                <a:moveTo>
                  <a:pt x="0" y="0"/>
                </a:moveTo>
                <a:lnTo>
                  <a:pt x="285750" y="0"/>
                </a:lnTo>
              </a:path>
            </a:pathLst>
          </a:custGeom>
          <a:noFill xmlns:a="http://schemas.openxmlformats.org/drawingml/2006/main"/>
          <a:ln xmlns:a="http://schemas.openxmlformats.org/drawingml/2006/main" w="20955">
            <a:solidFill>
              <a:srgbClr val="231F20"/>
            </a:solidFill>
          </a:ln>
        </p:spPr>
      </p:sp>
      <p:sp>
        <p:nvSpPr>
          <p:cNvPr id="19" name="wire-24">
            <a:extLst xmlns:a="http://schemas.openxmlformats.org/drawingml/2006/main">
              <a:ext uri="{FF2B5EF4-FFF2-40B4-BE49-F238E27FC236}">
                <a16:creationId xmlns:a16="http://schemas.microsoft.com/office/drawing/2014/main" id="{772585BE-216B-431D-8AD2-0AC0190E454F}"/>
              </a:ext>
            </a:extLst>
          </p:cNvPr>
          <p:cNvSpPr>
            <a:spLocks xmlns:a="http://schemas.openxmlformats.org/drawingml/2006/main" noGrp="1"/>
          </p:cNvSpPr>
          <p:nvPr/>
        </p:nvSpPr>
        <p:spPr>
          <a:xfrm xmlns:a="http://schemas.openxmlformats.org/drawingml/2006/main">
            <a:off x="3962400" y="4324350"/>
            <a:ext cx="323850" cy="9525"/>
          </a:xfrm>
          <a:custGeom xmlns:a="http://schemas.openxmlformats.org/drawingml/2006/main">
            <a:pathLst>
              <a:path w="323850" h="9525">
                <a:moveTo>
                  <a:pt x="0" y="0"/>
                </a:moveTo>
                <a:lnTo>
                  <a:pt x="323850" y="0"/>
                </a:lnTo>
              </a:path>
            </a:pathLst>
          </a:custGeom>
          <a:noFill xmlns:a="http://schemas.openxmlformats.org/drawingml/2006/main"/>
          <a:ln xmlns:a="http://schemas.openxmlformats.org/drawingml/2006/main" w="20955">
            <a:solidFill>
              <a:srgbClr val="231F20"/>
            </a:solidFill>
          </a:ln>
        </p:spPr>
      </p:sp>
      <p:sp>
        <p:nvSpPr>
          <p:cNvPr id="20" name="and-gate-25">
            <a:extLst xmlns:a="http://schemas.openxmlformats.org/drawingml/2006/main">
              <a:ext uri="{FF2B5EF4-FFF2-40B4-BE49-F238E27FC236}">
                <a16:creationId xmlns:a16="http://schemas.microsoft.com/office/drawing/2014/main" id="{A16C93C5-4E7D-44FE-AE37-3E5AC1CCFF29}"/>
              </a:ext>
            </a:extLst>
          </p:cNvPr>
          <p:cNvSpPr>
            <a:spLocks xmlns:a="http://schemas.openxmlformats.org/drawingml/2006/main" noGrp="1"/>
          </p:cNvSpPr>
          <p:nvPr/>
        </p:nvSpPr>
        <p:spPr>
          <a:xfrm xmlns:a="http://schemas.openxmlformats.org/drawingml/2006/main">
            <a:off x="4953000" y="4019550"/>
            <a:ext cx="628650" cy="609600"/>
          </a:xfrm>
          <a:custGeom xmlns:a="http://schemas.openxmlformats.org/drawingml/2006/main">
            <a:pathLst>
              <a:path w="628650" h="609600">
                <a:moveTo>
                  <a:pt x="0" y="0"/>
                </a:moveTo>
                <a:lnTo>
                  <a:pt x="304800" y="0"/>
                </a:lnTo>
                <a:cubicBezTo>
                  <a:pt x="723900" y="0"/>
                  <a:pt x="723900" y="609600"/>
                  <a:pt x="304800" y="609600"/>
                </a:cubicBezTo>
                <a:lnTo>
                  <a:pt x="0" y="609600"/>
                </a:lnTo>
                <a:close/>
              </a:path>
            </a:pathLst>
          </a:custGeom>
          <a:solidFill xmlns:a="http://schemas.openxmlformats.org/drawingml/2006/main">
            <a:srgbClr val="FFFFFF"/>
          </a:solidFill>
          <a:ln xmlns:a="http://schemas.openxmlformats.org/drawingml/2006/main" w="19050">
            <a:solidFill>
              <a:srgbClr val="231F20"/>
            </a:solidFill>
          </a:ln>
        </p:spPr>
      </p:sp>
      <p:sp>
        <p:nvSpPr>
          <p:cNvPr id="21" name="wire-26">
            <a:extLst xmlns:a="http://schemas.openxmlformats.org/drawingml/2006/main">
              <a:ext uri="{FF2B5EF4-FFF2-40B4-BE49-F238E27FC236}">
                <a16:creationId xmlns:a16="http://schemas.microsoft.com/office/drawing/2014/main" id="{937A4BFC-893C-49CD-A1E7-9DA997CF7D8B}"/>
              </a:ext>
            </a:extLst>
          </p:cNvPr>
          <p:cNvSpPr>
            <a:spLocks xmlns:a="http://schemas.openxmlformats.org/drawingml/2006/main" noGrp="1"/>
          </p:cNvSpPr>
          <p:nvPr/>
        </p:nvSpPr>
        <p:spPr>
          <a:xfrm xmlns:a="http://schemas.openxmlformats.org/drawingml/2006/main">
            <a:off x="4667250" y="4162425"/>
            <a:ext cx="285750" cy="9525"/>
          </a:xfrm>
          <a:custGeom xmlns:a="http://schemas.openxmlformats.org/drawingml/2006/main">
            <a:pathLst>
              <a:path w="285750" h="9525">
                <a:moveTo>
                  <a:pt x="0" y="0"/>
                </a:moveTo>
                <a:lnTo>
                  <a:pt x="285750" y="0"/>
                </a:lnTo>
              </a:path>
            </a:pathLst>
          </a:custGeom>
          <a:noFill xmlns:a="http://schemas.openxmlformats.org/drawingml/2006/main"/>
          <a:ln xmlns:a="http://schemas.openxmlformats.org/drawingml/2006/main" w="20955">
            <a:solidFill>
              <a:srgbClr val="231F20"/>
            </a:solidFill>
          </a:ln>
        </p:spPr>
      </p:sp>
      <p:sp>
        <p:nvSpPr>
          <p:cNvPr id="22" name="wire-27">
            <a:extLst xmlns:a="http://schemas.openxmlformats.org/drawingml/2006/main">
              <a:ext uri="{FF2B5EF4-FFF2-40B4-BE49-F238E27FC236}">
                <a16:creationId xmlns:a16="http://schemas.microsoft.com/office/drawing/2014/main" id="{BD7352A6-3F8E-4B0E-AA68-67DE612C23C2}"/>
              </a:ext>
            </a:extLst>
          </p:cNvPr>
          <p:cNvSpPr>
            <a:spLocks xmlns:a="http://schemas.openxmlformats.org/drawingml/2006/main" noGrp="1"/>
          </p:cNvSpPr>
          <p:nvPr/>
        </p:nvSpPr>
        <p:spPr>
          <a:xfrm xmlns:a="http://schemas.openxmlformats.org/drawingml/2006/main">
            <a:off x="4667250" y="4486275"/>
            <a:ext cx="285750" cy="9525"/>
          </a:xfrm>
          <a:custGeom xmlns:a="http://schemas.openxmlformats.org/drawingml/2006/main">
            <a:pathLst>
              <a:path w="285750" h="9525">
                <a:moveTo>
                  <a:pt x="0" y="0"/>
                </a:moveTo>
                <a:lnTo>
                  <a:pt x="285750" y="0"/>
                </a:lnTo>
              </a:path>
            </a:pathLst>
          </a:custGeom>
          <a:noFill xmlns:a="http://schemas.openxmlformats.org/drawingml/2006/main"/>
          <a:ln xmlns:a="http://schemas.openxmlformats.org/drawingml/2006/main" w="20955">
            <a:solidFill>
              <a:srgbClr val="231F20"/>
            </a:solidFill>
          </a:ln>
        </p:spPr>
      </p:sp>
      <p:sp>
        <p:nvSpPr>
          <p:cNvPr id="23" name="wire-28">
            <a:extLst xmlns:a="http://schemas.openxmlformats.org/drawingml/2006/main">
              <a:ext uri="{FF2B5EF4-FFF2-40B4-BE49-F238E27FC236}">
                <a16:creationId xmlns:a16="http://schemas.microsoft.com/office/drawing/2014/main" id="{0CF66122-B6DE-40E1-8558-E2C2810F54EE}"/>
              </a:ext>
            </a:extLst>
          </p:cNvPr>
          <p:cNvSpPr>
            <a:spLocks xmlns:a="http://schemas.openxmlformats.org/drawingml/2006/main" noGrp="1"/>
          </p:cNvSpPr>
          <p:nvPr/>
        </p:nvSpPr>
        <p:spPr>
          <a:xfrm xmlns:a="http://schemas.openxmlformats.org/drawingml/2006/main">
            <a:off x="5581650" y="4324350"/>
            <a:ext cx="323850" cy="9525"/>
          </a:xfrm>
          <a:custGeom xmlns:a="http://schemas.openxmlformats.org/drawingml/2006/main">
            <a:pathLst>
              <a:path w="323850" h="9525">
                <a:moveTo>
                  <a:pt x="0" y="0"/>
                </a:moveTo>
                <a:lnTo>
                  <a:pt x="323850" y="0"/>
                </a:lnTo>
              </a:path>
            </a:pathLst>
          </a:custGeom>
          <a:noFill xmlns:a="http://schemas.openxmlformats.org/drawingml/2006/main"/>
          <a:ln xmlns:a="http://schemas.openxmlformats.org/drawingml/2006/main" w="20955">
            <a:solidFill>
              <a:srgbClr val="231F20"/>
            </a:solidFill>
          </a:ln>
        </p:spPr>
      </p:sp>
      <p:sp>
        <p:nvSpPr>
          <p:cNvPr id="24" name="logic-29">
            <a:extLst xmlns:a="http://schemas.openxmlformats.org/drawingml/2006/main">
              <a:ext uri="{FF2B5EF4-FFF2-40B4-BE49-F238E27FC236}">
                <a16:creationId xmlns:a16="http://schemas.microsoft.com/office/drawing/2014/main" id="{8CAC69DF-635D-4B68-9FE7-220A2A7EC5B4}"/>
              </a:ext>
            </a:extLst>
          </p:cNvPr>
          <p:cNvSpPr>
            <a:spLocks xmlns:a="http://schemas.openxmlformats.org/drawingml/2006/main" noGrp="1"/>
          </p:cNvSpPr>
          <p:nvPr/>
        </p:nvSpPr>
        <p:spPr>
          <a:xfrm xmlns:a="http://schemas.openxmlformats.org/drawingml/2006/main">
            <a:off x="7162800" y="4019550"/>
            <a:ext cx="552450" cy="609600"/>
          </a:xfrm>
          <a:custGeom xmlns:a="http://schemas.openxmlformats.org/drawingml/2006/main">
            <a:pathLst>
              <a:path w="552450" h="609600">
                <a:moveTo>
                  <a:pt x="0" y="0"/>
                </a:moveTo>
                <a:lnTo>
                  <a:pt x="0" y="609600"/>
                </a:lnTo>
                <a:lnTo>
                  <a:pt x="552450" y="304800"/>
                </a:lnTo>
                <a:close/>
              </a:path>
            </a:pathLst>
          </a:custGeom>
          <a:solidFill xmlns:a="http://schemas.openxmlformats.org/drawingml/2006/main">
            <a:srgbClr val="FFFFFF"/>
          </a:solidFill>
          <a:ln xmlns:a="http://schemas.openxmlformats.org/drawingml/2006/main" w="19050">
            <a:solidFill>
              <a:srgbClr val="231F20"/>
            </a:solidFill>
          </a:ln>
        </p:spPr>
      </p:sp>
      <p:sp>
        <p:nvSpPr>
          <p:cNvPr id="25" name="wire-30">
            <a:extLst xmlns:a="http://schemas.openxmlformats.org/drawingml/2006/main">
              <a:ext uri="{FF2B5EF4-FFF2-40B4-BE49-F238E27FC236}">
                <a16:creationId xmlns:a16="http://schemas.microsoft.com/office/drawing/2014/main" id="{E0E5E8C5-80A1-4DF5-A13F-B927324B7827}"/>
              </a:ext>
            </a:extLst>
          </p:cNvPr>
          <p:cNvSpPr>
            <a:spLocks xmlns:a="http://schemas.openxmlformats.org/drawingml/2006/main" noGrp="1"/>
          </p:cNvSpPr>
          <p:nvPr/>
        </p:nvSpPr>
        <p:spPr>
          <a:xfrm xmlns:a="http://schemas.openxmlformats.org/drawingml/2006/main">
            <a:off x="5905500" y="4324350"/>
            <a:ext cx="1257300" cy="9525"/>
          </a:xfrm>
          <a:custGeom xmlns:a="http://schemas.openxmlformats.org/drawingml/2006/main">
            <a:pathLst>
              <a:path w="1257300" h="9525">
                <a:moveTo>
                  <a:pt x="0" y="0"/>
                </a:moveTo>
                <a:lnTo>
                  <a:pt x="1257300" y="0"/>
                </a:lnTo>
              </a:path>
            </a:pathLst>
          </a:custGeom>
          <a:noFill xmlns:a="http://schemas.openxmlformats.org/drawingml/2006/main"/>
          <a:ln xmlns:a="http://schemas.openxmlformats.org/drawingml/2006/main" w="20955">
            <a:solidFill>
              <a:srgbClr val="231F20"/>
            </a:solidFill>
          </a:ln>
        </p:spPr>
      </p:sp>
      <p:sp>
        <p:nvSpPr>
          <p:cNvPr id="26" name="wire-31">
            <a:extLst xmlns:a="http://schemas.openxmlformats.org/drawingml/2006/main">
              <a:ext uri="{FF2B5EF4-FFF2-40B4-BE49-F238E27FC236}">
                <a16:creationId xmlns:a16="http://schemas.microsoft.com/office/drawing/2014/main" id="{E8AE1C7C-6929-4DAA-AC27-AF5BF07B3C21}"/>
              </a:ext>
            </a:extLst>
          </p:cNvPr>
          <p:cNvSpPr>
            <a:spLocks xmlns:a="http://schemas.openxmlformats.org/drawingml/2006/main" noGrp="1"/>
          </p:cNvSpPr>
          <p:nvPr/>
        </p:nvSpPr>
        <p:spPr>
          <a:xfrm xmlns:a="http://schemas.openxmlformats.org/drawingml/2006/main">
            <a:off x="7715250" y="4324350"/>
            <a:ext cx="990600" cy="9525"/>
          </a:xfrm>
          <a:custGeom xmlns:a="http://schemas.openxmlformats.org/drawingml/2006/main">
            <a:pathLst>
              <a:path w="990600" h="9525">
                <a:moveTo>
                  <a:pt x="0" y="0"/>
                </a:moveTo>
                <a:lnTo>
                  <a:pt x="990600" y="0"/>
                </a:lnTo>
              </a:path>
            </a:pathLst>
          </a:custGeom>
          <a:noFill xmlns:a="http://schemas.openxmlformats.org/drawingml/2006/main"/>
          <a:ln xmlns:a="http://schemas.openxmlformats.org/drawingml/2006/main" w="20955">
            <a:solidFill>
              <a:srgbClr val="231F20"/>
            </a:solidFill>
          </a:ln>
        </p:spPr>
      </p:sp>
      <p:sp>
        <p:nvSpPr>
          <p:cNvPr id="27" name="text-32">
            <a:extLst xmlns:a="http://schemas.openxmlformats.org/drawingml/2006/main">
              <a:ext uri="{FF2B5EF4-FFF2-40B4-BE49-F238E27FC236}">
                <a16:creationId xmlns:a16="http://schemas.microsoft.com/office/drawing/2014/main" id="{82081E19-3232-4962-95FA-FE4055D8ABC0}"/>
              </a:ext>
            </a:extLst>
          </p:cNvPr>
          <p:cNvSpPr>
            <a:spLocks xmlns:a="http://schemas.openxmlformats.org/drawingml/2006/main" noGrp="1"/>
          </p:cNvSpPr>
          <p:nvPr/>
        </p:nvSpPr>
        <p:spPr>
          <a:xfrm xmlns:a="http://schemas.openxmlformats.org/drawingml/2006/main">
            <a:off x="3095625" y="5772150"/>
            <a:ext cx="685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75" b="0">
                <a:solidFill>
                  <a:srgbClr val="231F20"/>
                </a:solidFill>
                <a:latin typeface="Meiryo"/>
                <a:ea typeface="Meiryo"/>
                <a:cs typeface="Meiryo"/>
              </a:defRPr>
            </a:defPPr>
          </a:lstStyle>
          <a:p xmlns:a="http://schemas.openxmlformats.org/drawingml/2006/main">
            <a:pPr algn="ctr">
              <a:defRPr sz="2175" b="0">
                <a:solidFill>
                  <a:srgbClr val="231F20"/>
                </a:solidFill>
                <a:latin typeface="Meiryo"/>
                <a:ea typeface="Meiryo"/>
                <a:cs typeface="Meiryo"/>
              </a:defRPr>
            </a:pPr>
            <a:r>
              <a:rPr sz="2175" b="0">
                <a:solidFill>
                  <a:srgbClr val="231F20"/>
                </a:solidFill>
                <a:latin typeface="Meiryo"/>
                <a:ea typeface="Meiryo"/>
                <a:cs typeface="Meiryo"/>
              </a:rPr>
              <a:t>設定に応じて論理ゲートなどを接続</a:t>
            </a:r>
          </a:p>
        </p:txBody>
      </p:sp>
    </p:spTree>
    <p:extLst>
      <p:ext uri="{BB962C8B-B14F-4D97-AF65-F5344CB8AC3E}">
        <p14:creationId xmlns:p14="http://schemas.microsoft.com/office/powerpoint/2010/main" val="58049019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7" name="text-33">
            <a:extLst xmlns:a="http://schemas.openxmlformats.org/drawingml/2006/main">
              <a:ext uri="{FF2B5EF4-FFF2-40B4-BE49-F238E27FC236}">
                <a16:creationId xmlns:a16="http://schemas.microsoft.com/office/drawing/2014/main" id="{B17702DB-D69C-45AE-AFF7-54CB2E0859E8}"/>
              </a:ext>
            </a:extLst>
          </p:cNvPr>
          <p:cNvSpPr>
            <a:spLocks xmlns:a="http://schemas.openxmlformats.org/drawingml/2006/main" noGrp="1"/>
          </p:cNvSpPr>
          <p:nvPr/>
        </p:nvSpPr>
        <p:spPr>
          <a:xfrm xmlns:a="http://schemas.openxmlformats.org/drawingml/2006/main">
            <a:off x="609600" y="381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3000" b="1">
                <a:solidFill>
                  <a:srgbClr val="231F20"/>
                </a:solidFill>
                <a:latin typeface="Meiryo"/>
                <a:ea typeface="Meiryo"/>
                <a:cs typeface="Meiryo"/>
              </a:defRPr>
            </a:defPPr>
          </a:lstStyle>
          <a:p xmlns:a="http://schemas.openxmlformats.org/drawingml/2006/main">
            <a:pPr algn="l">
              <a:defRPr sz="3000" b="1">
                <a:solidFill>
                  <a:srgbClr val="231F20"/>
                </a:solidFill>
                <a:latin typeface="Meiryo"/>
                <a:ea typeface="Meiryo"/>
                <a:cs typeface="Meiryo"/>
              </a:defRPr>
            </a:pPr>
            <a:r>
              <a:rPr sz="3000" b="1">
                <a:solidFill>
                  <a:srgbClr val="231F20"/>
                </a:solidFill>
                <a:latin typeface="Meiryo"/>
                <a:ea typeface="Meiryo"/>
                <a:cs typeface="Meiryo"/>
              </a:rPr>
              <a:t>CPUと描画回路を一つのチップに接続する</a:t>
            </a:r>
          </a:p>
        </p:txBody>
      </p:sp>
      <p:sp>
        <p:nvSpPr>
          <p:cNvPr id="2" name="text-34">
            <a:extLst xmlns:a="http://schemas.openxmlformats.org/drawingml/2006/main">
              <a:ext uri="{FF2B5EF4-FFF2-40B4-BE49-F238E27FC236}">
                <a16:creationId xmlns:a16="http://schemas.microsoft.com/office/drawing/2014/main" id="{2B0EAA29-53B9-417D-AEA6-8641ECC1ECA5}"/>
              </a:ext>
            </a:extLst>
          </p:cNvPr>
          <p:cNvSpPr>
            <a:spLocks xmlns:a="http://schemas.openxmlformats.org/drawingml/2006/main" noGrp="1"/>
          </p:cNvSpPr>
          <p:nvPr/>
        </p:nvSpPr>
        <p:spPr>
          <a:xfrm xmlns:a="http://schemas.openxmlformats.org/drawingml/2006/main">
            <a:off x="11353800" y="6362700"/>
            <a:ext cx="266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231F20"/>
                </a:solidFill>
                <a:latin typeface="Meiryo"/>
                <a:ea typeface="Meiryo"/>
                <a:cs typeface="Meiryo"/>
              </a:defRPr>
            </a:defPPr>
          </a:lstStyle>
          <a:p xmlns:a="http://schemas.openxmlformats.org/drawingml/2006/main">
            <a:pPr algn="r">
              <a:defRPr sz="1350" b="0">
                <a:solidFill>
                  <a:srgbClr val="231F20"/>
                </a:solidFill>
                <a:latin typeface="Meiryo"/>
                <a:ea typeface="Meiryo"/>
                <a:cs typeface="Meiryo"/>
              </a:defRPr>
            </a:pPr>
            <a:r>
              <a:rPr sz="1350" b="0">
                <a:solidFill>
                  <a:srgbClr val="231F20"/>
                </a:solidFill>
                <a:latin typeface="Meiryo"/>
                <a:ea typeface="Meiryo"/>
                <a:cs typeface="Meiryo"/>
              </a:rPr>
              <a:t>3</a:t>
            </a:r>
          </a:p>
        </p:txBody>
      </p:sp>
      <p:sp>
        <p:nvSpPr>
          <p:cNvPr id="3" name="circuit-35">
            <a:extLst xmlns:a="http://schemas.openxmlformats.org/drawingml/2006/main">
              <a:ext uri="{FF2B5EF4-FFF2-40B4-BE49-F238E27FC236}">
                <a16:creationId xmlns:a16="http://schemas.microsoft.com/office/drawing/2014/main" id="{3D0CA728-C5AA-4A49-AF8E-AC27329DB5F3}"/>
              </a:ext>
            </a:extLst>
          </p:cNvPr>
          <p:cNvSpPr>
            <a:spLocks xmlns:a="http://schemas.openxmlformats.org/drawingml/2006/main" noGrp="1"/>
          </p:cNvSpPr>
          <p:nvPr/>
        </p:nvSpPr>
        <p:spPr>
          <a:xfrm xmlns:a="http://schemas.openxmlformats.org/drawingml/2006/main">
            <a:off x="781050" y="1466850"/>
            <a:ext cx="10629900" cy="468630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4" name="circuit-36">
            <a:extLst xmlns:a="http://schemas.openxmlformats.org/drawingml/2006/main">
              <a:ext uri="{FF2B5EF4-FFF2-40B4-BE49-F238E27FC236}">
                <a16:creationId xmlns:a16="http://schemas.microsoft.com/office/drawing/2014/main" id="{ECA0F695-B5D8-4134-B73D-B96002500C91}"/>
              </a:ext>
            </a:extLst>
          </p:cNvPr>
          <p:cNvSpPr>
            <a:spLocks xmlns:a="http://schemas.openxmlformats.org/drawingml/2006/main" noGrp="1"/>
          </p:cNvSpPr>
          <p:nvPr/>
        </p:nvSpPr>
        <p:spPr>
          <a:xfrm xmlns:a="http://schemas.openxmlformats.org/drawingml/2006/main">
            <a:off x="1085850" y="1628775"/>
            <a:ext cx="2686050" cy="59055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5" name="text-37">
            <a:extLst xmlns:a="http://schemas.openxmlformats.org/drawingml/2006/main">
              <a:ext uri="{FF2B5EF4-FFF2-40B4-BE49-F238E27FC236}">
                <a16:creationId xmlns:a16="http://schemas.microsoft.com/office/drawing/2014/main" id="{BF0F3927-A1D1-45DE-9B6E-39EE55D7ECA5}"/>
              </a:ext>
            </a:extLst>
          </p:cNvPr>
          <p:cNvSpPr>
            <a:spLocks xmlns:a="http://schemas.openxmlformats.org/drawingml/2006/main" noGrp="1"/>
          </p:cNvSpPr>
          <p:nvPr/>
        </p:nvSpPr>
        <p:spPr>
          <a:xfrm xmlns:a="http://schemas.openxmlformats.org/drawingml/2006/main">
            <a:off x="1200150" y="1685925"/>
            <a:ext cx="2457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00" b="0">
                <a:solidFill>
                  <a:srgbClr val="231F20"/>
                </a:solidFill>
                <a:latin typeface="Meiryo"/>
                <a:ea typeface="Meiryo"/>
                <a:cs typeface="Meiryo"/>
              </a:defRPr>
            </a:defPPr>
          </a:lstStyle>
          <a:p xmlns:a="http://schemas.openxmlformats.org/drawingml/2006/main">
            <a:pPr algn="ctr">
              <a:defRPr sz="2100" b="0">
                <a:solidFill>
                  <a:srgbClr val="231F20"/>
                </a:solidFill>
                <a:latin typeface="Meiryo"/>
                <a:ea typeface="Meiryo"/>
                <a:cs typeface="Meiryo"/>
              </a:defRPr>
            </a:pPr>
            <a:r>
              <a:rPr sz="2100" b="0">
                <a:solidFill>
                  <a:srgbClr val="231F20"/>
                </a:solidFill>
                <a:latin typeface="Meiryo"/>
                <a:ea typeface="Meiryo"/>
                <a:cs typeface="Meiryo"/>
              </a:rPr>
              <a:t>SDカード</a:t>
            </a:r>
          </a:p>
        </p:txBody>
      </p:sp>
      <p:sp>
        <p:nvSpPr>
          <p:cNvPr id="6" name="circuit-38">
            <a:extLst xmlns:a="http://schemas.openxmlformats.org/drawingml/2006/main">
              <a:ext uri="{FF2B5EF4-FFF2-40B4-BE49-F238E27FC236}">
                <a16:creationId xmlns:a16="http://schemas.microsoft.com/office/drawing/2014/main" id="{C7D6EB08-6A6F-44EB-847B-4C6E896C1A1D}"/>
              </a:ext>
            </a:extLst>
          </p:cNvPr>
          <p:cNvSpPr>
            <a:spLocks xmlns:a="http://schemas.openxmlformats.org/drawingml/2006/main" noGrp="1"/>
          </p:cNvSpPr>
          <p:nvPr/>
        </p:nvSpPr>
        <p:spPr>
          <a:xfrm xmlns:a="http://schemas.openxmlformats.org/drawingml/2006/main">
            <a:off x="4752975" y="1628775"/>
            <a:ext cx="2686050" cy="59055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7" name="text-39">
            <a:extLst xmlns:a="http://schemas.openxmlformats.org/drawingml/2006/main">
              <a:ext uri="{FF2B5EF4-FFF2-40B4-BE49-F238E27FC236}">
                <a16:creationId xmlns:a16="http://schemas.microsoft.com/office/drawing/2014/main" id="{E03A6243-F491-44CB-8098-09C13132D1FB}"/>
              </a:ext>
            </a:extLst>
          </p:cNvPr>
          <p:cNvSpPr>
            <a:spLocks xmlns:a="http://schemas.openxmlformats.org/drawingml/2006/main" noGrp="1"/>
          </p:cNvSpPr>
          <p:nvPr/>
        </p:nvSpPr>
        <p:spPr>
          <a:xfrm xmlns:a="http://schemas.openxmlformats.org/drawingml/2006/main">
            <a:off x="4867275" y="1685925"/>
            <a:ext cx="2457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00" b="0">
                <a:solidFill>
                  <a:srgbClr val="231F20"/>
                </a:solidFill>
                <a:latin typeface="Meiryo"/>
                <a:ea typeface="Meiryo"/>
                <a:cs typeface="Meiryo"/>
              </a:defRPr>
            </a:defPPr>
          </a:lstStyle>
          <a:p xmlns:a="http://schemas.openxmlformats.org/drawingml/2006/main">
            <a:pPr algn="ctr">
              <a:defRPr sz="2100" b="0">
                <a:solidFill>
                  <a:srgbClr val="231F20"/>
                </a:solidFill>
                <a:latin typeface="Meiryo"/>
                <a:ea typeface="Meiryo"/>
                <a:cs typeface="Meiryo"/>
              </a:defRPr>
            </a:pPr>
            <a:r>
              <a:rPr sz="2100" b="0">
                <a:solidFill>
                  <a:srgbClr val="231F20"/>
                </a:solidFill>
                <a:latin typeface="Meiryo"/>
                <a:ea typeface="Meiryo"/>
                <a:cs typeface="Meiryo"/>
              </a:rPr>
              <a:t>DDR3メモリ</a:t>
            </a:r>
          </a:p>
        </p:txBody>
      </p:sp>
      <p:sp>
        <p:nvSpPr>
          <p:cNvPr id="8" name="circuit-40">
            <a:extLst xmlns:a="http://schemas.openxmlformats.org/drawingml/2006/main">
              <a:ext uri="{FF2B5EF4-FFF2-40B4-BE49-F238E27FC236}">
                <a16:creationId xmlns:a16="http://schemas.microsoft.com/office/drawing/2014/main" id="{418F370A-E36B-45BE-B267-0504C4B9B14F}"/>
              </a:ext>
            </a:extLst>
          </p:cNvPr>
          <p:cNvSpPr>
            <a:spLocks xmlns:a="http://schemas.openxmlformats.org/drawingml/2006/main" noGrp="1"/>
          </p:cNvSpPr>
          <p:nvPr/>
        </p:nvSpPr>
        <p:spPr>
          <a:xfrm xmlns:a="http://schemas.openxmlformats.org/drawingml/2006/main">
            <a:off x="8420100" y="1628775"/>
            <a:ext cx="2686050" cy="59055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9" name="text-41">
            <a:extLst xmlns:a="http://schemas.openxmlformats.org/drawingml/2006/main">
              <a:ext uri="{FF2B5EF4-FFF2-40B4-BE49-F238E27FC236}">
                <a16:creationId xmlns:a16="http://schemas.microsoft.com/office/drawing/2014/main" id="{00325098-5961-420E-8724-397131DC6AEB}"/>
              </a:ext>
            </a:extLst>
          </p:cNvPr>
          <p:cNvSpPr>
            <a:spLocks xmlns:a="http://schemas.openxmlformats.org/drawingml/2006/main" noGrp="1"/>
          </p:cNvSpPr>
          <p:nvPr/>
        </p:nvSpPr>
        <p:spPr>
          <a:xfrm xmlns:a="http://schemas.openxmlformats.org/drawingml/2006/main">
            <a:off x="8534400" y="1685925"/>
            <a:ext cx="2457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00" b="0">
                <a:solidFill>
                  <a:srgbClr val="231F20"/>
                </a:solidFill>
                <a:latin typeface="Meiryo"/>
                <a:ea typeface="Meiryo"/>
                <a:cs typeface="Meiryo"/>
              </a:defRPr>
            </a:defPPr>
          </a:lstStyle>
          <a:p xmlns:a="http://schemas.openxmlformats.org/drawingml/2006/main">
            <a:pPr algn="ctr">
              <a:defRPr sz="2100" b="0">
                <a:solidFill>
                  <a:srgbClr val="231F20"/>
                </a:solidFill>
                <a:latin typeface="Meiryo"/>
                <a:ea typeface="Meiryo"/>
                <a:cs typeface="Meiryo"/>
              </a:defRPr>
            </a:pPr>
            <a:r>
              <a:rPr sz="2100" b="0">
                <a:solidFill>
                  <a:srgbClr val="231F20"/>
                </a:solidFill>
                <a:latin typeface="Meiryo"/>
                <a:ea typeface="Meiryo"/>
                <a:cs typeface="Meiryo"/>
              </a:rPr>
              <a:t>HDMI端子</a:t>
            </a:r>
          </a:p>
        </p:txBody>
      </p:sp>
      <p:sp>
        <p:nvSpPr>
          <p:cNvPr id="10" name="circuit-42">
            <a:extLst xmlns:a="http://schemas.openxmlformats.org/drawingml/2006/main">
              <a:ext uri="{FF2B5EF4-FFF2-40B4-BE49-F238E27FC236}">
                <a16:creationId xmlns:a16="http://schemas.microsoft.com/office/drawing/2014/main" id="{5046ACA9-1F24-4E52-80B4-3E98840D0320}"/>
              </a:ext>
            </a:extLst>
          </p:cNvPr>
          <p:cNvSpPr>
            <a:spLocks xmlns:a="http://schemas.openxmlformats.org/drawingml/2006/main" noGrp="1"/>
          </p:cNvSpPr>
          <p:nvPr/>
        </p:nvSpPr>
        <p:spPr>
          <a:xfrm xmlns:a="http://schemas.openxmlformats.org/drawingml/2006/main">
            <a:off x="1009650" y="2581275"/>
            <a:ext cx="10172700" cy="3352800"/>
          </a:xfrm>
          <a:prstGeom xmlns:a="http://schemas.openxmlformats.org/drawingml/2006/main" prst="rect">
            <a:avLst/>
          </a:prstGeom>
          <a:solidFill xmlns:a="http://schemas.openxmlformats.org/drawingml/2006/main">
            <a:srgbClr val="E5EBF8"/>
          </a:solidFill>
          <a:ln xmlns:a="http://schemas.openxmlformats.org/drawingml/2006/main" w="19050">
            <a:solidFill>
              <a:srgbClr val="231F20"/>
            </a:solidFill>
          </a:ln>
        </p:spPr>
      </p:sp>
      <p:sp>
        <p:nvSpPr>
          <p:cNvPr id="11" name="text-43">
            <a:extLst xmlns:a="http://schemas.openxmlformats.org/drawingml/2006/main">
              <a:ext uri="{FF2B5EF4-FFF2-40B4-BE49-F238E27FC236}">
                <a16:creationId xmlns:a16="http://schemas.microsoft.com/office/drawing/2014/main" id="{520804C9-FE6F-4944-BE07-288470FA1FAE}"/>
              </a:ext>
            </a:extLst>
          </p:cNvPr>
          <p:cNvSpPr>
            <a:spLocks xmlns:a="http://schemas.openxmlformats.org/drawingml/2006/main" noGrp="1"/>
          </p:cNvSpPr>
          <p:nvPr/>
        </p:nvSpPr>
        <p:spPr>
          <a:xfrm xmlns:a="http://schemas.openxmlformats.org/drawingml/2006/main">
            <a:off x="1200150" y="2667000"/>
            <a:ext cx="23336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725" b="1">
                <a:solidFill>
                  <a:srgbClr val="231F20"/>
                </a:solidFill>
                <a:latin typeface="Meiryo"/>
                <a:ea typeface="Meiryo"/>
                <a:cs typeface="Meiryo"/>
              </a:defRPr>
            </a:defPPr>
          </a:lstStyle>
          <a:p xmlns:a="http://schemas.openxmlformats.org/drawingml/2006/main">
            <a:pPr algn="l">
              <a:defRPr sz="1725" b="1">
                <a:solidFill>
                  <a:srgbClr val="231F20"/>
                </a:solidFill>
                <a:latin typeface="Meiryo"/>
                <a:ea typeface="Meiryo"/>
                <a:cs typeface="Meiryo"/>
              </a:defRPr>
            </a:pPr>
            <a:r>
              <a:rPr sz="1725" b="1">
                <a:solidFill>
                  <a:srgbClr val="231F20"/>
                </a:solidFill>
                <a:latin typeface="Meiryo"/>
                <a:ea typeface="Meiryo"/>
                <a:cs typeface="Meiryo"/>
              </a:rPr>
              <a:t>FPGAチップ</a:t>
            </a:r>
          </a:p>
        </p:txBody>
      </p:sp>
      <p:sp>
        <p:nvSpPr>
          <p:cNvPr id="12" name="circuit-44">
            <a:extLst xmlns:a="http://schemas.openxmlformats.org/drawingml/2006/main">
              <a:ext uri="{FF2B5EF4-FFF2-40B4-BE49-F238E27FC236}">
                <a16:creationId xmlns:a16="http://schemas.microsoft.com/office/drawing/2014/main" id="{D11D5E59-3AA7-42E0-99A3-FA2039A1F6F4}"/>
              </a:ext>
            </a:extLst>
          </p:cNvPr>
          <p:cNvSpPr>
            <a:spLocks xmlns:a="http://schemas.openxmlformats.org/drawingml/2006/main" noGrp="1"/>
          </p:cNvSpPr>
          <p:nvPr/>
        </p:nvSpPr>
        <p:spPr>
          <a:xfrm xmlns:a="http://schemas.openxmlformats.org/drawingml/2006/main">
            <a:off x="1304925" y="3143250"/>
            <a:ext cx="1695450" cy="57150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13" name="text-45">
            <a:extLst xmlns:a="http://schemas.openxmlformats.org/drawingml/2006/main">
              <a:ext uri="{FF2B5EF4-FFF2-40B4-BE49-F238E27FC236}">
                <a16:creationId xmlns:a16="http://schemas.microsoft.com/office/drawing/2014/main" id="{5015B512-6226-415B-ABAE-C972B68E6DF0}"/>
              </a:ext>
            </a:extLst>
          </p:cNvPr>
          <p:cNvSpPr>
            <a:spLocks xmlns:a="http://schemas.openxmlformats.org/drawingml/2006/main" noGrp="1"/>
          </p:cNvSpPr>
          <p:nvPr/>
        </p:nvSpPr>
        <p:spPr>
          <a:xfrm xmlns:a="http://schemas.openxmlformats.org/drawingml/2006/main">
            <a:off x="1419225" y="3200400"/>
            <a:ext cx="14668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025" b="0">
                <a:solidFill>
                  <a:srgbClr val="231F20"/>
                </a:solidFill>
                <a:latin typeface="Meiryo"/>
                <a:ea typeface="Meiryo"/>
                <a:cs typeface="Meiryo"/>
              </a:defRPr>
            </a:defPPr>
          </a:lstStyle>
          <a:p xmlns:a="http://schemas.openxmlformats.org/drawingml/2006/main">
            <a:pPr algn="ctr">
              <a:defRPr sz="2025" b="0">
                <a:solidFill>
                  <a:srgbClr val="231F20"/>
                </a:solidFill>
                <a:latin typeface="Meiryo"/>
                <a:ea typeface="Meiryo"/>
                <a:cs typeface="Meiryo"/>
              </a:defRPr>
            </a:pPr>
            <a:r>
              <a:rPr sz="2025" b="0">
                <a:solidFill>
                  <a:srgbClr val="231F20"/>
                </a:solidFill>
                <a:latin typeface="Meiryo"/>
                <a:ea typeface="Meiryo"/>
                <a:cs typeface="Meiryo"/>
              </a:rPr>
              <a:t>SD制御</a:t>
            </a:r>
          </a:p>
        </p:txBody>
      </p:sp>
      <p:sp>
        <p:nvSpPr>
          <p:cNvPr id="14" name="wire-46">
            <a:extLst xmlns:a="http://schemas.openxmlformats.org/drawingml/2006/main">
              <a:ext uri="{FF2B5EF4-FFF2-40B4-BE49-F238E27FC236}">
                <a16:creationId xmlns:a16="http://schemas.microsoft.com/office/drawing/2014/main" id="{43F3EFF0-FDCC-4C54-B749-21CE7096A879}"/>
              </a:ext>
            </a:extLst>
          </p:cNvPr>
          <p:cNvSpPr>
            <a:spLocks xmlns:a="http://schemas.openxmlformats.org/drawingml/2006/main" noGrp="1"/>
          </p:cNvSpPr>
          <p:nvPr/>
        </p:nvSpPr>
        <p:spPr>
          <a:xfrm xmlns:a="http://schemas.openxmlformats.org/drawingml/2006/main">
            <a:off x="2428875" y="2219325"/>
            <a:ext cx="9525" cy="923925"/>
          </a:xfrm>
          <a:custGeom xmlns:a="http://schemas.openxmlformats.org/drawingml/2006/main">
            <a:pathLst>
              <a:path w="9525" h="923925">
                <a:moveTo>
                  <a:pt x="0" y="0"/>
                </a:moveTo>
                <a:lnTo>
                  <a:pt x="0" y="923925"/>
                </a:lnTo>
              </a:path>
            </a:pathLst>
          </a:custGeom>
          <a:noFill xmlns:a="http://schemas.openxmlformats.org/drawingml/2006/main"/>
          <a:ln xmlns:a="http://schemas.openxmlformats.org/drawingml/2006/main" w="20955">
            <a:solidFill>
              <a:srgbClr val="231F20"/>
            </a:solidFill>
          </a:ln>
        </p:spPr>
      </p:sp>
      <p:sp>
        <p:nvSpPr>
          <p:cNvPr id="15" name="circuit-47">
            <a:extLst xmlns:a="http://schemas.openxmlformats.org/drawingml/2006/main">
              <a:ext uri="{FF2B5EF4-FFF2-40B4-BE49-F238E27FC236}">
                <a16:creationId xmlns:a16="http://schemas.microsoft.com/office/drawing/2014/main" id="{E57C49DA-8F38-4567-BDFA-5968FE0A1333}"/>
              </a:ext>
            </a:extLst>
          </p:cNvPr>
          <p:cNvSpPr>
            <a:spLocks xmlns:a="http://schemas.openxmlformats.org/drawingml/2006/main" noGrp="1"/>
          </p:cNvSpPr>
          <p:nvPr/>
        </p:nvSpPr>
        <p:spPr>
          <a:xfrm xmlns:a="http://schemas.openxmlformats.org/drawingml/2006/main">
            <a:off x="4962525" y="3143250"/>
            <a:ext cx="2266950" cy="57150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16" name="text-48">
            <a:extLst xmlns:a="http://schemas.openxmlformats.org/drawingml/2006/main">
              <a:ext uri="{FF2B5EF4-FFF2-40B4-BE49-F238E27FC236}">
                <a16:creationId xmlns:a16="http://schemas.microsoft.com/office/drawing/2014/main" id="{1C5ABD16-20B6-4DB2-8214-18070B913C5F}"/>
              </a:ext>
            </a:extLst>
          </p:cNvPr>
          <p:cNvSpPr>
            <a:spLocks xmlns:a="http://schemas.openxmlformats.org/drawingml/2006/main" noGrp="1"/>
          </p:cNvSpPr>
          <p:nvPr/>
        </p:nvSpPr>
        <p:spPr>
          <a:xfrm xmlns:a="http://schemas.openxmlformats.org/drawingml/2006/main">
            <a:off x="5076825" y="3200400"/>
            <a:ext cx="2038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025" b="0">
                <a:solidFill>
                  <a:srgbClr val="231F20"/>
                </a:solidFill>
                <a:latin typeface="Meiryo"/>
                <a:ea typeface="Meiryo"/>
                <a:cs typeface="Meiryo"/>
              </a:defRPr>
            </a:defPPr>
          </a:lstStyle>
          <a:p xmlns:a="http://schemas.openxmlformats.org/drawingml/2006/main">
            <a:pPr algn="ctr">
              <a:defRPr sz="2025" b="0">
                <a:solidFill>
                  <a:srgbClr val="231F20"/>
                </a:solidFill>
                <a:latin typeface="Meiryo"/>
                <a:ea typeface="Meiryo"/>
                <a:cs typeface="Meiryo"/>
              </a:defRPr>
            </a:pPr>
            <a:r>
              <a:rPr sz="2025" b="0">
                <a:solidFill>
                  <a:srgbClr val="231F20"/>
                </a:solidFill>
                <a:latin typeface="Meiryo"/>
                <a:ea typeface="Meiryo"/>
                <a:cs typeface="Meiryo"/>
              </a:rPr>
              <a:t>メモリ制御</a:t>
            </a:r>
          </a:p>
        </p:txBody>
      </p:sp>
      <p:sp>
        <p:nvSpPr>
          <p:cNvPr id="17" name="wire-49">
            <a:extLst xmlns:a="http://schemas.openxmlformats.org/drawingml/2006/main">
              <a:ext uri="{FF2B5EF4-FFF2-40B4-BE49-F238E27FC236}">
                <a16:creationId xmlns:a16="http://schemas.microsoft.com/office/drawing/2014/main" id="{04683435-49DC-47CB-865E-F6674E8CEC13}"/>
              </a:ext>
            </a:extLst>
          </p:cNvPr>
          <p:cNvSpPr>
            <a:spLocks xmlns:a="http://schemas.openxmlformats.org/drawingml/2006/main" noGrp="1"/>
          </p:cNvSpPr>
          <p:nvPr/>
        </p:nvSpPr>
        <p:spPr>
          <a:xfrm xmlns:a="http://schemas.openxmlformats.org/drawingml/2006/main">
            <a:off x="6096000" y="2219325"/>
            <a:ext cx="9525" cy="923925"/>
          </a:xfrm>
          <a:custGeom xmlns:a="http://schemas.openxmlformats.org/drawingml/2006/main">
            <a:pathLst>
              <a:path w="9525" h="923925">
                <a:moveTo>
                  <a:pt x="0" y="0"/>
                </a:moveTo>
                <a:lnTo>
                  <a:pt x="0" y="923925"/>
                </a:lnTo>
              </a:path>
            </a:pathLst>
          </a:custGeom>
          <a:noFill xmlns:a="http://schemas.openxmlformats.org/drawingml/2006/main"/>
          <a:ln xmlns:a="http://schemas.openxmlformats.org/drawingml/2006/main" w="20955">
            <a:solidFill>
              <a:srgbClr val="231F20"/>
            </a:solidFill>
          </a:ln>
        </p:spPr>
      </p:sp>
      <p:sp>
        <p:nvSpPr>
          <p:cNvPr id="18" name="circuit-50">
            <a:extLst xmlns:a="http://schemas.openxmlformats.org/drawingml/2006/main">
              <a:ext uri="{FF2B5EF4-FFF2-40B4-BE49-F238E27FC236}">
                <a16:creationId xmlns:a16="http://schemas.microsoft.com/office/drawing/2014/main" id="{785DD9B7-C472-4812-BF54-6887B33BC3C7}"/>
              </a:ext>
            </a:extLst>
          </p:cNvPr>
          <p:cNvSpPr>
            <a:spLocks xmlns:a="http://schemas.openxmlformats.org/drawingml/2006/main" noGrp="1"/>
          </p:cNvSpPr>
          <p:nvPr/>
        </p:nvSpPr>
        <p:spPr>
          <a:xfrm xmlns:a="http://schemas.openxmlformats.org/drawingml/2006/main">
            <a:off x="9163050" y="3143250"/>
            <a:ext cx="1733550" cy="57150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19" name="text-51">
            <a:extLst xmlns:a="http://schemas.openxmlformats.org/drawingml/2006/main">
              <a:ext uri="{FF2B5EF4-FFF2-40B4-BE49-F238E27FC236}">
                <a16:creationId xmlns:a16="http://schemas.microsoft.com/office/drawing/2014/main" id="{D9EFB498-9827-4741-BF9E-05A19C6F4DB5}"/>
              </a:ext>
            </a:extLst>
          </p:cNvPr>
          <p:cNvSpPr>
            <a:spLocks xmlns:a="http://schemas.openxmlformats.org/drawingml/2006/main" noGrp="1"/>
          </p:cNvSpPr>
          <p:nvPr/>
        </p:nvSpPr>
        <p:spPr>
          <a:xfrm xmlns:a="http://schemas.openxmlformats.org/drawingml/2006/main">
            <a:off x="9277350" y="3200400"/>
            <a:ext cx="1504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025" b="0">
                <a:solidFill>
                  <a:srgbClr val="231F20"/>
                </a:solidFill>
                <a:latin typeface="Meiryo"/>
                <a:ea typeface="Meiryo"/>
                <a:cs typeface="Meiryo"/>
              </a:defRPr>
            </a:defPPr>
          </a:lstStyle>
          <a:p xmlns:a="http://schemas.openxmlformats.org/drawingml/2006/main">
            <a:pPr algn="ctr">
              <a:defRPr sz="2025" b="0">
                <a:solidFill>
                  <a:srgbClr val="231F20"/>
                </a:solidFill>
                <a:latin typeface="Meiryo"/>
                <a:ea typeface="Meiryo"/>
                <a:cs typeface="Meiryo"/>
              </a:defRPr>
            </a:pPr>
            <a:r>
              <a:rPr sz="2025" b="0">
                <a:solidFill>
                  <a:srgbClr val="231F20"/>
                </a:solidFill>
                <a:latin typeface="Meiryo"/>
                <a:ea typeface="Meiryo"/>
                <a:cs typeface="Meiryo"/>
              </a:rPr>
              <a:t>表示回路</a:t>
            </a:r>
          </a:p>
        </p:txBody>
      </p:sp>
      <p:sp>
        <p:nvSpPr>
          <p:cNvPr id="20" name="wire-52">
            <a:extLst xmlns:a="http://schemas.openxmlformats.org/drawingml/2006/main">
              <a:ext uri="{FF2B5EF4-FFF2-40B4-BE49-F238E27FC236}">
                <a16:creationId xmlns:a16="http://schemas.microsoft.com/office/drawing/2014/main" id="{78AA3CCD-6E2C-4766-88BA-29EABD5B48E5}"/>
              </a:ext>
            </a:extLst>
          </p:cNvPr>
          <p:cNvSpPr>
            <a:spLocks xmlns:a="http://schemas.openxmlformats.org/drawingml/2006/main" noGrp="1"/>
          </p:cNvSpPr>
          <p:nvPr/>
        </p:nvSpPr>
        <p:spPr>
          <a:xfrm xmlns:a="http://schemas.openxmlformats.org/drawingml/2006/main">
            <a:off x="10029825" y="2219325"/>
            <a:ext cx="9525" cy="923925"/>
          </a:xfrm>
          <a:custGeom xmlns:a="http://schemas.openxmlformats.org/drawingml/2006/main">
            <a:pathLst>
              <a:path w="9525" h="923925">
                <a:moveTo>
                  <a:pt x="0" y="923925"/>
                </a:moveTo>
                <a:lnTo>
                  <a:pt x="0" y="0"/>
                </a:lnTo>
              </a:path>
            </a:pathLst>
          </a:custGeom>
          <a:noFill xmlns:a="http://schemas.openxmlformats.org/drawingml/2006/main"/>
          <a:ln xmlns:a="http://schemas.openxmlformats.org/drawingml/2006/main" w="20955">
            <a:solidFill>
              <a:srgbClr val="231F20"/>
            </a:solidFill>
          </a:ln>
        </p:spPr>
      </p:sp>
      <p:sp>
        <p:nvSpPr>
          <p:cNvPr id="21" name="logic-53">
            <a:extLst xmlns:a="http://schemas.openxmlformats.org/drawingml/2006/main">
              <a:ext uri="{FF2B5EF4-FFF2-40B4-BE49-F238E27FC236}">
                <a16:creationId xmlns:a16="http://schemas.microsoft.com/office/drawing/2014/main" id="{D41C46B5-C5B5-4DA8-B94D-EA3BA62FBA38}"/>
              </a:ext>
            </a:extLst>
          </p:cNvPr>
          <p:cNvSpPr>
            <a:spLocks xmlns:a="http://schemas.openxmlformats.org/drawingml/2006/main" noGrp="1"/>
          </p:cNvSpPr>
          <p:nvPr/>
        </p:nvSpPr>
        <p:spPr>
          <a:xfrm xmlns:a="http://schemas.openxmlformats.org/drawingml/2006/main">
            <a:off x="9982200" y="2219325"/>
            <a:ext cx="95250" cy="114300"/>
          </a:xfrm>
          <a:custGeom xmlns:a="http://schemas.openxmlformats.org/drawingml/2006/main">
            <a:pathLst>
              <a:path w="95250" h="114300">
                <a:moveTo>
                  <a:pt x="47625" y="0"/>
                </a:moveTo>
                <a:lnTo>
                  <a:pt x="0" y="114300"/>
                </a:lnTo>
                <a:lnTo>
                  <a:pt x="95250" y="114300"/>
                </a:lnTo>
                <a:close/>
              </a:path>
            </a:pathLst>
          </a:custGeom>
          <a:solidFill xmlns:a="http://schemas.openxmlformats.org/drawingml/2006/main">
            <a:srgbClr val="231F20"/>
          </a:solidFill>
          <a:ln xmlns:a="http://schemas.openxmlformats.org/drawingml/2006/main" w="19050">
            <a:solidFill>
              <a:srgbClr val="231F20"/>
            </a:solidFill>
          </a:ln>
        </p:spPr>
      </p:sp>
      <p:sp>
        <p:nvSpPr>
          <p:cNvPr id="22" name="circuit-54">
            <a:extLst xmlns:a="http://schemas.openxmlformats.org/drawingml/2006/main">
              <a:ext uri="{FF2B5EF4-FFF2-40B4-BE49-F238E27FC236}">
                <a16:creationId xmlns:a16="http://schemas.microsoft.com/office/drawing/2014/main" id="{25C93872-CCDF-4940-BD0B-2CC632AE0AA0}"/>
              </a:ext>
            </a:extLst>
          </p:cNvPr>
          <p:cNvSpPr>
            <a:spLocks xmlns:a="http://schemas.openxmlformats.org/drawingml/2006/main" noGrp="1"/>
          </p:cNvSpPr>
          <p:nvPr/>
        </p:nvSpPr>
        <p:spPr>
          <a:xfrm xmlns:a="http://schemas.openxmlformats.org/drawingml/2006/main">
            <a:off x="1409700" y="4181475"/>
            <a:ext cx="5705475" cy="438150"/>
          </a:xfrm>
          <a:prstGeom xmlns:a="http://schemas.openxmlformats.org/drawingml/2006/main" prst="rect">
            <a:avLst/>
          </a:prstGeom>
          <a:solidFill xmlns:a="http://schemas.openxmlformats.org/drawingml/2006/main">
            <a:srgbClr val="CCD9F1"/>
          </a:solidFill>
          <a:ln xmlns:a="http://schemas.openxmlformats.org/drawingml/2006/main" w="19050">
            <a:solidFill>
              <a:srgbClr val="231F20"/>
            </a:solidFill>
          </a:ln>
        </p:spPr>
      </p:sp>
      <p:sp>
        <p:nvSpPr>
          <p:cNvPr id="23" name="text-55">
            <a:extLst xmlns:a="http://schemas.openxmlformats.org/drawingml/2006/main">
              <a:ext uri="{FF2B5EF4-FFF2-40B4-BE49-F238E27FC236}">
                <a16:creationId xmlns:a16="http://schemas.microsoft.com/office/drawing/2014/main" id="{2385397B-99FF-45F9-8DE8-A628DE9DF46B}"/>
              </a:ext>
            </a:extLst>
          </p:cNvPr>
          <p:cNvSpPr>
            <a:spLocks xmlns:a="http://schemas.openxmlformats.org/drawingml/2006/main" noGrp="1"/>
          </p:cNvSpPr>
          <p:nvPr/>
        </p:nvSpPr>
        <p:spPr>
          <a:xfrm xmlns:a="http://schemas.openxmlformats.org/drawingml/2006/main">
            <a:off x="1524000" y="4238625"/>
            <a:ext cx="5476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0">
                <a:solidFill>
                  <a:srgbClr val="231F20"/>
                </a:solidFill>
                <a:latin typeface="Meiryo"/>
                <a:ea typeface="Meiryo"/>
                <a:cs typeface="Meiryo"/>
              </a:defRPr>
            </a:defPPr>
          </a:lstStyle>
          <a:p xmlns:a="http://schemas.openxmlformats.org/drawingml/2006/main">
            <a:pPr algn="ctr">
              <a:defRPr sz="1875" b="0">
                <a:solidFill>
                  <a:srgbClr val="231F20"/>
                </a:solidFill>
                <a:latin typeface="Meiryo"/>
                <a:ea typeface="Meiryo"/>
                <a:cs typeface="Meiryo"/>
              </a:defRPr>
            </a:pPr>
            <a:r>
              <a:rPr sz="1875" b="0">
                <a:solidFill>
                  <a:srgbClr val="231F20"/>
                </a:solidFill>
                <a:latin typeface="Meiryo"/>
                <a:ea typeface="Meiryo"/>
                <a:cs typeface="Meiryo"/>
              </a:rPr>
              <a:t>CPUのバス</a:t>
            </a:r>
          </a:p>
        </p:txBody>
      </p:sp>
      <p:sp>
        <p:nvSpPr>
          <p:cNvPr id="24" name="wire-56">
            <a:extLst xmlns:a="http://schemas.openxmlformats.org/drawingml/2006/main">
              <a:ext uri="{FF2B5EF4-FFF2-40B4-BE49-F238E27FC236}">
                <a16:creationId xmlns:a16="http://schemas.microsoft.com/office/drawing/2014/main" id="{A7FCBE3B-A168-4664-B755-E77EB11C048E}"/>
              </a:ext>
            </a:extLst>
          </p:cNvPr>
          <p:cNvSpPr>
            <a:spLocks xmlns:a="http://schemas.openxmlformats.org/drawingml/2006/main" noGrp="1"/>
          </p:cNvSpPr>
          <p:nvPr/>
        </p:nvSpPr>
        <p:spPr>
          <a:xfrm xmlns:a="http://schemas.openxmlformats.org/drawingml/2006/main">
            <a:off x="2152650" y="3714750"/>
            <a:ext cx="9525" cy="466725"/>
          </a:xfrm>
          <a:custGeom xmlns:a="http://schemas.openxmlformats.org/drawingml/2006/main">
            <a:pathLst>
              <a:path w="9525" h="466725">
                <a:moveTo>
                  <a:pt x="0" y="0"/>
                </a:moveTo>
                <a:lnTo>
                  <a:pt x="0" y="466725"/>
                </a:lnTo>
              </a:path>
            </a:pathLst>
          </a:custGeom>
          <a:noFill xmlns:a="http://schemas.openxmlformats.org/drawingml/2006/main"/>
          <a:ln xmlns:a="http://schemas.openxmlformats.org/drawingml/2006/main" w="20955">
            <a:solidFill>
              <a:srgbClr val="231F20"/>
            </a:solidFill>
          </a:ln>
        </p:spPr>
      </p:sp>
      <p:sp>
        <p:nvSpPr>
          <p:cNvPr id="25" name="wire-57">
            <a:extLst xmlns:a="http://schemas.openxmlformats.org/drawingml/2006/main">
              <a:ext uri="{FF2B5EF4-FFF2-40B4-BE49-F238E27FC236}">
                <a16:creationId xmlns:a16="http://schemas.microsoft.com/office/drawing/2014/main" id="{780E1788-AA53-4EFB-8989-75B86A6E0C25}"/>
              </a:ext>
            </a:extLst>
          </p:cNvPr>
          <p:cNvSpPr>
            <a:spLocks xmlns:a="http://schemas.openxmlformats.org/drawingml/2006/main" noGrp="1"/>
          </p:cNvSpPr>
          <p:nvPr/>
        </p:nvSpPr>
        <p:spPr>
          <a:xfrm xmlns:a="http://schemas.openxmlformats.org/drawingml/2006/main">
            <a:off x="6096000" y="3714750"/>
            <a:ext cx="9525" cy="466725"/>
          </a:xfrm>
          <a:custGeom xmlns:a="http://schemas.openxmlformats.org/drawingml/2006/main">
            <a:pathLst>
              <a:path w="9525" h="466725">
                <a:moveTo>
                  <a:pt x="0" y="0"/>
                </a:moveTo>
                <a:lnTo>
                  <a:pt x="0" y="466725"/>
                </a:lnTo>
              </a:path>
            </a:pathLst>
          </a:custGeom>
          <a:noFill xmlns:a="http://schemas.openxmlformats.org/drawingml/2006/main"/>
          <a:ln xmlns:a="http://schemas.openxmlformats.org/drawingml/2006/main" w="20955">
            <a:solidFill>
              <a:srgbClr val="231F20"/>
            </a:solidFill>
          </a:ln>
        </p:spPr>
      </p:sp>
      <p:sp>
        <p:nvSpPr>
          <p:cNvPr id="26" name="circuit-58">
            <a:extLst xmlns:a="http://schemas.openxmlformats.org/drawingml/2006/main">
              <a:ext uri="{FF2B5EF4-FFF2-40B4-BE49-F238E27FC236}">
                <a16:creationId xmlns:a16="http://schemas.microsoft.com/office/drawing/2014/main" id="{0587471F-98C5-4DE4-B89E-F69624936F1B}"/>
              </a:ext>
            </a:extLst>
          </p:cNvPr>
          <p:cNvSpPr>
            <a:spLocks xmlns:a="http://schemas.openxmlformats.org/drawingml/2006/main" noGrp="1"/>
          </p:cNvSpPr>
          <p:nvPr/>
        </p:nvSpPr>
        <p:spPr>
          <a:xfrm xmlns:a="http://schemas.openxmlformats.org/drawingml/2006/main">
            <a:off x="2543175" y="4943475"/>
            <a:ext cx="2952750" cy="72390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27" name="text-59">
            <a:extLst xmlns:a="http://schemas.openxmlformats.org/drawingml/2006/main">
              <a:ext uri="{FF2B5EF4-FFF2-40B4-BE49-F238E27FC236}">
                <a16:creationId xmlns:a16="http://schemas.microsoft.com/office/drawing/2014/main" id="{522C3C29-3886-4490-BADC-51EA0F3BAF2E}"/>
              </a:ext>
            </a:extLst>
          </p:cNvPr>
          <p:cNvSpPr>
            <a:spLocks xmlns:a="http://schemas.openxmlformats.org/drawingml/2006/main" noGrp="1"/>
          </p:cNvSpPr>
          <p:nvPr/>
        </p:nvSpPr>
        <p:spPr>
          <a:xfrm xmlns:a="http://schemas.openxmlformats.org/drawingml/2006/main">
            <a:off x="2657475" y="5000625"/>
            <a:ext cx="27241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250" b="0">
                <a:solidFill>
                  <a:srgbClr val="231F20"/>
                </a:solidFill>
                <a:latin typeface="Meiryo"/>
                <a:ea typeface="Meiryo"/>
                <a:cs typeface="Meiryo"/>
              </a:defRPr>
            </a:defPPr>
          </a:lstStyle>
          <a:p xmlns:a="http://schemas.openxmlformats.org/drawingml/2006/main">
            <a:pPr algn="ctr">
              <a:defRPr sz="2250" b="0">
                <a:solidFill>
                  <a:srgbClr val="231F20"/>
                </a:solidFill>
                <a:latin typeface="Meiryo"/>
                <a:ea typeface="Meiryo"/>
                <a:cs typeface="Meiryo"/>
              </a:defRPr>
            </a:pPr>
            <a:r>
              <a:rPr sz="2250" b="0">
                <a:solidFill>
                  <a:srgbClr val="231F20"/>
                </a:solidFill>
                <a:latin typeface="Meiryo"/>
                <a:ea typeface="Meiryo"/>
                <a:cs typeface="Meiryo"/>
              </a:rPr>
              <a:t>Wally</a:t>
            </a:r>
          </a:p>
          <a:p xmlns:a="http://schemas.openxmlformats.org/drawingml/2006/main">
            <a:pPr algn="ctr">
              <a:defRPr sz="2250" b="0">
                <a:solidFill>
                  <a:srgbClr val="231F20"/>
                </a:solidFill>
                <a:latin typeface="Meiryo"/>
                <a:ea typeface="Meiryo"/>
                <a:cs typeface="Meiryo"/>
              </a:defRPr>
            </a:pPr>
            <a:r>
              <a:rPr sz="2250" b="0">
                <a:solidFill>
                  <a:srgbClr val="231F20"/>
                </a:solidFill>
                <a:latin typeface="Meiryo"/>
                <a:ea typeface="Meiryo"/>
                <a:cs typeface="Meiryo"/>
              </a:rPr>
              <a:t>CPU</a:t>
            </a:r>
          </a:p>
        </p:txBody>
      </p:sp>
      <p:sp>
        <p:nvSpPr>
          <p:cNvPr id="28" name="wire-60">
            <a:extLst xmlns:a="http://schemas.openxmlformats.org/drawingml/2006/main">
              <a:ext uri="{FF2B5EF4-FFF2-40B4-BE49-F238E27FC236}">
                <a16:creationId xmlns:a16="http://schemas.microsoft.com/office/drawing/2014/main" id="{B4E7433A-5E94-4623-8B61-746DE7690714}"/>
              </a:ext>
            </a:extLst>
          </p:cNvPr>
          <p:cNvSpPr>
            <a:spLocks xmlns:a="http://schemas.openxmlformats.org/drawingml/2006/main" noGrp="1"/>
          </p:cNvSpPr>
          <p:nvPr/>
        </p:nvSpPr>
        <p:spPr>
          <a:xfrm xmlns:a="http://schemas.openxmlformats.org/drawingml/2006/main">
            <a:off x="4019550" y="4619625"/>
            <a:ext cx="9525" cy="323850"/>
          </a:xfrm>
          <a:custGeom xmlns:a="http://schemas.openxmlformats.org/drawingml/2006/main">
            <a:pathLst>
              <a:path w="9525" h="323850">
                <a:moveTo>
                  <a:pt x="0" y="323850"/>
                </a:moveTo>
                <a:lnTo>
                  <a:pt x="0" y="0"/>
                </a:lnTo>
              </a:path>
            </a:pathLst>
          </a:custGeom>
          <a:noFill xmlns:a="http://schemas.openxmlformats.org/drawingml/2006/main"/>
          <a:ln xmlns:a="http://schemas.openxmlformats.org/drawingml/2006/main" w="20955">
            <a:solidFill>
              <a:srgbClr val="231F20"/>
            </a:solidFill>
          </a:ln>
        </p:spPr>
      </p:sp>
      <p:sp>
        <p:nvSpPr>
          <p:cNvPr id="29" name="circuit-61">
            <a:extLst xmlns:a="http://schemas.openxmlformats.org/drawingml/2006/main">
              <a:ext uri="{FF2B5EF4-FFF2-40B4-BE49-F238E27FC236}">
                <a16:creationId xmlns:a16="http://schemas.microsoft.com/office/drawing/2014/main" id="{48AB9A6D-1B3E-4E7B-B465-E4EE3FCA2D84}"/>
              </a:ext>
            </a:extLst>
          </p:cNvPr>
          <p:cNvSpPr>
            <a:spLocks xmlns:a="http://schemas.openxmlformats.org/drawingml/2006/main" noGrp="1"/>
          </p:cNvSpPr>
          <p:nvPr/>
        </p:nvSpPr>
        <p:spPr>
          <a:xfrm xmlns:a="http://schemas.openxmlformats.org/drawingml/2006/main">
            <a:off x="7553325" y="4181475"/>
            <a:ext cx="1809750" cy="43815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30" name="text-62">
            <a:extLst xmlns:a="http://schemas.openxmlformats.org/drawingml/2006/main">
              <a:ext uri="{FF2B5EF4-FFF2-40B4-BE49-F238E27FC236}">
                <a16:creationId xmlns:a16="http://schemas.microsoft.com/office/drawing/2014/main" id="{3BDCFB0C-FF2E-4106-86DB-161C2E4E2095}"/>
              </a:ext>
            </a:extLst>
          </p:cNvPr>
          <p:cNvSpPr>
            <a:spLocks xmlns:a="http://schemas.openxmlformats.org/drawingml/2006/main" noGrp="1"/>
          </p:cNvSpPr>
          <p:nvPr/>
        </p:nvSpPr>
        <p:spPr>
          <a:xfrm xmlns:a="http://schemas.openxmlformats.org/drawingml/2006/main">
            <a:off x="7667625" y="4238625"/>
            <a:ext cx="1581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0">
                <a:solidFill>
                  <a:srgbClr val="231F20"/>
                </a:solidFill>
                <a:latin typeface="Meiryo"/>
                <a:ea typeface="Meiryo"/>
                <a:cs typeface="Meiryo"/>
              </a:defRPr>
            </a:defPPr>
          </a:lstStyle>
          <a:p xmlns:a="http://schemas.openxmlformats.org/drawingml/2006/main">
            <a:pPr algn="ctr">
              <a:defRPr sz="1800" b="0">
                <a:solidFill>
                  <a:srgbClr val="231F20"/>
                </a:solidFill>
                <a:latin typeface="Meiryo"/>
                <a:ea typeface="Meiryo"/>
                <a:cs typeface="Meiryo"/>
              </a:defRPr>
            </a:pPr>
            <a:r>
              <a:rPr sz="1800" b="0">
                <a:solidFill>
                  <a:srgbClr val="231F20"/>
                </a:solidFill>
                <a:latin typeface="Meiryo"/>
                <a:ea typeface="Meiryo"/>
                <a:cs typeface="Meiryo"/>
              </a:rPr>
              <a:t>命令の接続</a:t>
            </a:r>
          </a:p>
        </p:txBody>
      </p:sp>
      <p:sp>
        <p:nvSpPr>
          <p:cNvPr id="31" name="wire-63">
            <a:extLst xmlns:a="http://schemas.openxmlformats.org/drawingml/2006/main">
              <a:ext uri="{FF2B5EF4-FFF2-40B4-BE49-F238E27FC236}">
                <a16:creationId xmlns:a16="http://schemas.microsoft.com/office/drawing/2014/main" id="{8AAFE06C-16C1-4F94-A78B-0BECE6D1E58C}"/>
              </a:ext>
            </a:extLst>
          </p:cNvPr>
          <p:cNvSpPr>
            <a:spLocks xmlns:a="http://schemas.openxmlformats.org/drawingml/2006/main" noGrp="1"/>
          </p:cNvSpPr>
          <p:nvPr/>
        </p:nvSpPr>
        <p:spPr>
          <a:xfrm xmlns:a="http://schemas.openxmlformats.org/drawingml/2006/main">
            <a:off x="7115175" y="4400550"/>
            <a:ext cx="438150" cy="9525"/>
          </a:xfrm>
          <a:custGeom xmlns:a="http://schemas.openxmlformats.org/drawingml/2006/main">
            <a:pathLst>
              <a:path w="438150" h="9525">
                <a:moveTo>
                  <a:pt x="0" y="0"/>
                </a:moveTo>
                <a:lnTo>
                  <a:pt x="438150" y="0"/>
                </a:lnTo>
              </a:path>
            </a:pathLst>
          </a:custGeom>
          <a:noFill xmlns:a="http://schemas.openxmlformats.org/drawingml/2006/main"/>
          <a:ln xmlns:a="http://schemas.openxmlformats.org/drawingml/2006/main" w="20955">
            <a:solidFill>
              <a:srgbClr val="231F20"/>
            </a:solidFill>
          </a:ln>
        </p:spPr>
      </p:sp>
      <p:sp>
        <p:nvSpPr>
          <p:cNvPr id="32" name="logic-64">
            <a:extLst xmlns:a="http://schemas.openxmlformats.org/drawingml/2006/main">
              <a:ext uri="{FF2B5EF4-FFF2-40B4-BE49-F238E27FC236}">
                <a16:creationId xmlns:a16="http://schemas.microsoft.com/office/drawing/2014/main" id="{32C1BDD6-E347-4BF9-B196-E4230EA008BC}"/>
              </a:ext>
            </a:extLst>
          </p:cNvPr>
          <p:cNvSpPr>
            <a:spLocks xmlns:a="http://schemas.openxmlformats.org/drawingml/2006/main" noGrp="1"/>
          </p:cNvSpPr>
          <p:nvPr/>
        </p:nvSpPr>
        <p:spPr>
          <a:xfrm xmlns:a="http://schemas.openxmlformats.org/drawingml/2006/main">
            <a:off x="7439025" y="4352925"/>
            <a:ext cx="114300" cy="95250"/>
          </a:xfrm>
          <a:custGeom xmlns:a="http://schemas.openxmlformats.org/drawingml/2006/main">
            <a:pathLst>
              <a:path w="114300" h="95250">
                <a:moveTo>
                  <a:pt x="114300" y="47625"/>
                </a:moveTo>
                <a:lnTo>
                  <a:pt x="0" y="0"/>
                </a:lnTo>
                <a:lnTo>
                  <a:pt x="0" y="95250"/>
                </a:lnTo>
                <a:close/>
              </a:path>
            </a:pathLst>
          </a:custGeom>
          <a:solidFill xmlns:a="http://schemas.openxmlformats.org/drawingml/2006/main">
            <a:srgbClr val="231F20"/>
          </a:solidFill>
          <a:ln xmlns:a="http://schemas.openxmlformats.org/drawingml/2006/main" w="19050">
            <a:solidFill>
              <a:srgbClr val="231F20"/>
            </a:solidFill>
          </a:ln>
        </p:spPr>
      </p:sp>
      <p:sp>
        <p:nvSpPr>
          <p:cNvPr id="33" name="circuit-65">
            <a:extLst xmlns:a="http://schemas.openxmlformats.org/drawingml/2006/main">
              <a:ext uri="{FF2B5EF4-FFF2-40B4-BE49-F238E27FC236}">
                <a16:creationId xmlns:a16="http://schemas.microsoft.com/office/drawing/2014/main" id="{6329EAAD-2951-4BFD-BF9B-E77419BEE081}"/>
              </a:ext>
            </a:extLst>
          </p:cNvPr>
          <p:cNvSpPr>
            <a:spLocks xmlns:a="http://schemas.openxmlformats.org/drawingml/2006/main" noGrp="1"/>
          </p:cNvSpPr>
          <p:nvPr/>
        </p:nvSpPr>
        <p:spPr>
          <a:xfrm xmlns:a="http://schemas.openxmlformats.org/drawingml/2006/main">
            <a:off x="7553325" y="4943475"/>
            <a:ext cx="3343275" cy="72390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34" name="text-66">
            <a:extLst xmlns:a="http://schemas.openxmlformats.org/drawingml/2006/main">
              <a:ext uri="{FF2B5EF4-FFF2-40B4-BE49-F238E27FC236}">
                <a16:creationId xmlns:a16="http://schemas.microsoft.com/office/drawing/2014/main" id="{FF414F51-8474-4267-98A7-A2C27406D0E9}"/>
              </a:ext>
            </a:extLst>
          </p:cNvPr>
          <p:cNvSpPr>
            <a:spLocks xmlns:a="http://schemas.openxmlformats.org/drawingml/2006/main" noGrp="1"/>
          </p:cNvSpPr>
          <p:nvPr/>
        </p:nvSpPr>
        <p:spPr>
          <a:xfrm xmlns:a="http://schemas.openxmlformats.org/drawingml/2006/main">
            <a:off x="7667625" y="5000625"/>
            <a:ext cx="311467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00" b="0">
                <a:solidFill>
                  <a:srgbClr val="231F20"/>
                </a:solidFill>
                <a:latin typeface="Meiryo"/>
                <a:ea typeface="Meiryo"/>
                <a:cs typeface="Meiryo"/>
              </a:defRPr>
            </a:defPPr>
          </a:lstStyle>
          <a:p xmlns:a="http://schemas.openxmlformats.org/drawingml/2006/main">
            <a:pPr algn="ctr">
              <a:defRPr sz="2100" b="0">
                <a:solidFill>
                  <a:srgbClr val="231F20"/>
                </a:solidFill>
                <a:latin typeface="Meiryo"/>
                <a:ea typeface="Meiryo"/>
                <a:cs typeface="Meiryo"/>
              </a:defRPr>
            </a:pPr>
            <a:r>
              <a:rPr sz="2100" b="0">
                <a:solidFill>
                  <a:srgbClr val="231F20"/>
                </a:solidFill>
                <a:latin typeface="Meiryo"/>
                <a:ea typeface="Meiryo"/>
                <a:cs typeface="Meiryo"/>
              </a:rPr>
              <a:t>RasterIX</a:t>
            </a:r>
          </a:p>
          <a:p xmlns:a="http://schemas.openxmlformats.org/drawingml/2006/main">
            <a:pPr algn="ctr">
              <a:defRPr sz="2100" b="0">
                <a:solidFill>
                  <a:srgbClr val="231F20"/>
                </a:solidFill>
                <a:latin typeface="Meiryo"/>
                <a:ea typeface="Meiryo"/>
                <a:cs typeface="Meiryo"/>
              </a:defRPr>
            </a:pPr>
            <a:r>
              <a:rPr sz="2100" b="0">
                <a:solidFill>
                  <a:srgbClr val="231F20"/>
                </a:solidFill>
                <a:latin typeface="Meiryo"/>
                <a:ea typeface="Meiryo"/>
                <a:cs typeface="Meiryo"/>
              </a:rPr>
              <a:t>描画回路</a:t>
            </a:r>
          </a:p>
        </p:txBody>
      </p:sp>
      <p:sp>
        <p:nvSpPr>
          <p:cNvPr id="35" name="wire-67">
            <a:extLst xmlns:a="http://schemas.openxmlformats.org/drawingml/2006/main">
              <a:ext uri="{FF2B5EF4-FFF2-40B4-BE49-F238E27FC236}">
                <a16:creationId xmlns:a16="http://schemas.microsoft.com/office/drawing/2014/main" id="{BFCB5087-1D80-4B86-80D7-2A0D93BD987E}"/>
              </a:ext>
            </a:extLst>
          </p:cNvPr>
          <p:cNvSpPr>
            <a:spLocks xmlns:a="http://schemas.openxmlformats.org/drawingml/2006/main" noGrp="1"/>
          </p:cNvSpPr>
          <p:nvPr/>
        </p:nvSpPr>
        <p:spPr>
          <a:xfrm xmlns:a="http://schemas.openxmlformats.org/drawingml/2006/main">
            <a:off x="8467725" y="4619625"/>
            <a:ext cx="9525" cy="323850"/>
          </a:xfrm>
          <a:custGeom xmlns:a="http://schemas.openxmlformats.org/drawingml/2006/main">
            <a:pathLst>
              <a:path w="9525" h="323850">
                <a:moveTo>
                  <a:pt x="0" y="0"/>
                </a:moveTo>
                <a:lnTo>
                  <a:pt x="0" y="323850"/>
                </a:lnTo>
              </a:path>
            </a:pathLst>
          </a:custGeom>
          <a:noFill xmlns:a="http://schemas.openxmlformats.org/drawingml/2006/main"/>
          <a:ln xmlns:a="http://schemas.openxmlformats.org/drawingml/2006/main" w="20955">
            <a:solidFill>
              <a:srgbClr val="231F20"/>
            </a:solidFill>
          </a:ln>
        </p:spPr>
      </p:sp>
      <p:sp>
        <p:nvSpPr>
          <p:cNvPr id="36" name="logic-68">
            <a:extLst xmlns:a="http://schemas.openxmlformats.org/drawingml/2006/main">
              <a:ext uri="{FF2B5EF4-FFF2-40B4-BE49-F238E27FC236}">
                <a16:creationId xmlns:a16="http://schemas.microsoft.com/office/drawing/2014/main" id="{1415AE55-0850-4BE5-B0E1-4F0228BB60E2}"/>
              </a:ext>
            </a:extLst>
          </p:cNvPr>
          <p:cNvSpPr>
            <a:spLocks xmlns:a="http://schemas.openxmlformats.org/drawingml/2006/main" noGrp="1"/>
          </p:cNvSpPr>
          <p:nvPr/>
        </p:nvSpPr>
        <p:spPr>
          <a:xfrm xmlns:a="http://schemas.openxmlformats.org/drawingml/2006/main">
            <a:off x="8420100" y="4829175"/>
            <a:ext cx="95250" cy="114300"/>
          </a:xfrm>
          <a:custGeom xmlns:a="http://schemas.openxmlformats.org/drawingml/2006/main">
            <a:pathLst>
              <a:path w="95250" h="114300">
                <a:moveTo>
                  <a:pt x="47625" y="114300"/>
                </a:moveTo>
                <a:lnTo>
                  <a:pt x="95250" y="0"/>
                </a:lnTo>
                <a:lnTo>
                  <a:pt x="0" y="0"/>
                </a:lnTo>
                <a:close/>
              </a:path>
            </a:pathLst>
          </a:custGeom>
          <a:solidFill xmlns:a="http://schemas.openxmlformats.org/drawingml/2006/main">
            <a:srgbClr val="231F20"/>
          </a:solidFill>
          <a:ln xmlns:a="http://schemas.openxmlformats.org/drawingml/2006/main" w="19050">
            <a:solidFill>
              <a:srgbClr val="231F20"/>
            </a:solidFill>
          </a:ln>
        </p:spPr>
      </p:sp>
      <p:sp>
        <p:nvSpPr>
          <p:cNvPr id="37" name="wire-69">
            <a:extLst xmlns:a="http://schemas.openxmlformats.org/drawingml/2006/main">
              <a:ext uri="{FF2B5EF4-FFF2-40B4-BE49-F238E27FC236}">
                <a16:creationId xmlns:a16="http://schemas.microsoft.com/office/drawing/2014/main" id="{CFA0BA97-74F2-445D-9304-9D1F84A31907}"/>
              </a:ext>
            </a:extLst>
          </p:cNvPr>
          <p:cNvSpPr>
            <a:spLocks xmlns:a="http://schemas.openxmlformats.org/drawingml/2006/main" noGrp="1"/>
          </p:cNvSpPr>
          <p:nvPr/>
        </p:nvSpPr>
        <p:spPr>
          <a:xfrm xmlns:a="http://schemas.openxmlformats.org/drawingml/2006/main">
            <a:off x="7229475" y="3400425"/>
            <a:ext cx="247650" cy="9525"/>
          </a:xfrm>
          <a:custGeom xmlns:a="http://schemas.openxmlformats.org/drawingml/2006/main">
            <a:pathLst>
              <a:path w="247650" h="9525">
                <a:moveTo>
                  <a:pt x="0" y="0"/>
                </a:moveTo>
                <a:lnTo>
                  <a:pt x="247650" y="0"/>
                </a:lnTo>
              </a:path>
            </a:pathLst>
          </a:custGeom>
          <a:noFill xmlns:a="http://schemas.openxmlformats.org/drawingml/2006/main"/>
          <a:ln xmlns:a="http://schemas.openxmlformats.org/drawingml/2006/main" w="20955">
            <a:solidFill>
              <a:srgbClr val="231F20"/>
            </a:solidFill>
          </a:ln>
        </p:spPr>
      </p:sp>
      <p:sp>
        <p:nvSpPr>
          <p:cNvPr id="38" name="wire-70">
            <a:extLst xmlns:a="http://schemas.openxmlformats.org/drawingml/2006/main">
              <a:ext uri="{FF2B5EF4-FFF2-40B4-BE49-F238E27FC236}">
                <a16:creationId xmlns:a16="http://schemas.microsoft.com/office/drawing/2014/main" id="{575461BF-78C2-48B7-ADF3-8255279D2385}"/>
              </a:ext>
            </a:extLst>
          </p:cNvPr>
          <p:cNvSpPr>
            <a:spLocks xmlns:a="http://schemas.openxmlformats.org/drawingml/2006/main" noGrp="1"/>
          </p:cNvSpPr>
          <p:nvPr/>
        </p:nvSpPr>
        <p:spPr>
          <a:xfrm xmlns:a="http://schemas.openxmlformats.org/drawingml/2006/main">
            <a:off x="7477125" y="3400425"/>
            <a:ext cx="9525" cy="1838325"/>
          </a:xfrm>
          <a:custGeom xmlns:a="http://schemas.openxmlformats.org/drawingml/2006/main">
            <a:pathLst>
              <a:path w="9525" h="1838325">
                <a:moveTo>
                  <a:pt x="0" y="0"/>
                </a:moveTo>
                <a:lnTo>
                  <a:pt x="0" y="1838325"/>
                </a:lnTo>
              </a:path>
            </a:pathLst>
          </a:custGeom>
          <a:noFill xmlns:a="http://schemas.openxmlformats.org/drawingml/2006/main"/>
          <a:ln xmlns:a="http://schemas.openxmlformats.org/drawingml/2006/main" w="20955">
            <a:solidFill>
              <a:srgbClr val="231F20"/>
            </a:solidFill>
          </a:ln>
        </p:spPr>
      </p:sp>
      <p:sp>
        <p:nvSpPr>
          <p:cNvPr id="39" name="wire-71">
            <a:extLst xmlns:a="http://schemas.openxmlformats.org/drawingml/2006/main">
              <a:ext uri="{FF2B5EF4-FFF2-40B4-BE49-F238E27FC236}">
                <a16:creationId xmlns:a16="http://schemas.microsoft.com/office/drawing/2014/main" id="{6B02F194-867F-4396-B437-F82224ECE996}"/>
              </a:ext>
            </a:extLst>
          </p:cNvPr>
          <p:cNvSpPr>
            <a:spLocks xmlns:a="http://schemas.openxmlformats.org/drawingml/2006/main" noGrp="1"/>
          </p:cNvSpPr>
          <p:nvPr/>
        </p:nvSpPr>
        <p:spPr>
          <a:xfrm xmlns:a="http://schemas.openxmlformats.org/drawingml/2006/main">
            <a:off x="7477125" y="5238750"/>
            <a:ext cx="76200" cy="9525"/>
          </a:xfrm>
          <a:custGeom xmlns:a="http://schemas.openxmlformats.org/drawingml/2006/main">
            <a:pathLst>
              <a:path w="76200" h="9525">
                <a:moveTo>
                  <a:pt x="0" y="0"/>
                </a:moveTo>
                <a:lnTo>
                  <a:pt x="76200" y="0"/>
                </a:lnTo>
              </a:path>
            </a:pathLst>
          </a:custGeom>
          <a:noFill xmlns:a="http://schemas.openxmlformats.org/drawingml/2006/main"/>
          <a:ln xmlns:a="http://schemas.openxmlformats.org/drawingml/2006/main" w="20955">
            <a:solidFill>
              <a:srgbClr val="231F20"/>
            </a:solidFill>
          </a:ln>
        </p:spPr>
      </p:sp>
      <p:sp>
        <p:nvSpPr>
          <p:cNvPr id="40" name="wire-72">
            <a:extLst xmlns:a="http://schemas.openxmlformats.org/drawingml/2006/main">
              <a:ext uri="{FF2B5EF4-FFF2-40B4-BE49-F238E27FC236}">
                <a16:creationId xmlns:a16="http://schemas.microsoft.com/office/drawing/2014/main" id="{9DCA05C3-BFF4-4DBA-98E5-011BFF5EED3F}"/>
              </a:ext>
            </a:extLst>
          </p:cNvPr>
          <p:cNvSpPr>
            <a:spLocks xmlns:a="http://schemas.openxmlformats.org/drawingml/2006/main" noGrp="1"/>
          </p:cNvSpPr>
          <p:nvPr/>
        </p:nvSpPr>
        <p:spPr>
          <a:xfrm xmlns:a="http://schemas.openxmlformats.org/drawingml/2006/main">
            <a:off x="7229475" y="3314700"/>
            <a:ext cx="1933575" cy="9525"/>
          </a:xfrm>
          <a:custGeom xmlns:a="http://schemas.openxmlformats.org/drawingml/2006/main">
            <a:pathLst>
              <a:path w="1933575" h="9525">
                <a:moveTo>
                  <a:pt x="0" y="0"/>
                </a:moveTo>
                <a:lnTo>
                  <a:pt x="1933575" y="0"/>
                </a:lnTo>
              </a:path>
            </a:pathLst>
          </a:custGeom>
          <a:noFill xmlns:a="http://schemas.openxmlformats.org/drawingml/2006/main"/>
          <a:ln xmlns:a="http://schemas.openxmlformats.org/drawingml/2006/main" w="20955">
            <a:solidFill>
              <a:srgbClr val="231F20"/>
            </a:solidFill>
          </a:ln>
        </p:spPr>
      </p:sp>
      <p:sp>
        <p:nvSpPr>
          <p:cNvPr id="41" name="logic-73">
            <a:extLst xmlns:a="http://schemas.openxmlformats.org/drawingml/2006/main">
              <a:ext uri="{FF2B5EF4-FFF2-40B4-BE49-F238E27FC236}">
                <a16:creationId xmlns:a16="http://schemas.microsoft.com/office/drawing/2014/main" id="{76BD342E-E0C1-48A0-A465-2BCF147116D9}"/>
              </a:ext>
            </a:extLst>
          </p:cNvPr>
          <p:cNvSpPr>
            <a:spLocks xmlns:a="http://schemas.openxmlformats.org/drawingml/2006/main" noGrp="1"/>
          </p:cNvSpPr>
          <p:nvPr/>
        </p:nvSpPr>
        <p:spPr>
          <a:xfrm xmlns:a="http://schemas.openxmlformats.org/drawingml/2006/main">
            <a:off x="9048750" y="3267075"/>
            <a:ext cx="114300" cy="95250"/>
          </a:xfrm>
          <a:custGeom xmlns:a="http://schemas.openxmlformats.org/drawingml/2006/main">
            <a:pathLst>
              <a:path w="114300" h="95250">
                <a:moveTo>
                  <a:pt x="114300" y="47625"/>
                </a:moveTo>
                <a:lnTo>
                  <a:pt x="0" y="0"/>
                </a:lnTo>
                <a:lnTo>
                  <a:pt x="0" y="95250"/>
                </a:lnTo>
                <a:close/>
              </a:path>
            </a:pathLst>
          </a:custGeom>
          <a:solidFill xmlns:a="http://schemas.openxmlformats.org/drawingml/2006/main">
            <a:srgbClr val="231F20"/>
          </a:solidFill>
          <a:ln xmlns:a="http://schemas.openxmlformats.org/drawingml/2006/main" w="19050">
            <a:solidFill>
              <a:srgbClr val="231F20"/>
            </a:solidFill>
          </a:ln>
        </p:spPr>
      </p:sp>
      <p:sp>
        <p:nvSpPr>
          <p:cNvPr id="42" name="text-74">
            <a:extLst xmlns:a="http://schemas.openxmlformats.org/drawingml/2006/main">
              <a:ext uri="{FF2B5EF4-FFF2-40B4-BE49-F238E27FC236}">
                <a16:creationId xmlns:a16="http://schemas.microsoft.com/office/drawing/2014/main" id="{1E42A30F-6D68-4A5A-9A20-B3B67CF68771}"/>
              </a:ext>
            </a:extLst>
          </p:cNvPr>
          <p:cNvSpPr>
            <a:spLocks xmlns:a="http://schemas.openxmlformats.org/drawingml/2006/main" noGrp="1"/>
          </p:cNvSpPr>
          <p:nvPr/>
        </p:nvSpPr>
        <p:spPr>
          <a:xfrm xmlns:a="http://schemas.openxmlformats.org/drawingml/2006/main">
            <a:off x="7419975" y="2971800"/>
            <a:ext cx="16764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231F20"/>
                </a:solidFill>
                <a:latin typeface="Meiryo"/>
                <a:ea typeface="Meiryo"/>
                <a:cs typeface="Meiryo"/>
              </a:defRPr>
            </a:defPPr>
          </a:lstStyle>
          <a:p xmlns:a="http://schemas.openxmlformats.org/drawingml/2006/main">
            <a:pPr algn="l">
              <a:defRPr sz="1500" b="0">
                <a:solidFill>
                  <a:srgbClr val="231F20"/>
                </a:solidFill>
                <a:latin typeface="Meiryo"/>
                <a:ea typeface="Meiryo"/>
                <a:cs typeface="Meiryo"/>
              </a:defRPr>
            </a:pPr>
            <a:r>
              <a:rPr sz="1500" b="0">
                <a:solidFill>
                  <a:srgbClr val="231F20"/>
                </a:solidFill>
                <a:latin typeface="Meiryo"/>
                <a:ea typeface="Meiryo"/>
                <a:cs typeface="Meiryo"/>
              </a:rPr>
              <a:t>画像の読出し</a:t>
            </a:r>
          </a:p>
        </p:txBody>
      </p:sp>
      <p:sp>
        <p:nvSpPr>
          <p:cNvPr id="43" name="wire-75">
            <a:extLst xmlns:a="http://schemas.openxmlformats.org/drawingml/2006/main">
              <a:ext uri="{FF2B5EF4-FFF2-40B4-BE49-F238E27FC236}">
                <a16:creationId xmlns:a16="http://schemas.microsoft.com/office/drawing/2014/main" id="{06C37ED9-4C23-4927-97FB-D27104078884}"/>
              </a:ext>
            </a:extLst>
          </p:cNvPr>
          <p:cNvSpPr>
            <a:spLocks xmlns:a="http://schemas.openxmlformats.org/drawingml/2006/main" noGrp="1"/>
          </p:cNvSpPr>
          <p:nvPr/>
        </p:nvSpPr>
        <p:spPr>
          <a:xfrm xmlns:a="http://schemas.openxmlformats.org/drawingml/2006/main">
            <a:off x="10391775" y="3714750"/>
            <a:ext cx="9525" cy="1228725"/>
          </a:xfrm>
          <a:custGeom xmlns:a="http://schemas.openxmlformats.org/drawingml/2006/main">
            <a:pathLst>
              <a:path w="9525" h="1228725">
                <a:moveTo>
                  <a:pt x="0" y="1228725"/>
                </a:moveTo>
                <a:lnTo>
                  <a:pt x="0" y="0"/>
                </a:lnTo>
              </a:path>
            </a:pathLst>
          </a:custGeom>
          <a:noFill xmlns:a="http://schemas.openxmlformats.org/drawingml/2006/main"/>
          <a:ln xmlns:a="http://schemas.openxmlformats.org/drawingml/2006/main" w="20955">
            <a:solidFill>
              <a:srgbClr val="1673C3"/>
            </a:solidFill>
          </a:ln>
        </p:spPr>
      </p:sp>
      <p:sp>
        <p:nvSpPr>
          <p:cNvPr id="44" name="logic-76">
            <a:extLst xmlns:a="http://schemas.openxmlformats.org/drawingml/2006/main">
              <a:ext uri="{FF2B5EF4-FFF2-40B4-BE49-F238E27FC236}">
                <a16:creationId xmlns:a16="http://schemas.microsoft.com/office/drawing/2014/main" id="{209EB2E7-C453-40E6-8732-6702CABBCEF8}"/>
              </a:ext>
            </a:extLst>
          </p:cNvPr>
          <p:cNvSpPr>
            <a:spLocks xmlns:a="http://schemas.openxmlformats.org/drawingml/2006/main" noGrp="1"/>
          </p:cNvSpPr>
          <p:nvPr/>
        </p:nvSpPr>
        <p:spPr>
          <a:xfrm xmlns:a="http://schemas.openxmlformats.org/drawingml/2006/main">
            <a:off x="10344150" y="3714750"/>
            <a:ext cx="95250" cy="114300"/>
          </a:xfrm>
          <a:custGeom xmlns:a="http://schemas.openxmlformats.org/drawingml/2006/main">
            <a:pathLst>
              <a:path w="95250" h="114300">
                <a:moveTo>
                  <a:pt x="47625" y="0"/>
                </a:moveTo>
                <a:lnTo>
                  <a:pt x="0" y="114300"/>
                </a:lnTo>
                <a:lnTo>
                  <a:pt x="95250" y="114300"/>
                </a:lnTo>
                <a:close/>
              </a:path>
            </a:pathLst>
          </a:custGeom>
          <a:solidFill xmlns:a="http://schemas.openxmlformats.org/drawingml/2006/main">
            <a:srgbClr val="1673C3"/>
          </a:solidFill>
          <a:ln xmlns:a="http://schemas.openxmlformats.org/drawingml/2006/main" w="19050">
            <a:solidFill>
              <a:srgbClr val="1673C3"/>
            </a:solidFill>
          </a:ln>
        </p:spPr>
      </p:sp>
      <p:sp>
        <p:nvSpPr>
          <p:cNvPr id="45" name="text-77">
            <a:extLst xmlns:a="http://schemas.openxmlformats.org/drawingml/2006/main">
              <a:ext uri="{FF2B5EF4-FFF2-40B4-BE49-F238E27FC236}">
                <a16:creationId xmlns:a16="http://schemas.microsoft.com/office/drawing/2014/main" id="{84AB9170-EA51-4A61-95A2-92B979FF784E}"/>
              </a:ext>
            </a:extLst>
          </p:cNvPr>
          <p:cNvSpPr>
            <a:spLocks xmlns:a="http://schemas.openxmlformats.org/drawingml/2006/main" noGrp="1"/>
          </p:cNvSpPr>
          <p:nvPr/>
        </p:nvSpPr>
        <p:spPr>
          <a:xfrm xmlns:a="http://schemas.openxmlformats.org/drawingml/2006/main">
            <a:off x="9382125" y="3743325"/>
            <a:ext cx="1638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1673C3"/>
                </a:solidFill>
                <a:latin typeface="Meiryo"/>
                <a:ea typeface="Meiryo"/>
                <a:cs typeface="Meiryo"/>
              </a:defRPr>
            </a:defPPr>
          </a:lstStyle>
          <a:p xmlns:a="http://schemas.openxmlformats.org/drawingml/2006/main">
            <a:pPr algn="l">
              <a:defRPr sz="1500" b="0">
                <a:solidFill>
                  <a:srgbClr val="1673C3"/>
                </a:solidFill>
                <a:latin typeface="Meiryo"/>
                <a:ea typeface="Meiryo"/>
                <a:cs typeface="Meiryo"/>
              </a:defRPr>
            </a:pPr>
            <a:r>
              <a:rPr sz="1500" b="0">
                <a:solidFill>
                  <a:srgbClr val="1673C3"/>
                </a:solidFill>
                <a:latin typeface="Meiryo"/>
                <a:ea typeface="Meiryo"/>
                <a:cs typeface="Meiryo"/>
              </a:rPr>
              <a:t>表示先の指定</a:t>
            </a:r>
          </a:p>
        </p:txBody>
      </p:sp>
      <p:sp>
        <p:nvSpPr>
          <p:cNvPr id="46" name="text-78">
            <a:extLst xmlns:a="http://schemas.openxmlformats.org/drawingml/2006/main">
              <a:ext uri="{FF2B5EF4-FFF2-40B4-BE49-F238E27FC236}">
                <a16:creationId xmlns:a16="http://schemas.microsoft.com/office/drawing/2014/main" id="{FB2BAF9A-2CCB-410F-AB0C-B83E81F1E617}"/>
              </a:ext>
            </a:extLst>
          </p:cNvPr>
          <p:cNvSpPr>
            <a:spLocks xmlns:a="http://schemas.openxmlformats.org/drawingml/2006/main" noGrp="1"/>
          </p:cNvSpPr>
          <p:nvPr/>
        </p:nvSpPr>
        <p:spPr>
          <a:xfrm xmlns:a="http://schemas.openxmlformats.org/drawingml/2006/main">
            <a:off x="4095750" y="6315075"/>
            <a:ext cx="619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0">
                <a:solidFill>
                  <a:srgbClr val="231F20"/>
                </a:solidFill>
                <a:latin typeface="Meiryo"/>
                <a:ea typeface="Meiryo"/>
                <a:cs typeface="Meiryo"/>
              </a:defRPr>
            </a:defPPr>
          </a:lstStyle>
          <a:p xmlns:a="http://schemas.openxmlformats.org/drawingml/2006/main">
            <a:pPr algn="ctr">
              <a:defRPr sz="1725" b="0">
                <a:solidFill>
                  <a:srgbClr val="231F20"/>
                </a:solidFill>
                <a:latin typeface="Meiryo"/>
                <a:ea typeface="Meiryo"/>
                <a:cs typeface="Meiryo"/>
              </a:defRPr>
            </a:pPr>
            <a:r>
              <a:rPr sz="1725" b="0">
                <a:solidFill>
                  <a:srgbClr val="231F20"/>
                </a:solidFill>
                <a:latin typeface="Meiryo"/>
                <a:ea typeface="Meiryo"/>
                <a:cs typeface="Meiryo"/>
              </a:rPr>
              <a:t>CPUと描画側がDDR3を共有する</a:t>
            </a:r>
          </a:p>
        </p:txBody>
      </p:sp>
    </p:spTree>
    <p:extLst>
      <p:ext uri="{BB962C8B-B14F-4D97-AF65-F5344CB8AC3E}">
        <p14:creationId xmlns:p14="http://schemas.microsoft.com/office/powerpoint/2010/main" val="130517387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text-79">
            <a:extLst xmlns:a="http://schemas.openxmlformats.org/drawingml/2006/main">
              <a:ext uri="{FF2B5EF4-FFF2-40B4-BE49-F238E27FC236}">
                <a16:creationId xmlns:a16="http://schemas.microsoft.com/office/drawing/2014/main" id="{176B8BF6-9F2B-45AB-B195-F45D589E402E}"/>
              </a:ext>
            </a:extLst>
          </p:cNvPr>
          <p:cNvSpPr>
            <a:spLocks xmlns:a="http://schemas.openxmlformats.org/drawingml/2006/main" noGrp="1"/>
          </p:cNvSpPr>
          <p:nvPr/>
        </p:nvSpPr>
        <p:spPr>
          <a:xfrm xmlns:a="http://schemas.openxmlformats.org/drawingml/2006/main">
            <a:off x="609600" y="381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3000" b="1">
                <a:solidFill>
                  <a:srgbClr val="231F20"/>
                </a:solidFill>
                <a:latin typeface="Meiryo"/>
                <a:ea typeface="Meiryo"/>
                <a:cs typeface="Meiryo"/>
              </a:defRPr>
            </a:defPPr>
          </a:lstStyle>
          <a:p xmlns:a="http://schemas.openxmlformats.org/drawingml/2006/main">
            <a:pPr algn="l">
              <a:defRPr sz="3000" b="1">
                <a:solidFill>
                  <a:srgbClr val="231F20"/>
                </a:solidFill>
                <a:latin typeface="Meiryo"/>
                <a:ea typeface="Meiryo"/>
                <a:cs typeface="Meiryo"/>
              </a:defRPr>
            </a:pPr>
            <a:r>
              <a:rPr sz="3000" b="1">
                <a:solidFill>
                  <a:srgbClr val="231F20"/>
                </a:solidFill>
                <a:latin typeface="Meiryo"/>
                <a:ea typeface="Meiryo"/>
                <a:cs typeface="Meiryo"/>
              </a:rPr>
              <a:t>ゲームの状態を画像に変える</a:t>
            </a:r>
          </a:p>
        </p:txBody>
      </p:sp>
      <p:sp>
        <p:nvSpPr>
          <p:cNvPr id="2" name="text-80">
            <a:extLst xmlns:a="http://schemas.openxmlformats.org/drawingml/2006/main">
              <a:ext uri="{FF2B5EF4-FFF2-40B4-BE49-F238E27FC236}">
                <a16:creationId xmlns:a16="http://schemas.microsoft.com/office/drawing/2014/main" id="{1A70094A-41F3-4257-902F-32198AA861CF}"/>
              </a:ext>
            </a:extLst>
          </p:cNvPr>
          <p:cNvSpPr>
            <a:spLocks xmlns:a="http://schemas.openxmlformats.org/drawingml/2006/main" noGrp="1"/>
          </p:cNvSpPr>
          <p:nvPr/>
        </p:nvSpPr>
        <p:spPr>
          <a:xfrm xmlns:a="http://schemas.openxmlformats.org/drawingml/2006/main">
            <a:off x="11353800" y="6362700"/>
            <a:ext cx="266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231F20"/>
                </a:solidFill>
                <a:latin typeface="Meiryo"/>
                <a:ea typeface="Meiryo"/>
                <a:cs typeface="Meiryo"/>
              </a:defRPr>
            </a:defPPr>
          </a:lstStyle>
          <a:p xmlns:a="http://schemas.openxmlformats.org/drawingml/2006/main">
            <a:pPr algn="r">
              <a:defRPr sz="1350" b="0">
                <a:solidFill>
                  <a:srgbClr val="231F20"/>
                </a:solidFill>
                <a:latin typeface="Meiryo"/>
                <a:ea typeface="Meiryo"/>
                <a:cs typeface="Meiryo"/>
              </a:defRPr>
            </a:pPr>
            <a:r>
              <a:rPr sz="1350" b="0">
                <a:solidFill>
                  <a:srgbClr val="231F20"/>
                </a:solidFill>
                <a:latin typeface="Meiryo"/>
                <a:ea typeface="Meiryo"/>
                <a:cs typeface="Meiryo"/>
              </a:rPr>
              <a:t>4</a:t>
            </a:r>
          </a:p>
        </p:txBody>
      </p:sp>
      <p:sp>
        <p:nvSpPr>
          <p:cNvPr id="3" name="circuit-81">
            <a:extLst xmlns:a="http://schemas.openxmlformats.org/drawingml/2006/main">
              <a:ext uri="{FF2B5EF4-FFF2-40B4-BE49-F238E27FC236}">
                <a16:creationId xmlns:a16="http://schemas.microsoft.com/office/drawing/2014/main" id="{39DD6F4B-1CF3-4761-9A49-8D48EA505242}"/>
              </a:ext>
            </a:extLst>
          </p:cNvPr>
          <p:cNvSpPr>
            <a:spLocks xmlns:a="http://schemas.openxmlformats.org/drawingml/2006/main" noGrp="1"/>
          </p:cNvSpPr>
          <p:nvPr/>
        </p:nvSpPr>
        <p:spPr>
          <a:xfrm xmlns:a="http://schemas.openxmlformats.org/drawingml/2006/main">
            <a:off x="609600" y="1847850"/>
            <a:ext cx="2343150" cy="666750"/>
          </a:xfrm>
          <a:prstGeom xmlns:a="http://schemas.openxmlformats.org/drawingml/2006/main" prst="rect">
            <a:avLst/>
          </a:prstGeom>
          <a:solidFill xmlns:a="http://schemas.openxmlformats.org/drawingml/2006/main">
            <a:srgbClr val="E5EBF8"/>
          </a:solidFill>
          <a:ln xmlns:a="http://schemas.openxmlformats.org/drawingml/2006/main" w="19050">
            <a:solidFill>
              <a:srgbClr val="231F20"/>
            </a:solidFill>
          </a:ln>
        </p:spPr>
      </p:sp>
      <p:sp>
        <p:nvSpPr>
          <p:cNvPr id="4" name="text-82">
            <a:extLst xmlns:a="http://schemas.openxmlformats.org/drawingml/2006/main">
              <a:ext uri="{FF2B5EF4-FFF2-40B4-BE49-F238E27FC236}">
                <a16:creationId xmlns:a16="http://schemas.microsoft.com/office/drawing/2014/main" id="{4D3CD7C7-90DA-42B0-A145-2F0664957B54}"/>
              </a:ext>
            </a:extLst>
          </p:cNvPr>
          <p:cNvSpPr>
            <a:spLocks xmlns:a="http://schemas.openxmlformats.org/drawingml/2006/main" noGrp="1"/>
          </p:cNvSpPr>
          <p:nvPr/>
        </p:nvSpPr>
        <p:spPr>
          <a:xfrm xmlns:a="http://schemas.openxmlformats.org/drawingml/2006/main">
            <a:off x="723900" y="1905000"/>
            <a:ext cx="2114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950" b="0">
                <a:solidFill>
                  <a:srgbClr val="231F20"/>
                </a:solidFill>
                <a:latin typeface="Meiryo"/>
                <a:ea typeface="Meiryo"/>
                <a:cs typeface="Meiryo"/>
              </a:defRPr>
            </a:defPPr>
          </a:lstStyle>
          <a:p xmlns:a="http://schemas.openxmlformats.org/drawingml/2006/main">
            <a:pPr algn="ctr">
              <a:defRPr sz="1950" b="0">
                <a:solidFill>
                  <a:srgbClr val="231F20"/>
                </a:solidFill>
                <a:latin typeface="Meiryo"/>
                <a:ea typeface="Meiryo"/>
                <a:cs typeface="Meiryo"/>
              </a:defRPr>
            </a:pPr>
            <a:r>
              <a:rPr sz="1950" b="0">
                <a:solidFill>
                  <a:srgbClr val="231F20"/>
                </a:solidFill>
                <a:latin typeface="Meiryo"/>
                <a:ea typeface="Meiryo"/>
                <a:cs typeface="Meiryo"/>
              </a:rPr>
              <a:t>CPUで位置を更新</a:t>
            </a:r>
          </a:p>
        </p:txBody>
      </p:sp>
      <p:sp>
        <p:nvSpPr>
          <p:cNvPr id="5" name="circuit-83">
            <a:extLst xmlns:a="http://schemas.openxmlformats.org/drawingml/2006/main">
              <a:ext uri="{FF2B5EF4-FFF2-40B4-BE49-F238E27FC236}">
                <a16:creationId xmlns:a16="http://schemas.microsoft.com/office/drawing/2014/main" id="{3735FAAF-76D8-4472-801C-6EEE4955735E}"/>
              </a:ext>
            </a:extLst>
          </p:cNvPr>
          <p:cNvSpPr>
            <a:spLocks xmlns:a="http://schemas.openxmlformats.org/drawingml/2006/main" noGrp="1"/>
          </p:cNvSpPr>
          <p:nvPr/>
        </p:nvSpPr>
        <p:spPr>
          <a:xfrm xmlns:a="http://schemas.openxmlformats.org/drawingml/2006/main">
            <a:off x="3514725" y="1847850"/>
            <a:ext cx="2343150" cy="666750"/>
          </a:xfrm>
          <a:prstGeom xmlns:a="http://schemas.openxmlformats.org/drawingml/2006/main" prst="rect">
            <a:avLst/>
          </a:prstGeom>
          <a:solidFill xmlns:a="http://schemas.openxmlformats.org/drawingml/2006/main">
            <a:srgbClr val="E5EBF8"/>
          </a:solidFill>
          <a:ln xmlns:a="http://schemas.openxmlformats.org/drawingml/2006/main" w="19050">
            <a:solidFill>
              <a:srgbClr val="231F20"/>
            </a:solidFill>
          </a:ln>
        </p:spPr>
      </p:sp>
      <p:sp>
        <p:nvSpPr>
          <p:cNvPr id="6" name="text-84">
            <a:extLst xmlns:a="http://schemas.openxmlformats.org/drawingml/2006/main">
              <a:ext uri="{FF2B5EF4-FFF2-40B4-BE49-F238E27FC236}">
                <a16:creationId xmlns:a16="http://schemas.microsoft.com/office/drawing/2014/main" id="{9F1C2E9A-727B-4C59-8C4A-C12FD8B77071}"/>
              </a:ext>
            </a:extLst>
          </p:cNvPr>
          <p:cNvSpPr>
            <a:spLocks xmlns:a="http://schemas.openxmlformats.org/drawingml/2006/main" noGrp="1"/>
          </p:cNvSpPr>
          <p:nvPr/>
        </p:nvSpPr>
        <p:spPr>
          <a:xfrm xmlns:a="http://schemas.openxmlformats.org/drawingml/2006/main">
            <a:off x="3629025" y="1905000"/>
            <a:ext cx="2114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950" b="0">
                <a:solidFill>
                  <a:srgbClr val="231F20"/>
                </a:solidFill>
                <a:latin typeface="Meiryo"/>
                <a:ea typeface="Meiryo"/>
                <a:cs typeface="Meiryo"/>
              </a:defRPr>
            </a:defPPr>
          </a:lstStyle>
          <a:p xmlns:a="http://schemas.openxmlformats.org/drawingml/2006/main">
            <a:pPr algn="ctr">
              <a:defRPr sz="1950" b="0">
                <a:solidFill>
                  <a:srgbClr val="231F20"/>
                </a:solidFill>
                <a:latin typeface="Meiryo"/>
                <a:ea typeface="Meiryo"/>
                <a:cs typeface="Meiryo"/>
              </a:defRPr>
            </a:pPr>
            <a:r>
              <a:rPr sz="1950" b="0">
                <a:solidFill>
                  <a:srgbClr val="231F20"/>
                </a:solidFill>
                <a:latin typeface="Meiryo"/>
                <a:ea typeface="Meiryo"/>
                <a:cs typeface="Meiryo"/>
              </a:rPr>
              <a:t>描画命令を用意</a:t>
            </a:r>
          </a:p>
        </p:txBody>
      </p:sp>
      <p:sp>
        <p:nvSpPr>
          <p:cNvPr id="7" name="circuit-85">
            <a:extLst xmlns:a="http://schemas.openxmlformats.org/drawingml/2006/main">
              <a:ext uri="{FF2B5EF4-FFF2-40B4-BE49-F238E27FC236}">
                <a16:creationId xmlns:a16="http://schemas.microsoft.com/office/drawing/2014/main" id="{93F8F352-C5A9-4313-8A1E-8BF30602B027}"/>
              </a:ext>
            </a:extLst>
          </p:cNvPr>
          <p:cNvSpPr>
            <a:spLocks xmlns:a="http://schemas.openxmlformats.org/drawingml/2006/main" noGrp="1"/>
          </p:cNvSpPr>
          <p:nvPr/>
        </p:nvSpPr>
        <p:spPr>
          <a:xfrm xmlns:a="http://schemas.openxmlformats.org/drawingml/2006/main">
            <a:off x="6419850" y="1847850"/>
            <a:ext cx="2343150" cy="666750"/>
          </a:xfrm>
          <a:prstGeom xmlns:a="http://schemas.openxmlformats.org/drawingml/2006/main" prst="rect">
            <a:avLst/>
          </a:prstGeom>
          <a:solidFill xmlns:a="http://schemas.openxmlformats.org/drawingml/2006/main">
            <a:srgbClr val="E5EBF8"/>
          </a:solidFill>
          <a:ln xmlns:a="http://schemas.openxmlformats.org/drawingml/2006/main" w="19050">
            <a:solidFill>
              <a:srgbClr val="231F20"/>
            </a:solidFill>
          </a:ln>
        </p:spPr>
      </p:sp>
      <p:sp>
        <p:nvSpPr>
          <p:cNvPr id="8" name="text-86">
            <a:extLst xmlns:a="http://schemas.openxmlformats.org/drawingml/2006/main">
              <a:ext uri="{FF2B5EF4-FFF2-40B4-BE49-F238E27FC236}">
                <a16:creationId xmlns:a16="http://schemas.microsoft.com/office/drawing/2014/main" id="{93A2430B-1A83-4B34-87B6-B58701EA2D69}"/>
              </a:ext>
            </a:extLst>
          </p:cNvPr>
          <p:cNvSpPr>
            <a:spLocks xmlns:a="http://schemas.openxmlformats.org/drawingml/2006/main" noGrp="1"/>
          </p:cNvSpPr>
          <p:nvPr/>
        </p:nvSpPr>
        <p:spPr>
          <a:xfrm xmlns:a="http://schemas.openxmlformats.org/drawingml/2006/main">
            <a:off x="6534150" y="1905000"/>
            <a:ext cx="2114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950" b="0">
                <a:solidFill>
                  <a:srgbClr val="231F20"/>
                </a:solidFill>
                <a:latin typeface="Meiryo"/>
                <a:ea typeface="Meiryo"/>
                <a:cs typeface="Meiryo"/>
              </a:defRPr>
            </a:defPPr>
          </a:lstStyle>
          <a:p xmlns:a="http://schemas.openxmlformats.org/drawingml/2006/main">
            <a:pPr algn="ctr">
              <a:defRPr sz="1950" b="0">
                <a:solidFill>
                  <a:srgbClr val="231F20"/>
                </a:solidFill>
                <a:latin typeface="Meiryo"/>
                <a:ea typeface="Meiryo"/>
                <a:cs typeface="Meiryo"/>
              </a:defRPr>
            </a:pPr>
            <a:r>
              <a:rPr sz="1950" b="0">
                <a:solidFill>
                  <a:srgbClr val="231F20"/>
                </a:solidFill>
                <a:latin typeface="Meiryo"/>
                <a:ea typeface="Meiryo"/>
                <a:cs typeface="Meiryo"/>
              </a:rPr>
              <a:t>RasterIXで描画</a:t>
            </a:r>
          </a:p>
        </p:txBody>
      </p:sp>
      <p:sp>
        <p:nvSpPr>
          <p:cNvPr id="9" name="circuit-87">
            <a:extLst xmlns:a="http://schemas.openxmlformats.org/drawingml/2006/main">
              <a:ext uri="{FF2B5EF4-FFF2-40B4-BE49-F238E27FC236}">
                <a16:creationId xmlns:a16="http://schemas.microsoft.com/office/drawing/2014/main" id="{6C83094E-DA5F-404A-BECC-79F13D6ADE4D}"/>
              </a:ext>
            </a:extLst>
          </p:cNvPr>
          <p:cNvSpPr>
            <a:spLocks xmlns:a="http://schemas.openxmlformats.org/drawingml/2006/main" noGrp="1"/>
          </p:cNvSpPr>
          <p:nvPr/>
        </p:nvSpPr>
        <p:spPr>
          <a:xfrm xmlns:a="http://schemas.openxmlformats.org/drawingml/2006/main">
            <a:off x="9324975" y="1847850"/>
            <a:ext cx="2257425" cy="666750"/>
          </a:xfrm>
          <a:prstGeom xmlns:a="http://schemas.openxmlformats.org/drawingml/2006/main" prst="rect">
            <a:avLst/>
          </a:prstGeom>
          <a:solidFill xmlns:a="http://schemas.openxmlformats.org/drawingml/2006/main">
            <a:srgbClr val="E5EBF8"/>
          </a:solidFill>
          <a:ln xmlns:a="http://schemas.openxmlformats.org/drawingml/2006/main" w="19050">
            <a:solidFill>
              <a:srgbClr val="231F20"/>
            </a:solidFill>
          </a:ln>
        </p:spPr>
      </p:sp>
      <p:sp>
        <p:nvSpPr>
          <p:cNvPr id="10" name="text-88">
            <a:extLst xmlns:a="http://schemas.openxmlformats.org/drawingml/2006/main">
              <a:ext uri="{FF2B5EF4-FFF2-40B4-BE49-F238E27FC236}">
                <a16:creationId xmlns:a16="http://schemas.microsoft.com/office/drawing/2014/main" id="{0B2FE83A-3BF3-4AF4-8508-36ADD882F76E}"/>
              </a:ext>
            </a:extLst>
          </p:cNvPr>
          <p:cNvSpPr>
            <a:spLocks xmlns:a="http://schemas.openxmlformats.org/drawingml/2006/main" noGrp="1"/>
          </p:cNvSpPr>
          <p:nvPr/>
        </p:nvSpPr>
        <p:spPr>
          <a:xfrm xmlns:a="http://schemas.openxmlformats.org/drawingml/2006/main">
            <a:off x="9439275" y="1905000"/>
            <a:ext cx="20288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950" b="0">
                <a:solidFill>
                  <a:srgbClr val="231F20"/>
                </a:solidFill>
                <a:latin typeface="Meiryo"/>
                <a:ea typeface="Meiryo"/>
                <a:cs typeface="Meiryo"/>
              </a:defRPr>
            </a:defPPr>
          </a:lstStyle>
          <a:p xmlns:a="http://schemas.openxmlformats.org/drawingml/2006/main">
            <a:pPr algn="ctr">
              <a:defRPr sz="1950" b="0">
                <a:solidFill>
                  <a:srgbClr val="231F20"/>
                </a:solidFill>
                <a:latin typeface="Meiryo"/>
                <a:ea typeface="Meiryo"/>
                <a:cs typeface="Meiryo"/>
              </a:defRPr>
            </a:pPr>
            <a:r>
              <a:rPr sz="1950" b="0">
                <a:solidFill>
                  <a:srgbClr val="231F20"/>
                </a:solidFill>
                <a:latin typeface="Meiryo"/>
                <a:ea typeface="Meiryo"/>
                <a:cs typeface="Meiryo"/>
              </a:rPr>
              <a:t>画面へ表示</a:t>
            </a:r>
          </a:p>
        </p:txBody>
      </p:sp>
      <p:sp>
        <p:nvSpPr>
          <p:cNvPr id="11" name="wire-89">
            <a:extLst xmlns:a="http://schemas.openxmlformats.org/drawingml/2006/main">
              <a:ext uri="{FF2B5EF4-FFF2-40B4-BE49-F238E27FC236}">
                <a16:creationId xmlns:a16="http://schemas.microsoft.com/office/drawing/2014/main" id="{3958F3E0-78EF-4C28-BE00-140802224EB1}"/>
              </a:ext>
            </a:extLst>
          </p:cNvPr>
          <p:cNvSpPr>
            <a:spLocks xmlns:a="http://schemas.openxmlformats.org/drawingml/2006/main" noGrp="1"/>
          </p:cNvSpPr>
          <p:nvPr/>
        </p:nvSpPr>
        <p:spPr>
          <a:xfrm xmlns:a="http://schemas.openxmlformats.org/drawingml/2006/main">
            <a:off x="3009900" y="2181225"/>
            <a:ext cx="428625" cy="9525"/>
          </a:xfrm>
          <a:custGeom xmlns:a="http://schemas.openxmlformats.org/drawingml/2006/main">
            <a:pathLst>
              <a:path w="428625" h="9525">
                <a:moveTo>
                  <a:pt x="0" y="0"/>
                </a:moveTo>
                <a:lnTo>
                  <a:pt x="428625" y="0"/>
                </a:lnTo>
              </a:path>
            </a:pathLst>
          </a:custGeom>
          <a:noFill xmlns:a="http://schemas.openxmlformats.org/drawingml/2006/main"/>
          <a:ln xmlns:a="http://schemas.openxmlformats.org/drawingml/2006/main" w="20955">
            <a:solidFill>
              <a:srgbClr val="231F20"/>
            </a:solidFill>
          </a:ln>
        </p:spPr>
      </p:sp>
      <p:sp>
        <p:nvSpPr>
          <p:cNvPr id="12" name="logic-90">
            <a:extLst xmlns:a="http://schemas.openxmlformats.org/drawingml/2006/main">
              <a:ext uri="{FF2B5EF4-FFF2-40B4-BE49-F238E27FC236}">
                <a16:creationId xmlns:a16="http://schemas.microsoft.com/office/drawing/2014/main" id="{511CB18F-7BFA-4626-A1C2-C53275D64D7A}"/>
              </a:ext>
            </a:extLst>
          </p:cNvPr>
          <p:cNvSpPr>
            <a:spLocks xmlns:a="http://schemas.openxmlformats.org/drawingml/2006/main" noGrp="1"/>
          </p:cNvSpPr>
          <p:nvPr/>
        </p:nvSpPr>
        <p:spPr>
          <a:xfrm xmlns:a="http://schemas.openxmlformats.org/drawingml/2006/main">
            <a:off x="3324225" y="2133600"/>
            <a:ext cx="114300" cy="95250"/>
          </a:xfrm>
          <a:custGeom xmlns:a="http://schemas.openxmlformats.org/drawingml/2006/main">
            <a:pathLst>
              <a:path w="114300" h="95250">
                <a:moveTo>
                  <a:pt x="114300" y="47625"/>
                </a:moveTo>
                <a:lnTo>
                  <a:pt x="0" y="0"/>
                </a:lnTo>
                <a:lnTo>
                  <a:pt x="0" y="95250"/>
                </a:lnTo>
                <a:close/>
              </a:path>
            </a:pathLst>
          </a:custGeom>
          <a:solidFill xmlns:a="http://schemas.openxmlformats.org/drawingml/2006/main">
            <a:srgbClr val="231F20"/>
          </a:solidFill>
          <a:ln xmlns:a="http://schemas.openxmlformats.org/drawingml/2006/main" w="19050">
            <a:solidFill>
              <a:srgbClr val="231F20"/>
            </a:solidFill>
          </a:ln>
        </p:spPr>
      </p:sp>
      <p:sp>
        <p:nvSpPr>
          <p:cNvPr id="13" name="wire-91">
            <a:extLst xmlns:a="http://schemas.openxmlformats.org/drawingml/2006/main">
              <a:ext uri="{FF2B5EF4-FFF2-40B4-BE49-F238E27FC236}">
                <a16:creationId xmlns:a16="http://schemas.microsoft.com/office/drawing/2014/main" id="{019201D1-B54D-4A4B-9220-92C8B67F9985}"/>
              </a:ext>
            </a:extLst>
          </p:cNvPr>
          <p:cNvSpPr>
            <a:spLocks xmlns:a="http://schemas.openxmlformats.org/drawingml/2006/main" noGrp="1"/>
          </p:cNvSpPr>
          <p:nvPr/>
        </p:nvSpPr>
        <p:spPr>
          <a:xfrm xmlns:a="http://schemas.openxmlformats.org/drawingml/2006/main">
            <a:off x="5915025" y="2181225"/>
            <a:ext cx="428625" cy="9525"/>
          </a:xfrm>
          <a:custGeom xmlns:a="http://schemas.openxmlformats.org/drawingml/2006/main">
            <a:pathLst>
              <a:path w="428625" h="9525">
                <a:moveTo>
                  <a:pt x="0" y="0"/>
                </a:moveTo>
                <a:lnTo>
                  <a:pt x="428625" y="0"/>
                </a:lnTo>
              </a:path>
            </a:pathLst>
          </a:custGeom>
          <a:noFill xmlns:a="http://schemas.openxmlformats.org/drawingml/2006/main"/>
          <a:ln xmlns:a="http://schemas.openxmlformats.org/drawingml/2006/main" w="20955">
            <a:solidFill>
              <a:srgbClr val="231F20"/>
            </a:solidFill>
          </a:ln>
        </p:spPr>
      </p:sp>
      <p:sp>
        <p:nvSpPr>
          <p:cNvPr id="14" name="logic-92">
            <a:extLst xmlns:a="http://schemas.openxmlformats.org/drawingml/2006/main">
              <a:ext uri="{FF2B5EF4-FFF2-40B4-BE49-F238E27FC236}">
                <a16:creationId xmlns:a16="http://schemas.microsoft.com/office/drawing/2014/main" id="{83A8DB64-5C2D-4D53-BE66-EB3A6B17EEA9}"/>
              </a:ext>
            </a:extLst>
          </p:cNvPr>
          <p:cNvSpPr>
            <a:spLocks xmlns:a="http://schemas.openxmlformats.org/drawingml/2006/main" noGrp="1"/>
          </p:cNvSpPr>
          <p:nvPr/>
        </p:nvSpPr>
        <p:spPr>
          <a:xfrm xmlns:a="http://schemas.openxmlformats.org/drawingml/2006/main">
            <a:off x="6229350" y="2133600"/>
            <a:ext cx="114300" cy="95250"/>
          </a:xfrm>
          <a:custGeom xmlns:a="http://schemas.openxmlformats.org/drawingml/2006/main">
            <a:pathLst>
              <a:path w="114300" h="95250">
                <a:moveTo>
                  <a:pt x="114300" y="47625"/>
                </a:moveTo>
                <a:lnTo>
                  <a:pt x="0" y="0"/>
                </a:lnTo>
                <a:lnTo>
                  <a:pt x="0" y="95250"/>
                </a:lnTo>
                <a:close/>
              </a:path>
            </a:pathLst>
          </a:custGeom>
          <a:solidFill xmlns:a="http://schemas.openxmlformats.org/drawingml/2006/main">
            <a:srgbClr val="231F20"/>
          </a:solidFill>
          <a:ln xmlns:a="http://schemas.openxmlformats.org/drawingml/2006/main" w="19050">
            <a:solidFill>
              <a:srgbClr val="231F20"/>
            </a:solidFill>
          </a:ln>
        </p:spPr>
      </p:sp>
      <p:sp>
        <p:nvSpPr>
          <p:cNvPr id="15" name="wire-93">
            <a:extLst xmlns:a="http://schemas.openxmlformats.org/drawingml/2006/main">
              <a:ext uri="{FF2B5EF4-FFF2-40B4-BE49-F238E27FC236}">
                <a16:creationId xmlns:a16="http://schemas.microsoft.com/office/drawing/2014/main" id="{3A29B038-2A6A-4D19-8B47-2730A3E90532}"/>
              </a:ext>
            </a:extLst>
          </p:cNvPr>
          <p:cNvSpPr>
            <a:spLocks xmlns:a="http://schemas.openxmlformats.org/drawingml/2006/main" noGrp="1"/>
          </p:cNvSpPr>
          <p:nvPr/>
        </p:nvSpPr>
        <p:spPr>
          <a:xfrm xmlns:a="http://schemas.openxmlformats.org/drawingml/2006/main">
            <a:off x="8820150" y="2181225"/>
            <a:ext cx="428625" cy="9525"/>
          </a:xfrm>
          <a:custGeom xmlns:a="http://schemas.openxmlformats.org/drawingml/2006/main">
            <a:pathLst>
              <a:path w="428625" h="9525">
                <a:moveTo>
                  <a:pt x="0" y="0"/>
                </a:moveTo>
                <a:lnTo>
                  <a:pt x="428625" y="0"/>
                </a:lnTo>
              </a:path>
            </a:pathLst>
          </a:custGeom>
          <a:noFill xmlns:a="http://schemas.openxmlformats.org/drawingml/2006/main"/>
          <a:ln xmlns:a="http://schemas.openxmlformats.org/drawingml/2006/main" w="20955">
            <a:solidFill>
              <a:srgbClr val="231F20"/>
            </a:solidFill>
          </a:ln>
        </p:spPr>
      </p:sp>
      <p:sp>
        <p:nvSpPr>
          <p:cNvPr id="16" name="logic-94">
            <a:extLst xmlns:a="http://schemas.openxmlformats.org/drawingml/2006/main">
              <a:ext uri="{FF2B5EF4-FFF2-40B4-BE49-F238E27FC236}">
                <a16:creationId xmlns:a16="http://schemas.microsoft.com/office/drawing/2014/main" id="{56EE2A59-44E4-4067-B788-E3FED6A6F5DC}"/>
              </a:ext>
            </a:extLst>
          </p:cNvPr>
          <p:cNvSpPr>
            <a:spLocks xmlns:a="http://schemas.openxmlformats.org/drawingml/2006/main" noGrp="1"/>
          </p:cNvSpPr>
          <p:nvPr/>
        </p:nvSpPr>
        <p:spPr>
          <a:xfrm xmlns:a="http://schemas.openxmlformats.org/drawingml/2006/main">
            <a:off x="9134475" y="2133600"/>
            <a:ext cx="114300" cy="95250"/>
          </a:xfrm>
          <a:custGeom xmlns:a="http://schemas.openxmlformats.org/drawingml/2006/main">
            <a:pathLst>
              <a:path w="114300" h="95250">
                <a:moveTo>
                  <a:pt x="114300" y="47625"/>
                </a:moveTo>
                <a:lnTo>
                  <a:pt x="0" y="0"/>
                </a:lnTo>
                <a:lnTo>
                  <a:pt x="0" y="95250"/>
                </a:lnTo>
                <a:close/>
              </a:path>
            </a:pathLst>
          </a:custGeom>
          <a:solidFill xmlns:a="http://schemas.openxmlformats.org/drawingml/2006/main">
            <a:srgbClr val="231F20"/>
          </a:solidFill>
          <a:ln xmlns:a="http://schemas.openxmlformats.org/drawingml/2006/main" w="19050">
            <a:solidFill>
              <a:srgbClr val="231F20"/>
            </a:solidFill>
          </a:ln>
        </p:spPr>
      </p:sp>
      <p:sp>
        <p:nvSpPr>
          <p:cNvPr id="17" name="text-95">
            <a:extLst xmlns:a="http://schemas.openxmlformats.org/drawingml/2006/main">
              <a:ext uri="{FF2B5EF4-FFF2-40B4-BE49-F238E27FC236}">
                <a16:creationId xmlns:a16="http://schemas.microsoft.com/office/drawing/2014/main" id="{1F3734B8-C0CD-4623-9F7E-FA7BC26BAECA}"/>
              </a:ext>
            </a:extLst>
          </p:cNvPr>
          <p:cNvSpPr>
            <a:spLocks xmlns:a="http://schemas.openxmlformats.org/drawingml/2006/main" noGrp="1"/>
          </p:cNvSpPr>
          <p:nvPr/>
        </p:nvSpPr>
        <p:spPr>
          <a:xfrm xmlns:a="http://schemas.openxmlformats.org/drawingml/2006/main">
            <a:off x="704850" y="3143250"/>
            <a:ext cx="21526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75" b="0">
                <a:solidFill>
                  <a:srgbClr val="231F20"/>
                </a:solidFill>
                <a:latin typeface="Meiryo"/>
                <a:ea typeface="Meiryo"/>
                <a:cs typeface="Meiryo"/>
              </a:defRPr>
            </a:defPPr>
          </a:lstStyle>
          <a:p xmlns:a="http://schemas.openxmlformats.org/drawingml/2006/main">
            <a:pPr algn="ctr">
              <a:defRPr sz="2175" b="0">
                <a:solidFill>
                  <a:srgbClr val="231F20"/>
                </a:solidFill>
                <a:latin typeface="Meiryo"/>
                <a:ea typeface="Meiryo"/>
                <a:cs typeface="Meiryo"/>
              </a:defRPr>
            </a:pPr>
            <a:r>
              <a:rPr sz="2175" b="0">
                <a:solidFill>
                  <a:srgbClr val="231F20"/>
                </a:solidFill>
                <a:latin typeface="Meiryo"/>
                <a:ea typeface="Meiryo"/>
                <a:cs typeface="Meiryo"/>
              </a:rPr>
              <a:t>ボールの位置</a:t>
            </a:r>
          </a:p>
          <a:p xmlns:a="http://schemas.openxmlformats.org/drawingml/2006/main">
            <a:pPr algn="ctr">
              <a:defRPr sz="2175" b="0">
                <a:solidFill>
                  <a:srgbClr val="231F20"/>
                </a:solidFill>
                <a:latin typeface="Meiryo"/>
                <a:ea typeface="Meiryo"/>
                <a:cs typeface="Meiryo"/>
              </a:defRPr>
            </a:pPr>
            <a:r>
              <a:rPr sz="2175" b="0">
                <a:solidFill>
                  <a:srgbClr val="231F20"/>
                </a:solidFill>
                <a:latin typeface="Meiryo"/>
                <a:ea typeface="Meiryo"/>
                <a:cs typeface="Meiryo"/>
              </a:rPr>
              <a:t>(x, y)</a:t>
            </a:r>
          </a:p>
        </p:txBody>
      </p:sp>
      <p:sp>
        <p:nvSpPr>
          <p:cNvPr id="18" name="text-96">
            <a:extLst xmlns:a="http://schemas.openxmlformats.org/drawingml/2006/main">
              <a:ext uri="{FF2B5EF4-FFF2-40B4-BE49-F238E27FC236}">
                <a16:creationId xmlns:a16="http://schemas.microsoft.com/office/drawing/2014/main" id="{7D59C48A-5229-4A88-A3BC-1E401687809A}"/>
              </a:ext>
            </a:extLst>
          </p:cNvPr>
          <p:cNvSpPr>
            <a:spLocks xmlns:a="http://schemas.openxmlformats.org/drawingml/2006/main" noGrp="1"/>
          </p:cNvSpPr>
          <p:nvPr/>
        </p:nvSpPr>
        <p:spPr>
          <a:xfrm xmlns:a="http://schemas.openxmlformats.org/drawingml/2006/main">
            <a:off x="3609975" y="3067050"/>
            <a:ext cx="21526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0">
                <a:solidFill>
                  <a:srgbClr val="231F20"/>
                </a:solidFill>
                <a:latin typeface="Meiryo"/>
                <a:ea typeface="Meiryo"/>
                <a:cs typeface="Meiryo"/>
              </a:defRPr>
            </a:defPPr>
          </a:lstStyle>
          <a:p xmlns:a="http://schemas.openxmlformats.org/drawingml/2006/main">
            <a:pPr algn="ctr">
              <a:defRPr sz="1875" b="0">
                <a:solidFill>
                  <a:srgbClr val="231F20"/>
                </a:solidFill>
                <a:latin typeface="Meiryo"/>
                <a:ea typeface="Meiryo"/>
                <a:cs typeface="Meiryo"/>
              </a:defRPr>
            </a:pPr>
            <a:r>
              <a:rPr sz="1875" b="0">
                <a:solidFill>
                  <a:srgbClr val="231F20"/>
                </a:solidFill>
                <a:latin typeface="Meiryo"/>
                <a:ea typeface="Meiryo"/>
                <a:cs typeface="Meiryo"/>
              </a:rPr>
              <a:t>位置・大きさ・色を</a:t>
            </a:r>
          </a:p>
          <a:p xmlns:a="http://schemas.openxmlformats.org/drawingml/2006/main">
            <a:pPr algn="ctr">
              <a:defRPr sz="1875" b="0">
                <a:solidFill>
                  <a:srgbClr val="231F20"/>
                </a:solidFill>
                <a:latin typeface="Meiryo"/>
                <a:ea typeface="Meiryo"/>
                <a:cs typeface="Meiryo"/>
              </a:defRPr>
            </a:pPr>
            <a:r>
              <a:rPr sz="1875" b="0">
                <a:solidFill>
                  <a:srgbClr val="231F20"/>
                </a:solidFill>
                <a:latin typeface="Meiryo"/>
                <a:ea typeface="Meiryo"/>
                <a:cs typeface="Meiryo"/>
              </a:rPr>
              <a:t>数値列にして</a:t>
            </a:r>
          </a:p>
          <a:p xmlns:a="http://schemas.openxmlformats.org/drawingml/2006/main">
            <a:pPr algn="ctr">
              <a:defRPr sz="1875" b="0">
                <a:solidFill>
                  <a:srgbClr val="231F20"/>
                </a:solidFill>
                <a:latin typeface="Meiryo"/>
                <a:ea typeface="Meiryo"/>
                <a:cs typeface="Meiryo"/>
              </a:defRPr>
            </a:pPr>
            <a:r>
              <a:rPr sz="1875" b="0">
                <a:solidFill>
                  <a:srgbClr val="231F20"/>
                </a:solidFill>
                <a:latin typeface="Meiryo"/>
                <a:ea typeface="Meiryo"/>
                <a:cs typeface="Meiryo"/>
              </a:rPr>
              <a:t>メモリに保存</a:t>
            </a:r>
          </a:p>
        </p:txBody>
      </p:sp>
      <p:sp>
        <p:nvSpPr>
          <p:cNvPr id="19" name="text-97">
            <a:extLst xmlns:a="http://schemas.openxmlformats.org/drawingml/2006/main">
              <a:ext uri="{FF2B5EF4-FFF2-40B4-BE49-F238E27FC236}">
                <a16:creationId xmlns:a16="http://schemas.microsoft.com/office/drawing/2014/main" id="{C6840D2F-61F1-494D-8756-3169E4FF32D0}"/>
              </a:ext>
            </a:extLst>
          </p:cNvPr>
          <p:cNvSpPr>
            <a:spLocks xmlns:a="http://schemas.openxmlformats.org/drawingml/2006/main" noGrp="1"/>
          </p:cNvSpPr>
          <p:nvPr/>
        </p:nvSpPr>
        <p:spPr>
          <a:xfrm xmlns:a="http://schemas.openxmlformats.org/drawingml/2006/main">
            <a:off x="6515100" y="3143250"/>
            <a:ext cx="21526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00" b="0">
                <a:solidFill>
                  <a:srgbClr val="231F20"/>
                </a:solidFill>
                <a:latin typeface="Meiryo"/>
                <a:ea typeface="Meiryo"/>
                <a:cs typeface="Meiryo"/>
              </a:defRPr>
            </a:defPPr>
          </a:lstStyle>
          <a:p xmlns:a="http://schemas.openxmlformats.org/drawingml/2006/main">
            <a:pPr algn="ctr">
              <a:defRPr sz="2100" b="0">
                <a:solidFill>
                  <a:srgbClr val="231F20"/>
                </a:solidFill>
                <a:latin typeface="Meiryo"/>
                <a:ea typeface="Meiryo"/>
                <a:cs typeface="Meiryo"/>
              </a:defRPr>
            </a:pPr>
            <a:r>
              <a:rPr sz="2100" b="0">
                <a:solidFill>
                  <a:srgbClr val="231F20"/>
                </a:solidFill>
                <a:latin typeface="Meiryo"/>
                <a:ea typeface="Meiryo"/>
                <a:cs typeface="Meiryo"/>
              </a:rPr>
              <a:t>画素の色を</a:t>
            </a:r>
          </a:p>
          <a:p xmlns:a="http://schemas.openxmlformats.org/drawingml/2006/main">
            <a:pPr algn="ctr">
              <a:defRPr sz="2100" b="0">
                <a:solidFill>
                  <a:srgbClr val="231F20"/>
                </a:solidFill>
                <a:latin typeface="Meiryo"/>
                <a:ea typeface="Meiryo"/>
                <a:cs typeface="Meiryo"/>
              </a:defRPr>
            </a:pPr>
            <a:r>
              <a:rPr sz="2100" b="0">
                <a:solidFill>
                  <a:srgbClr val="231F20"/>
                </a:solidFill>
                <a:latin typeface="Meiryo"/>
                <a:ea typeface="Meiryo"/>
                <a:cs typeface="Meiryo"/>
              </a:rPr>
              <a:t>メモリへ保存</a:t>
            </a:r>
          </a:p>
        </p:txBody>
      </p:sp>
      <p:sp>
        <p:nvSpPr>
          <p:cNvPr id="20" name="circuit-98">
            <a:extLst xmlns:a="http://schemas.openxmlformats.org/drawingml/2006/main">
              <a:ext uri="{FF2B5EF4-FFF2-40B4-BE49-F238E27FC236}">
                <a16:creationId xmlns:a16="http://schemas.microsoft.com/office/drawing/2014/main" id="{D96357D1-F8F9-47ED-A2F7-FB4136FD02B7}"/>
              </a:ext>
            </a:extLst>
          </p:cNvPr>
          <p:cNvSpPr>
            <a:spLocks xmlns:a="http://schemas.openxmlformats.org/drawingml/2006/main" noGrp="1"/>
          </p:cNvSpPr>
          <p:nvPr/>
        </p:nvSpPr>
        <p:spPr>
          <a:xfrm xmlns:a="http://schemas.openxmlformats.org/drawingml/2006/main">
            <a:off x="9553575" y="3105150"/>
            <a:ext cx="1704975" cy="123825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21" name="circuit-99">
            <a:extLst xmlns:a="http://schemas.openxmlformats.org/drawingml/2006/main">
              <a:ext uri="{FF2B5EF4-FFF2-40B4-BE49-F238E27FC236}">
                <a16:creationId xmlns:a16="http://schemas.microsoft.com/office/drawing/2014/main" id="{E7343203-E50A-464A-9508-03B14B1C46BD}"/>
              </a:ext>
            </a:extLst>
          </p:cNvPr>
          <p:cNvSpPr>
            <a:spLocks xmlns:a="http://schemas.openxmlformats.org/drawingml/2006/main" noGrp="1"/>
          </p:cNvSpPr>
          <p:nvPr/>
        </p:nvSpPr>
        <p:spPr>
          <a:xfrm xmlns:a="http://schemas.openxmlformats.org/drawingml/2006/main">
            <a:off x="10106025" y="3562350"/>
            <a:ext cx="333375" cy="333375"/>
          </a:xfrm>
          <a:prstGeom xmlns:a="http://schemas.openxmlformats.org/drawingml/2006/main" prst="rect">
            <a:avLst/>
          </a:prstGeom>
          <a:solidFill xmlns:a="http://schemas.openxmlformats.org/drawingml/2006/main">
            <a:srgbClr val="1673C3"/>
          </a:solidFill>
          <a:ln xmlns:a="http://schemas.openxmlformats.org/drawingml/2006/main" w="19050">
            <a:solidFill>
              <a:srgbClr val="231F20"/>
            </a:solidFill>
          </a:ln>
        </p:spPr>
      </p:sp>
      <p:sp>
        <p:nvSpPr>
          <p:cNvPr id="22" name="wire-100">
            <a:extLst xmlns:a="http://schemas.openxmlformats.org/drawingml/2006/main">
              <a:ext uri="{FF2B5EF4-FFF2-40B4-BE49-F238E27FC236}">
                <a16:creationId xmlns:a16="http://schemas.microsoft.com/office/drawing/2014/main" id="{44C4E5BE-7C64-40DC-AD08-2344618D2FFC}"/>
              </a:ext>
            </a:extLst>
          </p:cNvPr>
          <p:cNvSpPr>
            <a:spLocks xmlns:a="http://schemas.openxmlformats.org/drawingml/2006/main" noGrp="1"/>
          </p:cNvSpPr>
          <p:nvPr/>
        </p:nvSpPr>
        <p:spPr>
          <a:xfrm xmlns:a="http://schemas.openxmlformats.org/drawingml/2006/main">
            <a:off x="10410825" y="4343400"/>
            <a:ext cx="9525" cy="219075"/>
          </a:xfrm>
          <a:custGeom xmlns:a="http://schemas.openxmlformats.org/drawingml/2006/main">
            <a:pathLst>
              <a:path w="9525" h="219075">
                <a:moveTo>
                  <a:pt x="0" y="0"/>
                </a:moveTo>
                <a:lnTo>
                  <a:pt x="0" y="219075"/>
                </a:lnTo>
              </a:path>
            </a:pathLst>
          </a:custGeom>
          <a:noFill xmlns:a="http://schemas.openxmlformats.org/drawingml/2006/main"/>
          <a:ln xmlns:a="http://schemas.openxmlformats.org/drawingml/2006/main" w="20955">
            <a:solidFill>
              <a:srgbClr val="231F20"/>
            </a:solidFill>
          </a:ln>
        </p:spPr>
      </p:sp>
      <p:sp>
        <p:nvSpPr>
          <p:cNvPr id="23" name="wire-101">
            <a:extLst xmlns:a="http://schemas.openxmlformats.org/drawingml/2006/main">
              <a:ext uri="{FF2B5EF4-FFF2-40B4-BE49-F238E27FC236}">
                <a16:creationId xmlns:a16="http://schemas.microsoft.com/office/drawing/2014/main" id="{2B9E60B4-F0D3-4364-B15D-9E5A3F4F4B39}"/>
              </a:ext>
            </a:extLst>
          </p:cNvPr>
          <p:cNvSpPr>
            <a:spLocks xmlns:a="http://schemas.openxmlformats.org/drawingml/2006/main" noGrp="1"/>
          </p:cNvSpPr>
          <p:nvPr/>
        </p:nvSpPr>
        <p:spPr>
          <a:xfrm xmlns:a="http://schemas.openxmlformats.org/drawingml/2006/main">
            <a:off x="10172700" y="4562475"/>
            <a:ext cx="476250" cy="9525"/>
          </a:xfrm>
          <a:custGeom xmlns:a="http://schemas.openxmlformats.org/drawingml/2006/main">
            <a:pathLst>
              <a:path w="476250" h="9525">
                <a:moveTo>
                  <a:pt x="0" y="0"/>
                </a:moveTo>
                <a:lnTo>
                  <a:pt x="476250" y="0"/>
                </a:lnTo>
              </a:path>
            </a:pathLst>
          </a:custGeom>
          <a:noFill xmlns:a="http://schemas.openxmlformats.org/drawingml/2006/main"/>
          <a:ln xmlns:a="http://schemas.openxmlformats.org/drawingml/2006/main" w="20955">
            <a:solidFill>
              <a:srgbClr val="231F20"/>
            </a:solidFill>
          </a:ln>
        </p:spPr>
      </p:sp>
      <p:sp>
        <p:nvSpPr>
          <p:cNvPr id="24" name="text-102">
            <a:extLst xmlns:a="http://schemas.openxmlformats.org/drawingml/2006/main">
              <a:ext uri="{FF2B5EF4-FFF2-40B4-BE49-F238E27FC236}">
                <a16:creationId xmlns:a16="http://schemas.microsoft.com/office/drawing/2014/main" id="{B6C654C0-F1F9-4146-BE3D-7C22955D1830}"/>
              </a:ext>
            </a:extLst>
          </p:cNvPr>
          <p:cNvSpPr>
            <a:spLocks xmlns:a="http://schemas.openxmlformats.org/drawingml/2006/main" noGrp="1"/>
          </p:cNvSpPr>
          <p:nvPr/>
        </p:nvSpPr>
        <p:spPr>
          <a:xfrm xmlns:a="http://schemas.openxmlformats.org/drawingml/2006/main">
            <a:off x="3000375" y="5276850"/>
            <a:ext cx="6572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625" b="1">
                <a:solidFill>
                  <a:srgbClr val="231F20"/>
                </a:solidFill>
                <a:latin typeface="Meiryo"/>
                <a:ea typeface="Meiryo"/>
                <a:cs typeface="Meiryo"/>
              </a:defRPr>
            </a:defPPr>
          </a:lstStyle>
          <a:p xmlns:a="http://schemas.openxmlformats.org/drawingml/2006/main">
            <a:pPr algn="ctr">
              <a:defRPr sz="2625" b="1">
                <a:solidFill>
                  <a:srgbClr val="231F20"/>
                </a:solidFill>
                <a:latin typeface="Meiryo"/>
                <a:ea typeface="Meiryo"/>
                <a:cs typeface="Meiryo"/>
              </a:defRPr>
            </a:pPr>
            <a:r>
              <a:rPr sz="2625" b="1">
                <a:solidFill>
                  <a:srgbClr val="231F20"/>
                </a:solidFill>
                <a:latin typeface="Meiryo"/>
                <a:ea typeface="Meiryo"/>
                <a:cs typeface="Meiryo"/>
              </a:rPr>
              <a:t>一画面分の処理を繰り返す</a:t>
            </a:r>
          </a:p>
        </p:txBody>
      </p:sp>
    </p:spTree>
    <p:extLst>
      <p:ext uri="{BB962C8B-B14F-4D97-AF65-F5344CB8AC3E}">
        <p14:creationId xmlns:p14="http://schemas.microsoft.com/office/powerpoint/2010/main" val="193250079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text-103">
            <a:extLst xmlns:a="http://schemas.openxmlformats.org/drawingml/2006/main">
              <a:ext uri="{FF2B5EF4-FFF2-40B4-BE49-F238E27FC236}">
                <a16:creationId xmlns:a16="http://schemas.microsoft.com/office/drawing/2014/main" id="{64B53D4A-C8B3-49E4-BD64-DA49B197D7C3}"/>
              </a:ext>
            </a:extLst>
          </p:cNvPr>
          <p:cNvSpPr>
            <a:spLocks xmlns:a="http://schemas.openxmlformats.org/drawingml/2006/main" noGrp="1"/>
          </p:cNvSpPr>
          <p:nvPr/>
        </p:nvSpPr>
        <p:spPr>
          <a:xfrm xmlns:a="http://schemas.openxmlformats.org/drawingml/2006/main">
            <a:off x="609600" y="381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3000" b="1">
                <a:solidFill>
                  <a:srgbClr val="231F20"/>
                </a:solidFill>
                <a:latin typeface="Meiryo"/>
                <a:ea typeface="Meiryo"/>
                <a:cs typeface="Meiryo"/>
              </a:defRPr>
            </a:defPPr>
          </a:lstStyle>
          <a:p xmlns:a="http://schemas.openxmlformats.org/drawingml/2006/main">
            <a:pPr algn="l">
              <a:defRPr sz="3000" b="1">
                <a:solidFill>
                  <a:srgbClr val="231F20"/>
                </a:solidFill>
                <a:latin typeface="Meiryo"/>
                <a:ea typeface="Meiryo"/>
                <a:cs typeface="Meiryo"/>
              </a:defRPr>
            </a:pPr>
            <a:r>
              <a:rPr sz="3000" b="1">
                <a:solidFill>
                  <a:srgbClr val="231F20"/>
                </a:solidFill>
                <a:latin typeface="Meiryo"/>
                <a:ea typeface="Meiryo"/>
                <a:cs typeface="Meiryo"/>
              </a:rPr>
              <a:t>命令を預けて、CPUの待ちを減らす</a:t>
            </a:r>
          </a:p>
        </p:txBody>
      </p:sp>
      <p:sp>
        <p:nvSpPr>
          <p:cNvPr id="2" name="text-104">
            <a:extLst xmlns:a="http://schemas.openxmlformats.org/drawingml/2006/main">
              <a:ext uri="{FF2B5EF4-FFF2-40B4-BE49-F238E27FC236}">
                <a16:creationId xmlns:a16="http://schemas.microsoft.com/office/drawing/2014/main" id="{4BA752F1-B483-4896-A97B-20E4CCA63253}"/>
              </a:ext>
            </a:extLst>
          </p:cNvPr>
          <p:cNvSpPr>
            <a:spLocks xmlns:a="http://schemas.openxmlformats.org/drawingml/2006/main" noGrp="1"/>
          </p:cNvSpPr>
          <p:nvPr/>
        </p:nvSpPr>
        <p:spPr>
          <a:xfrm xmlns:a="http://schemas.openxmlformats.org/drawingml/2006/main">
            <a:off x="11353800" y="6362700"/>
            <a:ext cx="266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231F20"/>
                </a:solidFill>
                <a:latin typeface="Meiryo"/>
                <a:ea typeface="Meiryo"/>
                <a:cs typeface="Meiryo"/>
              </a:defRPr>
            </a:defPPr>
          </a:lstStyle>
          <a:p xmlns:a="http://schemas.openxmlformats.org/drawingml/2006/main">
            <a:pPr algn="r">
              <a:defRPr sz="1350" b="0">
                <a:solidFill>
                  <a:srgbClr val="231F20"/>
                </a:solidFill>
                <a:latin typeface="Meiryo"/>
                <a:ea typeface="Meiryo"/>
                <a:cs typeface="Meiryo"/>
              </a:defRPr>
            </a:pPr>
            <a:r>
              <a:rPr sz="1350" b="0">
                <a:solidFill>
                  <a:srgbClr val="231F20"/>
                </a:solidFill>
                <a:latin typeface="Meiryo"/>
                <a:ea typeface="Meiryo"/>
                <a:cs typeface="Meiryo"/>
              </a:rPr>
              <a:t>5</a:t>
            </a:r>
          </a:p>
        </p:txBody>
      </p:sp>
      <p:sp>
        <p:nvSpPr>
          <p:cNvPr id="3" name="circuit-105">
            <a:extLst xmlns:a="http://schemas.openxmlformats.org/drawingml/2006/main">
              <a:ext uri="{FF2B5EF4-FFF2-40B4-BE49-F238E27FC236}">
                <a16:creationId xmlns:a16="http://schemas.microsoft.com/office/drawing/2014/main" id="{54B44810-01BA-44DD-BFAB-24B9B722408C}"/>
              </a:ext>
            </a:extLst>
          </p:cNvPr>
          <p:cNvSpPr>
            <a:spLocks xmlns:a="http://schemas.openxmlformats.org/drawingml/2006/main" noGrp="1"/>
          </p:cNvSpPr>
          <p:nvPr/>
        </p:nvSpPr>
        <p:spPr>
          <a:xfrm xmlns:a="http://schemas.openxmlformats.org/drawingml/2006/main">
            <a:off x="819150" y="1695450"/>
            <a:ext cx="2381250" cy="104775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4" name="text-106">
            <a:extLst xmlns:a="http://schemas.openxmlformats.org/drawingml/2006/main">
              <a:ext uri="{FF2B5EF4-FFF2-40B4-BE49-F238E27FC236}">
                <a16:creationId xmlns:a16="http://schemas.microsoft.com/office/drawing/2014/main" id="{9BC477AD-6474-45E1-AA7E-EE4DA44FF24E}"/>
              </a:ext>
            </a:extLst>
          </p:cNvPr>
          <p:cNvSpPr>
            <a:spLocks xmlns:a="http://schemas.openxmlformats.org/drawingml/2006/main" noGrp="1"/>
          </p:cNvSpPr>
          <p:nvPr/>
        </p:nvSpPr>
        <p:spPr>
          <a:xfrm xmlns:a="http://schemas.openxmlformats.org/drawingml/2006/main">
            <a:off x="933450" y="1752600"/>
            <a:ext cx="21526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75" b="0">
                <a:solidFill>
                  <a:srgbClr val="231F20"/>
                </a:solidFill>
                <a:latin typeface="Meiryo"/>
                <a:ea typeface="Meiryo"/>
                <a:cs typeface="Meiryo"/>
              </a:defRPr>
            </a:defPPr>
          </a:lstStyle>
          <a:p xmlns:a="http://schemas.openxmlformats.org/drawingml/2006/main">
            <a:pPr algn="ctr">
              <a:defRPr sz="2175" b="0">
                <a:solidFill>
                  <a:srgbClr val="231F20"/>
                </a:solidFill>
                <a:latin typeface="Meiryo"/>
                <a:ea typeface="Meiryo"/>
                <a:cs typeface="Meiryo"/>
              </a:defRPr>
            </a:pPr>
            <a:r>
              <a:rPr sz="2175" b="0">
                <a:solidFill>
                  <a:srgbClr val="231F20"/>
                </a:solidFill>
                <a:latin typeface="Meiryo"/>
                <a:ea typeface="Meiryo"/>
                <a:cs typeface="Meiryo"/>
              </a:rPr>
              <a:t>Wally</a:t>
            </a:r>
          </a:p>
          <a:p xmlns:a="http://schemas.openxmlformats.org/drawingml/2006/main">
            <a:pPr algn="ctr">
              <a:defRPr sz="2175" b="0">
                <a:solidFill>
                  <a:srgbClr val="231F20"/>
                </a:solidFill>
                <a:latin typeface="Meiryo"/>
                <a:ea typeface="Meiryo"/>
                <a:cs typeface="Meiryo"/>
              </a:defRPr>
            </a:pPr>
            <a:r>
              <a:rPr sz="2175" b="0">
                <a:solidFill>
                  <a:srgbClr val="231F20"/>
                </a:solidFill>
                <a:latin typeface="Meiryo"/>
                <a:ea typeface="Meiryo"/>
                <a:cs typeface="Meiryo"/>
              </a:rPr>
              <a:t>20 MHz</a:t>
            </a:r>
          </a:p>
        </p:txBody>
      </p:sp>
      <p:sp>
        <p:nvSpPr>
          <p:cNvPr id="5" name="circuit-107">
            <a:extLst xmlns:a="http://schemas.openxmlformats.org/drawingml/2006/main">
              <a:ext uri="{FF2B5EF4-FFF2-40B4-BE49-F238E27FC236}">
                <a16:creationId xmlns:a16="http://schemas.microsoft.com/office/drawing/2014/main" id="{1615FEDE-6994-4F12-9525-793BF403A479}"/>
              </a:ext>
            </a:extLst>
          </p:cNvPr>
          <p:cNvSpPr>
            <a:spLocks xmlns:a="http://schemas.openxmlformats.org/drawingml/2006/main" noGrp="1"/>
          </p:cNvSpPr>
          <p:nvPr/>
        </p:nvSpPr>
        <p:spPr>
          <a:xfrm xmlns:a="http://schemas.openxmlformats.org/drawingml/2006/main">
            <a:off x="4295775" y="1695450"/>
            <a:ext cx="3524250" cy="1047750"/>
          </a:xfrm>
          <a:prstGeom xmlns:a="http://schemas.openxmlformats.org/drawingml/2006/main" prst="rect">
            <a:avLst/>
          </a:prstGeom>
          <a:solidFill xmlns:a="http://schemas.openxmlformats.org/drawingml/2006/main">
            <a:srgbClr val="E5EBF8"/>
          </a:solidFill>
          <a:ln xmlns:a="http://schemas.openxmlformats.org/drawingml/2006/main" w="19050">
            <a:solidFill>
              <a:srgbClr val="231F20"/>
            </a:solidFill>
          </a:ln>
        </p:spPr>
      </p:sp>
      <p:sp>
        <p:nvSpPr>
          <p:cNvPr id="6" name="text-108">
            <a:extLst xmlns:a="http://schemas.openxmlformats.org/drawingml/2006/main">
              <a:ext uri="{FF2B5EF4-FFF2-40B4-BE49-F238E27FC236}">
                <a16:creationId xmlns:a16="http://schemas.microsoft.com/office/drawing/2014/main" id="{D9020E23-84DA-4B69-BDDC-22EC82EEBD61}"/>
              </a:ext>
            </a:extLst>
          </p:cNvPr>
          <p:cNvSpPr>
            <a:spLocks xmlns:a="http://schemas.openxmlformats.org/drawingml/2006/main" noGrp="1"/>
          </p:cNvSpPr>
          <p:nvPr/>
        </p:nvSpPr>
        <p:spPr>
          <a:xfrm xmlns:a="http://schemas.openxmlformats.org/drawingml/2006/main">
            <a:off x="4410075" y="1752600"/>
            <a:ext cx="32956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00" b="0">
                <a:solidFill>
                  <a:srgbClr val="231F20"/>
                </a:solidFill>
                <a:latin typeface="Meiryo"/>
                <a:ea typeface="Meiryo"/>
                <a:cs typeface="Meiryo"/>
              </a:defRPr>
            </a:defPPr>
          </a:lstStyle>
          <a:p xmlns:a="http://schemas.openxmlformats.org/drawingml/2006/main">
            <a:pPr algn="ctr">
              <a:defRPr sz="2100" b="0">
                <a:solidFill>
                  <a:srgbClr val="231F20"/>
                </a:solidFill>
                <a:latin typeface="Meiryo"/>
                <a:ea typeface="Meiryo"/>
                <a:cs typeface="Meiryo"/>
              </a:defRPr>
            </a:pPr>
            <a:r>
              <a:rPr sz="2100" b="0">
                <a:solidFill>
                  <a:srgbClr val="231F20"/>
                </a:solidFill>
                <a:latin typeface="Meiryo"/>
                <a:ea typeface="Meiryo"/>
                <a:cs typeface="Meiryo"/>
              </a:rPr>
              <a:t>FIFO</a:t>
            </a:r>
          </a:p>
          <a:p xmlns:a="http://schemas.openxmlformats.org/drawingml/2006/main">
            <a:pPr algn="ctr">
              <a:defRPr sz="2100" b="0">
                <a:solidFill>
                  <a:srgbClr val="231F20"/>
                </a:solidFill>
                <a:latin typeface="Meiryo"/>
                <a:ea typeface="Meiryo"/>
                <a:cs typeface="Meiryo"/>
              </a:defRPr>
            </a:pPr>
            <a:r>
              <a:rPr sz="2100" b="0">
                <a:solidFill>
                  <a:srgbClr val="231F20"/>
                </a:solidFill>
                <a:latin typeface="Meiryo"/>
                <a:ea typeface="Meiryo"/>
                <a:cs typeface="Meiryo"/>
              </a:rPr>
              <a:t>命令を順番に保存</a:t>
            </a:r>
          </a:p>
        </p:txBody>
      </p:sp>
      <p:sp>
        <p:nvSpPr>
          <p:cNvPr id="7" name="circuit-109">
            <a:extLst xmlns:a="http://schemas.openxmlformats.org/drawingml/2006/main">
              <a:ext uri="{FF2B5EF4-FFF2-40B4-BE49-F238E27FC236}">
                <a16:creationId xmlns:a16="http://schemas.microsoft.com/office/drawing/2014/main" id="{220EEFEF-D74B-448B-8CAB-3C03841FE362}"/>
              </a:ext>
            </a:extLst>
          </p:cNvPr>
          <p:cNvSpPr>
            <a:spLocks xmlns:a="http://schemas.openxmlformats.org/drawingml/2006/main" noGrp="1"/>
          </p:cNvSpPr>
          <p:nvPr/>
        </p:nvSpPr>
        <p:spPr>
          <a:xfrm xmlns:a="http://schemas.openxmlformats.org/drawingml/2006/main">
            <a:off x="8915400" y="1695450"/>
            <a:ext cx="2381250" cy="104775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8" name="text-110">
            <a:extLst xmlns:a="http://schemas.openxmlformats.org/drawingml/2006/main">
              <a:ext uri="{FF2B5EF4-FFF2-40B4-BE49-F238E27FC236}">
                <a16:creationId xmlns:a16="http://schemas.microsoft.com/office/drawing/2014/main" id="{328AF419-8309-4C19-B2A5-2CA2676A8A3A}"/>
              </a:ext>
            </a:extLst>
          </p:cNvPr>
          <p:cNvSpPr>
            <a:spLocks xmlns:a="http://schemas.openxmlformats.org/drawingml/2006/main" noGrp="1"/>
          </p:cNvSpPr>
          <p:nvPr/>
        </p:nvSpPr>
        <p:spPr>
          <a:xfrm xmlns:a="http://schemas.openxmlformats.org/drawingml/2006/main">
            <a:off x="9029700" y="1752600"/>
            <a:ext cx="21526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75" b="0">
                <a:solidFill>
                  <a:srgbClr val="231F20"/>
                </a:solidFill>
                <a:latin typeface="Meiryo"/>
                <a:ea typeface="Meiryo"/>
                <a:cs typeface="Meiryo"/>
              </a:defRPr>
            </a:defPPr>
          </a:lstStyle>
          <a:p xmlns:a="http://schemas.openxmlformats.org/drawingml/2006/main">
            <a:pPr algn="ctr">
              <a:defRPr sz="2175" b="0">
                <a:solidFill>
                  <a:srgbClr val="231F20"/>
                </a:solidFill>
                <a:latin typeface="Meiryo"/>
                <a:ea typeface="Meiryo"/>
                <a:cs typeface="Meiryo"/>
              </a:defRPr>
            </a:pPr>
            <a:r>
              <a:rPr sz="2175" b="0">
                <a:solidFill>
                  <a:srgbClr val="231F20"/>
                </a:solidFill>
                <a:latin typeface="Meiryo"/>
                <a:ea typeface="Meiryo"/>
                <a:cs typeface="Meiryo"/>
              </a:rPr>
              <a:t>RasterIX</a:t>
            </a:r>
          </a:p>
          <a:p xmlns:a="http://schemas.openxmlformats.org/drawingml/2006/main">
            <a:pPr algn="ctr">
              <a:defRPr sz="2175" b="0">
                <a:solidFill>
                  <a:srgbClr val="231F20"/>
                </a:solidFill>
                <a:latin typeface="Meiryo"/>
                <a:ea typeface="Meiryo"/>
                <a:cs typeface="Meiryo"/>
              </a:defRPr>
            </a:pPr>
            <a:r>
              <a:rPr sz="2175" b="0">
                <a:solidFill>
                  <a:srgbClr val="231F20"/>
                </a:solidFill>
                <a:latin typeface="Meiryo"/>
                <a:ea typeface="Meiryo"/>
                <a:cs typeface="Meiryo"/>
              </a:rPr>
              <a:t>100 MHz</a:t>
            </a:r>
          </a:p>
        </p:txBody>
      </p:sp>
      <p:sp>
        <p:nvSpPr>
          <p:cNvPr id="9" name="wire-111">
            <a:extLst xmlns:a="http://schemas.openxmlformats.org/drawingml/2006/main">
              <a:ext uri="{FF2B5EF4-FFF2-40B4-BE49-F238E27FC236}">
                <a16:creationId xmlns:a16="http://schemas.microsoft.com/office/drawing/2014/main" id="{5358196E-5002-4D17-BBC9-6754D1343320}"/>
              </a:ext>
            </a:extLst>
          </p:cNvPr>
          <p:cNvSpPr>
            <a:spLocks xmlns:a="http://schemas.openxmlformats.org/drawingml/2006/main" noGrp="1"/>
          </p:cNvSpPr>
          <p:nvPr/>
        </p:nvSpPr>
        <p:spPr>
          <a:xfrm xmlns:a="http://schemas.openxmlformats.org/drawingml/2006/main">
            <a:off x="3200400" y="2209800"/>
            <a:ext cx="1095375" cy="9525"/>
          </a:xfrm>
          <a:custGeom xmlns:a="http://schemas.openxmlformats.org/drawingml/2006/main">
            <a:pathLst>
              <a:path w="1095375" h="9525">
                <a:moveTo>
                  <a:pt x="0" y="0"/>
                </a:moveTo>
                <a:lnTo>
                  <a:pt x="1095375" y="0"/>
                </a:lnTo>
              </a:path>
            </a:pathLst>
          </a:custGeom>
          <a:noFill xmlns:a="http://schemas.openxmlformats.org/drawingml/2006/main"/>
          <a:ln xmlns:a="http://schemas.openxmlformats.org/drawingml/2006/main" w="20955">
            <a:solidFill>
              <a:srgbClr val="231F20"/>
            </a:solidFill>
          </a:ln>
        </p:spPr>
      </p:sp>
      <p:sp>
        <p:nvSpPr>
          <p:cNvPr id="10" name="logic-112">
            <a:extLst xmlns:a="http://schemas.openxmlformats.org/drawingml/2006/main">
              <a:ext uri="{FF2B5EF4-FFF2-40B4-BE49-F238E27FC236}">
                <a16:creationId xmlns:a16="http://schemas.microsoft.com/office/drawing/2014/main" id="{E936325C-9229-4A30-BEC8-BB8A7EB737E8}"/>
              </a:ext>
            </a:extLst>
          </p:cNvPr>
          <p:cNvSpPr>
            <a:spLocks xmlns:a="http://schemas.openxmlformats.org/drawingml/2006/main" noGrp="1"/>
          </p:cNvSpPr>
          <p:nvPr/>
        </p:nvSpPr>
        <p:spPr>
          <a:xfrm xmlns:a="http://schemas.openxmlformats.org/drawingml/2006/main">
            <a:off x="4181475" y="2162175"/>
            <a:ext cx="114300" cy="95250"/>
          </a:xfrm>
          <a:custGeom xmlns:a="http://schemas.openxmlformats.org/drawingml/2006/main">
            <a:pathLst>
              <a:path w="114300" h="95250">
                <a:moveTo>
                  <a:pt x="114300" y="47625"/>
                </a:moveTo>
                <a:lnTo>
                  <a:pt x="0" y="0"/>
                </a:lnTo>
                <a:lnTo>
                  <a:pt x="0" y="95250"/>
                </a:lnTo>
                <a:close/>
              </a:path>
            </a:pathLst>
          </a:custGeom>
          <a:solidFill xmlns:a="http://schemas.openxmlformats.org/drawingml/2006/main">
            <a:srgbClr val="231F20"/>
          </a:solidFill>
          <a:ln xmlns:a="http://schemas.openxmlformats.org/drawingml/2006/main" w="19050">
            <a:solidFill>
              <a:srgbClr val="231F20"/>
            </a:solidFill>
          </a:ln>
        </p:spPr>
      </p:sp>
      <p:sp>
        <p:nvSpPr>
          <p:cNvPr id="11" name="wire-113">
            <a:extLst xmlns:a="http://schemas.openxmlformats.org/drawingml/2006/main">
              <a:ext uri="{FF2B5EF4-FFF2-40B4-BE49-F238E27FC236}">
                <a16:creationId xmlns:a16="http://schemas.microsoft.com/office/drawing/2014/main" id="{B882EE42-3827-47A9-BC07-901A3713B741}"/>
              </a:ext>
            </a:extLst>
          </p:cNvPr>
          <p:cNvSpPr>
            <a:spLocks xmlns:a="http://schemas.openxmlformats.org/drawingml/2006/main" noGrp="1"/>
          </p:cNvSpPr>
          <p:nvPr/>
        </p:nvSpPr>
        <p:spPr>
          <a:xfrm xmlns:a="http://schemas.openxmlformats.org/drawingml/2006/main">
            <a:off x="7820025" y="2209800"/>
            <a:ext cx="1095375" cy="9525"/>
          </a:xfrm>
          <a:custGeom xmlns:a="http://schemas.openxmlformats.org/drawingml/2006/main">
            <a:pathLst>
              <a:path w="1095375" h="9525">
                <a:moveTo>
                  <a:pt x="0" y="0"/>
                </a:moveTo>
                <a:lnTo>
                  <a:pt x="1095375" y="0"/>
                </a:lnTo>
              </a:path>
            </a:pathLst>
          </a:custGeom>
          <a:noFill xmlns:a="http://schemas.openxmlformats.org/drawingml/2006/main"/>
          <a:ln xmlns:a="http://schemas.openxmlformats.org/drawingml/2006/main" w="20955">
            <a:solidFill>
              <a:srgbClr val="231F20"/>
            </a:solidFill>
          </a:ln>
        </p:spPr>
      </p:sp>
      <p:sp>
        <p:nvSpPr>
          <p:cNvPr id="12" name="logic-114">
            <a:extLst xmlns:a="http://schemas.openxmlformats.org/drawingml/2006/main">
              <a:ext uri="{FF2B5EF4-FFF2-40B4-BE49-F238E27FC236}">
                <a16:creationId xmlns:a16="http://schemas.microsoft.com/office/drawing/2014/main" id="{783F4E23-6395-45CB-B7B8-EF221A7D778D}"/>
              </a:ext>
            </a:extLst>
          </p:cNvPr>
          <p:cNvSpPr>
            <a:spLocks xmlns:a="http://schemas.openxmlformats.org/drawingml/2006/main" noGrp="1"/>
          </p:cNvSpPr>
          <p:nvPr/>
        </p:nvSpPr>
        <p:spPr>
          <a:xfrm xmlns:a="http://schemas.openxmlformats.org/drawingml/2006/main">
            <a:off x="8801100" y="2162175"/>
            <a:ext cx="114300" cy="95250"/>
          </a:xfrm>
          <a:custGeom xmlns:a="http://schemas.openxmlformats.org/drawingml/2006/main">
            <a:pathLst>
              <a:path w="114300" h="95250">
                <a:moveTo>
                  <a:pt x="114300" y="47625"/>
                </a:moveTo>
                <a:lnTo>
                  <a:pt x="0" y="0"/>
                </a:lnTo>
                <a:lnTo>
                  <a:pt x="0" y="95250"/>
                </a:lnTo>
                <a:close/>
              </a:path>
            </a:pathLst>
          </a:custGeom>
          <a:solidFill xmlns:a="http://schemas.openxmlformats.org/drawingml/2006/main">
            <a:srgbClr val="231F20"/>
          </a:solidFill>
          <a:ln xmlns:a="http://schemas.openxmlformats.org/drawingml/2006/main" w="19050">
            <a:solidFill>
              <a:srgbClr val="231F20"/>
            </a:solidFill>
          </a:ln>
        </p:spPr>
      </p:sp>
      <p:sp>
        <p:nvSpPr>
          <p:cNvPr id="13" name="text-115">
            <a:extLst xmlns:a="http://schemas.openxmlformats.org/drawingml/2006/main">
              <a:ext uri="{FF2B5EF4-FFF2-40B4-BE49-F238E27FC236}">
                <a16:creationId xmlns:a16="http://schemas.microsoft.com/office/drawing/2014/main" id="{886F5FA2-F679-43C5-8DFB-64EF01952815}"/>
              </a:ext>
            </a:extLst>
          </p:cNvPr>
          <p:cNvSpPr>
            <a:spLocks xmlns:a="http://schemas.openxmlformats.org/drawingml/2006/main" noGrp="1"/>
          </p:cNvSpPr>
          <p:nvPr/>
        </p:nvSpPr>
        <p:spPr>
          <a:xfrm xmlns:a="http://schemas.openxmlformats.org/drawingml/2006/main">
            <a:off x="2305050" y="2943225"/>
            <a:ext cx="7886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250" b="0">
                <a:solidFill>
                  <a:srgbClr val="231F20"/>
                </a:solidFill>
                <a:latin typeface="Meiryo"/>
                <a:ea typeface="Meiryo"/>
                <a:cs typeface="Meiryo"/>
              </a:defRPr>
            </a:defPPr>
          </a:lstStyle>
          <a:p xmlns:a="http://schemas.openxmlformats.org/drawingml/2006/main">
            <a:pPr algn="ctr">
              <a:defRPr sz="2250" b="0">
                <a:solidFill>
                  <a:srgbClr val="231F20"/>
                </a:solidFill>
                <a:latin typeface="Meiryo"/>
                <a:ea typeface="Meiryo"/>
                <a:cs typeface="Meiryo"/>
              </a:defRPr>
            </a:pPr>
            <a:r>
              <a:rPr sz="2250" b="0">
                <a:solidFill>
                  <a:srgbClr val="231F20"/>
                </a:solidFill>
                <a:latin typeface="Meiryo"/>
                <a:ea typeface="Meiryo"/>
                <a:cs typeface="Meiryo"/>
              </a:rPr>
              <a:t>空きがあれば、CPUは次の命令へ進める</a:t>
            </a:r>
          </a:p>
        </p:txBody>
      </p:sp>
      <p:sp>
        <p:nvSpPr>
          <p:cNvPr id="14" name="text-116">
            <a:extLst xmlns:a="http://schemas.openxmlformats.org/drawingml/2006/main">
              <a:ext uri="{FF2B5EF4-FFF2-40B4-BE49-F238E27FC236}">
                <a16:creationId xmlns:a16="http://schemas.microsoft.com/office/drawing/2014/main" id="{7A5FAC2A-BDC9-419D-AFE7-FC42AE1D0424}"/>
              </a:ext>
            </a:extLst>
          </p:cNvPr>
          <p:cNvSpPr>
            <a:spLocks xmlns:a="http://schemas.openxmlformats.org/drawingml/2006/main" noGrp="1"/>
          </p:cNvSpPr>
          <p:nvPr/>
        </p:nvSpPr>
        <p:spPr>
          <a:xfrm xmlns:a="http://schemas.openxmlformats.org/drawingml/2006/main">
            <a:off x="857250" y="385762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250" b="1">
                <a:solidFill>
                  <a:srgbClr val="231F20"/>
                </a:solidFill>
                <a:latin typeface="Meiryo"/>
                <a:ea typeface="Meiryo"/>
                <a:cs typeface="Meiryo"/>
              </a:defRPr>
            </a:defPPr>
          </a:lstStyle>
          <a:p xmlns:a="http://schemas.openxmlformats.org/drawingml/2006/main">
            <a:pPr algn="l">
              <a:defRPr sz="2250" b="1">
                <a:solidFill>
                  <a:srgbClr val="231F20"/>
                </a:solidFill>
                <a:latin typeface="Meiryo"/>
                <a:ea typeface="Meiryo"/>
                <a:cs typeface="Meiryo"/>
              </a:defRPr>
            </a:pPr>
            <a:r>
              <a:rPr sz="2250" b="1">
                <a:solidFill>
                  <a:srgbClr val="231F20"/>
                </a:solidFill>
                <a:latin typeface="Meiryo"/>
                <a:ea typeface="Meiryo"/>
                <a:cs typeface="Meiryo"/>
              </a:rPr>
              <a:t>1画面分の命令を送る間の待ち時間</a:t>
            </a:r>
          </a:p>
        </p:txBody>
      </p:sp>
      <p:sp>
        <p:nvSpPr>
          <p:cNvPr id="15" name="text-117">
            <a:extLst xmlns:a="http://schemas.openxmlformats.org/drawingml/2006/main">
              <a:ext uri="{FF2B5EF4-FFF2-40B4-BE49-F238E27FC236}">
                <a16:creationId xmlns:a16="http://schemas.microsoft.com/office/drawing/2014/main" id="{1C8351F4-2D85-479A-8074-AA69F3BB96A5}"/>
              </a:ext>
            </a:extLst>
          </p:cNvPr>
          <p:cNvSpPr>
            <a:spLocks xmlns:a="http://schemas.openxmlformats.org/drawingml/2006/main" noGrp="1"/>
          </p:cNvSpPr>
          <p:nvPr/>
        </p:nvSpPr>
        <p:spPr>
          <a:xfrm xmlns:a="http://schemas.openxmlformats.org/drawingml/2006/main">
            <a:off x="990600" y="4514850"/>
            <a:ext cx="2305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Meiryo"/>
                <a:ea typeface="Meiryo"/>
                <a:cs typeface="Meiryo"/>
              </a:defRPr>
            </a:defPPr>
          </a:lstStyle>
          <a:p xmlns:a="http://schemas.openxmlformats.org/drawingml/2006/main">
            <a:pPr algn="l">
              <a:defRPr sz="1950" b="0">
                <a:solidFill>
                  <a:srgbClr val="231F20"/>
                </a:solidFill>
                <a:latin typeface="Meiryo"/>
                <a:ea typeface="Meiryo"/>
                <a:cs typeface="Meiryo"/>
              </a:defRPr>
            </a:pPr>
            <a:r>
              <a:rPr sz="1950" b="0">
                <a:solidFill>
                  <a:srgbClr val="231F20"/>
                </a:solidFill>
                <a:latin typeface="Meiryo"/>
                <a:ea typeface="Meiryo"/>
                <a:cs typeface="Meiryo"/>
              </a:rPr>
              <a:t>1語ずつ渡す</a:t>
            </a:r>
          </a:p>
        </p:txBody>
      </p:sp>
      <p:sp>
        <p:nvSpPr>
          <p:cNvPr id="16" name="circuit-118">
            <a:extLst xmlns:a="http://schemas.openxmlformats.org/drawingml/2006/main">
              <a:ext uri="{FF2B5EF4-FFF2-40B4-BE49-F238E27FC236}">
                <a16:creationId xmlns:a16="http://schemas.microsoft.com/office/drawing/2014/main" id="{4593BDBE-E5D0-42C0-8D12-B8CC343AF700}"/>
              </a:ext>
            </a:extLst>
          </p:cNvPr>
          <p:cNvSpPr>
            <a:spLocks xmlns:a="http://schemas.openxmlformats.org/drawingml/2006/main" noGrp="1"/>
          </p:cNvSpPr>
          <p:nvPr/>
        </p:nvSpPr>
        <p:spPr>
          <a:xfrm xmlns:a="http://schemas.openxmlformats.org/drawingml/2006/main">
            <a:off x="3371850" y="4552950"/>
            <a:ext cx="5565162" cy="276225"/>
          </a:xfrm>
          <a:prstGeom xmlns:a="http://schemas.openxmlformats.org/drawingml/2006/main" prst="rect">
            <a:avLst/>
          </a:prstGeom>
          <a:solidFill xmlns:a="http://schemas.openxmlformats.org/drawingml/2006/main">
            <a:srgbClr val="77A3DC"/>
          </a:solidFill>
          <a:ln xmlns:a="http://schemas.openxmlformats.org/drawingml/2006/main" w="19050">
            <a:solidFill>
              <a:srgbClr val="231F20"/>
            </a:solidFill>
          </a:ln>
        </p:spPr>
      </p:sp>
      <p:sp>
        <p:nvSpPr>
          <p:cNvPr id="17" name="text-119">
            <a:extLst xmlns:a="http://schemas.openxmlformats.org/drawingml/2006/main">
              <a:ext uri="{FF2B5EF4-FFF2-40B4-BE49-F238E27FC236}">
                <a16:creationId xmlns:a16="http://schemas.microsoft.com/office/drawing/2014/main" id="{76E1910A-944F-4579-A365-0FBF0337B8E0}"/>
              </a:ext>
            </a:extLst>
          </p:cNvPr>
          <p:cNvSpPr>
            <a:spLocks xmlns:a="http://schemas.openxmlformats.org/drawingml/2006/main" noGrp="1"/>
          </p:cNvSpPr>
          <p:nvPr/>
        </p:nvSpPr>
        <p:spPr>
          <a:xfrm xmlns:a="http://schemas.openxmlformats.org/drawingml/2006/main">
            <a:off x="9248775" y="451485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Meiryo"/>
                <a:ea typeface="Meiryo"/>
                <a:cs typeface="Meiryo"/>
              </a:defRPr>
            </a:defPPr>
          </a:lstStyle>
          <a:p xmlns:a="http://schemas.openxmlformats.org/drawingml/2006/main">
            <a:pPr algn="l">
              <a:defRPr sz="1950" b="0">
                <a:solidFill>
                  <a:srgbClr val="231F20"/>
                </a:solidFill>
                <a:latin typeface="Meiryo"/>
                <a:ea typeface="Meiryo"/>
                <a:cs typeface="Meiryo"/>
              </a:defRPr>
            </a:pPr>
            <a:r>
              <a:rPr sz="1950" b="0">
                <a:solidFill>
                  <a:srgbClr val="231F20"/>
                </a:solidFill>
                <a:latin typeface="Meiryo"/>
                <a:ea typeface="Meiryo"/>
                <a:cs typeface="Meiryo"/>
              </a:rPr>
              <a:t>4.393 ms</a:t>
            </a:r>
          </a:p>
        </p:txBody>
      </p:sp>
      <p:sp>
        <p:nvSpPr>
          <p:cNvPr id="18" name="text-120">
            <a:extLst xmlns:a="http://schemas.openxmlformats.org/drawingml/2006/main">
              <a:ext uri="{FF2B5EF4-FFF2-40B4-BE49-F238E27FC236}">
                <a16:creationId xmlns:a16="http://schemas.microsoft.com/office/drawing/2014/main" id="{AC3ABE6E-E25B-4A6C-B567-D7C085744C9D}"/>
              </a:ext>
            </a:extLst>
          </p:cNvPr>
          <p:cNvSpPr>
            <a:spLocks xmlns:a="http://schemas.openxmlformats.org/drawingml/2006/main" noGrp="1"/>
          </p:cNvSpPr>
          <p:nvPr/>
        </p:nvSpPr>
        <p:spPr>
          <a:xfrm xmlns:a="http://schemas.openxmlformats.org/drawingml/2006/main">
            <a:off x="990600" y="5029200"/>
            <a:ext cx="2305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Meiryo"/>
                <a:ea typeface="Meiryo"/>
                <a:cs typeface="Meiryo"/>
              </a:defRPr>
            </a:defPPr>
          </a:lstStyle>
          <a:p xmlns:a="http://schemas.openxmlformats.org/drawingml/2006/main">
            <a:pPr algn="l">
              <a:defRPr sz="1950" b="0">
                <a:solidFill>
                  <a:srgbClr val="231F20"/>
                </a:solidFill>
                <a:latin typeface="Meiryo"/>
                <a:ea typeface="Meiryo"/>
                <a:cs typeface="Meiryo"/>
              </a:defRPr>
            </a:pPr>
            <a:r>
              <a:rPr sz="1950" b="0">
                <a:solidFill>
                  <a:srgbClr val="231F20"/>
                </a:solidFill>
                <a:latin typeface="Meiryo"/>
                <a:ea typeface="Meiryo"/>
                <a:cs typeface="Meiryo"/>
              </a:rPr>
              <a:t>16語FIFO</a:t>
            </a:r>
          </a:p>
        </p:txBody>
      </p:sp>
      <p:sp>
        <p:nvSpPr>
          <p:cNvPr id="19" name="circuit-121">
            <a:extLst xmlns:a="http://schemas.openxmlformats.org/drawingml/2006/main">
              <a:ext uri="{FF2B5EF4-FFF2-40B4-BE49-F238E27FC236}">
                <a16:creationId xmlns:a16="http://schemas.microsoft.com/office/drawing/2014/main" id="{DDE88C74-BD66-482B-8E82-0A3E16241149}"/>
              </a:ext>
            </a:extLst>
          </p:cNvPr>
          <p:cNvSpPr>
            <a:spLocks xmlns:a="http://schemas.openxmlformats.org/drawingml/2006/main" noGrp="1"/>
          </p:cNvSpPr>
          <p:nvPr/>
        </p:nvSpPr>
        <p:spPr>
          <a:xfrm xmlns:a="http://schemas.openxmlformats.org/drawingml/2006/main">
            <a:off x="3371850" y="5067300"/>
            <a:ext cx="2855424" cy="276225"/>
          </a:xfrm>
          <a:prstGeom xmlns:a="http://schemas.openxmlformats.org/drawingml/2006/main" prst="rect">
            <a:avLst/>
          </a:prstGeom>
          <a:solidFill xmlns:a="http://schemas.openxmlformats.org/drawingml/2006/main">
            <a:srgbClr val="77A3DC"/>
          </a:solidFill>
          <a:ln xmlns:a="http://schemas.openxmlformats.org/drawingml/2006/main" w="19050">
            <a:solidFill>
              <a:srgbClr val="231F20"/>
            </a:solidFill>
          </a:ln>
        </p:spPr>
      </p:sp>
      <p:sp>
        <p:nvSpPr>
          <p:cNvPr id="20" name="text-122">
            <a:extLst xmlns:a="http://schemas.openxmlformats.org/drawingml/2006/main">
              <a:ext uri="{FF2B5EF4-FFF2-40B4-BE49-F238E27FC236}">
                <a16:creationId xmlns:a16="http://schemas.microsoft.com/office/drawing/2014/main" id="{481A5D8A-5C40-4E66-8506-3214CE7F26FF}"/>
              </a:ext>
            </a:extLst>
          </p:cNvPr>
          <p:cNvSpPr>
            <a:spLocks xmlns:a="http://schemas.openxmlformats.org/drawingml/2006/main" noGrp="1"/>
          </p:cNvSpPr>
          <p:nvPr/>
        </p:nvSpPr>
        <p:spPr>
          <a:xfrm xmlns:a="http://schemas.openxmlformats.org/drawingml/2006/main">
            <a:off x="9248775" y="50292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Meiryo"/>
                <a:ea typeface="Meiryo"/>
                <a:cs typeface="Meiryo"/>
              </a:defRPr>
            </a:defPPr>
          </a:lstStyle>
          <a:p xmlns:a="http://schemas.openxmlformats.org/drawingml/2006/main">
            <a:pPr algn="l">
              <a:defRPr sz="1950" b="0">
                <a:solidFill>
                  <a:srgbClr val="231F20"/>
                </a:solidFill>
                <a:latin typeface="Meiryo"/>
                <a:ea typeface="Meiryo"/>
                <a:cs typeface="Meiryo"/>
              </a:defRPr>
            </a:pPr>
            <a:r>
              <a:rPr sz="1950" b="0">
                <a:solidFill>
                  <a:srgbClr val="231F20"/>
                </a:solidFill>
                <a:latin typeface="Meiryo"/>
                <a:ea typeface="Meiryo"/>
                <a:cs typeface="Meiryo"/>
              </a:rPr>
              <a:t>2.254 ms</a:t>
            </a:r>
          </a:p>
        </p:txBody>
      </p:sp>
      <p:sp>
        <p:nvSpPr>
          <p:cNvPr id="21" name="text-123">
            <a:extLst xmlns:a="http://schemas.openxmlformats.org/drawingml/2006/main">
              <a:ext uri="{FF2B5EF4-FFF2-40B4-BE49-F238E27FC236}">
                <a16:creationId xmlns:a16="http://schemas.microsoft.com/office/drawing/2014/main" id="{06538455-2B13-4917-BAFC-180E0914D6E6}"/>
              </a:ext>
            </a:extLst>
          </p:cNvPr>
          <p:cNvSpPr>
            <a:spLocks xmlns:a="http://schemas.openxmlformats.org/drawingml/2006/main" noGrp="1"/>
          </p:cNvSpPr>
          <p:nvPr/>
        </p:nvSpPr>
        <p:spPr>
          <a:xfrm xmlns:a="http://schemas.openxmlformats.org/drawingml/2006/main">
            <a:off x="990600" y="5543550"/>
            <a:ext cx="2305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Meiryo"/>
                <a:ea typeface="Meiryo"/>
                <a:cs typeface="Meiryo"/>
              </a:defRPr>
            </a:defPPr>
          </a:lstStyle>
          <a:p xmlns:a="http://schemas.openxmlformats.org/drawingml/2006/main">
            <a:pPr algn="l">
              <a:defRPr sz="1950" b="0">
                <a:solidFill>
                  <a:srgbClr val="231F20"/>
                </a:solidFill>
                <a:latin typeface="Meiryo"/>
                <a:ea typeface="Meiryo"/>
                <a:cs typeface="Meiryo"/>
              </a:defRPr>
            </a:pPr>
            <a:r>
              <a:rPr sz="1950" b="0">
                <a:solidFill>
                  <a:srgbClr val="231F20"/>
                </a:solidFill>
                <a:latin typeface="Meiryo"/>
                <a:ea typeface="Meiryo"/>
                <a:cs typeface="Meiryo"/>
              </a:rPr>
              <a:t>512語FIFO</a:t>
            </a:r>
          </a:p>
        </p:txBody>
      </p:sp>
      <p:sp>
        <p:nvSpPr>
          <p:cNvPr id="22" name="circuit-124">
            <a:extLst xmlns:a="http://schemas.openxmlformats.org/drawingml/2006/main">
              <a:ext uri="{FF2B5EF4-FFF2-40B4-BE49-F238E27FC236}">
                <a16:creationId xmlns:a16="http://schemas.microsoft.com/office/drawing/2014/main" id="{1FCD91DB-2A18-402F-95D4-BA1BAA0FF5A5}"/>
              </a:ext>
            </a:extLst>
          </p:cNvPr>
          <p:cNvSpPr>
            <a:spLocks xmlns:a="http://schemas.openxmlformats.org/drawingml/2006/main" noGrp="1"/>
          </p:cNvSpPr>
          <p:nvPr/>
        </p:nvSpPr>
        <p:spPr>
          <a:xfrm xmlns:a="http://schemas.openxmlformats.org/drawingml/2006/main">
            <a:off x="3371850" y="5581650"/>
            <a:ext cx="589074" cy="276225"/>
          </a:xfrm>
          <a:prstGeom xmlns:a="http://schemas.openxmlformats.org/drawingml/2006/main" prst="rect">
            <a:avLst/>
          </a:prstGeom>
          <a:solidFill xmlns:a="http://schemas.openxmlformats.org/drawingml/2006/main">
            <a:srgbClr val="77A3DC"/>
          </a:solidFill>
          <a:ln xmlns:a="http://schemas.openxmlformats.org/drawingml/2006/main" w="19050">
            <a:solidFill>
              <a:srgbClr val="231F20"/>
            </a:solidFill>
          </a:ln>
        </p:spPr>
      </p:sp>
      <p:sp>
        <p:nvSpPr>
          <p:cNvPr id="23" name="text-125">
            <a:extLst xmlns:a="http://schemas.openxmlformats.org/drawingml/2006/main">
              <a:ext uri="{FF2B5EF4-FFF2-40B4-BE49-F238E27FC236}">
                <a16:creationId xmlns:a16="http://schemas.microsoft.com/office/drawing/2014/main" id="{0AFF9AFC-2D99-4770-A0AD-E4FF4E852106}"/>
              </a:ext>
            </a:extLst>
          </p:cNvPr>
          <p:cNvSpPr>
            <a:spLocks xmlns:a="http://schemas.openxmlformats.org/drawingml/2006/main" noGrp="1"/>
          </p:cNvSpPr>
          <p:nvPr/>
        </p:nvSpPr>
        <p:spPr>
          <a:xfrm xmlns:a="http://schemas.openxmlformats.org/drawingml/2006/main">
            <a:off x="9248775" y="554355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Meiryo"/>
                <a:ea typeface="Meiryo"/>
                <a:cs typeface="Meiryo"/>
              </a:defRPr>
            </a:defPPr>
          </a:lstStyle>
          <a:p xmlns:a="http://schemas.openxmlformats.org/drawingml/2006/main">
            <a:pPr algn="l">
              <a:defRPr sz="1950" b="0">
                <a:solidFill>
                  <a:srgbClr val="231F20"/>
                </a:solidFill>
                <a:latin typeface="Meiryo"/>
                <a:ea typeface="Meiryo"/>
                <a:cs typeface="Meiryo"/>
              </a:defRPr>
            </a:pPr>
            <a:r>
              <a:rPr sz="1950" b="0">
                <a:solidFill>
                  <a:srgbClr val="231F20"/>
                </a:solidFill>
                <a:latin typeface="Meiryo"/>
                <a:ea typeface="Meiryo"/>
                <a:cs typeface="Meiryo"/>
              </a:rPr>
              <a:t>0.465 ms</a:t>
            </a:r>
          </a:p>
        </p:txBody>
      </p:sp>
      <p:sp>
        <p:nvSpPr>
          <p:cNvPr id="24" name="text-126">
            <a:extLst xmlns:a="http://schemas.openxmlformats.org/drawingml/2006/main">
              <a:ext uri="{FF2B5EF4-FFF2-40B4-BE49-F238E27FC236}">
                <a16:creationId xmlns:a16="http://schemas.microsoft.com/office/drawing/2014/main" id="{FC2EB2D8-1A33-4297-9BCD-219D844FBA5D}"/>
              </a:ext>
            </a:extLst>
          </p:cNvPr>
          <p:cNvSpPr>
            <a:spLocks xmlns:a="http://schemas.openxmlformats.org/drawingml/2006/main" noGrp="1"/>
          </p:cNvSpPr>
          <p:nvPr/>
        </p:nvSpPr>
        <p:spPr>
          <a:xfrm xmlns:a="http://schemas.openxmlformats.org/drawingml/2006/main">
            <a:off x="990600" y="6172200"/>
            <a:ext cx="971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231F20"/>
                </a:solidFill>
                <a:latin typeface="Meiryo"/>
                <a:ea typeface="Meiryo"/>
                <a:cs typeface="Meiryo"/>
              </a:defRPr>
            </a:defPPr>
          </a:lstStyle>
          <a:p xmlns:a="http://schemas.openxmlformats.org/drawingml/2006/main">
            <a:pPr algn="l">
              <a:defRPr sz="1500" b="0">
                <a:solidFill>
                  <a:srgbClr val="231F20"/>
                </a:solidFill>
                <a:latin typeface="Meiryo"/>
                <a:ea typeface="Meiryo"/>
                <a:cs typeface="Meiryo"/>
              </a:defRPr>
            </a:pPr>
            <a:r>
              <a:rPr sz="1500" b="0">
                <a:solidFill>
                  <a:srgbClr val="231F20"/>
                </a:solidFill>
                <a:latin typeface="Meiryo"/>
                <a:ea typeface="Meiryo"/>
                <a:cs typeface="Meiryo"/>
              </a:rPr>
              <a:t>全体描画・同じ初期状態／各方式180フレーム × 3回</a:t>
            </a:r>
          </a:p>
        </p:txBody>
      </p:sp>
    </p:spTree>
    <p:extLst>
      <p:ext uri="{BB962C8B-B14F-4D97-AF65-F5344CB8AC3E}">
        <p14:creationId xmlns:p14="http://schemas.microsoft.com/office/powerpoint/2010/main" val="11307480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text-127">
            <a:extLst xmlns:a="http://schemas.openxmlformats.org/drawingml/2006/main">
              <a:ext uri="{FF2B5EF4-FFF2-40B4-BE49-F238E27FC236}">
                <a16:creationId xmlns:a16="http://schemas.microsoft.com/office/drawing/2014/main" id="{2B264C6E-14CE-43D0-AA88-9A21A31B85B4}"/>
              </a:ext>
            </a:extLst>
          </p:cNvPr>
          <p:cNvSpPr>
            <a:spLocks xmlns:a="http://schemas.openxmlformats.org/drawingml/2006/main" noGrp="1"/>
          </p:cNvSpPr>
          <p:nvPr/>
        </p:nvSpPr>
        <p:spPr>
          <a:xfrm xmlns:a="http://schemas.openxmlformats.org/drawingml/2006/main">
            <a:off x="609600" y="381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3000" b="1">
                <a:solidFill>
                  <a:srgbClr val="231F20"/>
                </a:solidFill>
                <a:latin typeface="Meiryo"/>
                <a:ea typeface="Meiryo"/>
                <a:cs typeface="Meiryo"/>
              </a:defRPr>
            </a:defPPr>
          </a:lstStyle>
          <a:p xmlns:a="http://schemas.openxmlformats.org/drawingml/2006/main">
            <a:pPr algn="l">
              <a:defRPr sz="3000" b="1">
                <a:solidFill>
                  <a:srgbClr val="231F20"/>
                </a:solidFill>
                <a:latin typeface="Meiryo"/>
                <a:ea typeface="Meiryo"/>
                <a:cs typeface="Meiryo"/>
              </a:defRPr>
            </a:pPr>
            <a:r>
              <a:rPr sz="3000" b="1">
                <a:solidFill>
                  <a:srgbClr val="231F20"/>
                </a:solidFill>
                <a:latin typeface="Meiryo"/>
                <a:ea typeface="Meiryo"/>
                <a:cs typeface="Meiryo"/>
              </a:rPr>
              <a:t>表示中の画像を途中で書き換えない</a:t>
            </a:r>
          </a:p>
        </p:txBody>
      </p:sp>
      <p:sp>
        <p:nvSpPr>
          <p:cNvPr id="2" name="text-128">
            <a:extLst xmlns:a="http://schemas.openxmlformats.org/drawingml/2006/main">
              <a:ext uri="{FF2B5EF4-FFF2-40B4-BE49-F238E27FC236}">
                <a16:creationId xmlns:a16="http://schemas.microsoft.com/office/drawing/2014/main" id="{AF8C3280-0ED1-440D-A1AB-AC48C6AF535D}"/>
              </a:ext>
            </a:extLst>
          </p:cNvPr>
          <p:cNvSpPr>
            <a:spLocks xmlns:a="http://schemas.openxmlformats.org/drawingml/2006/main" noGrp="1"/>
          </p:cNvSpPr>
          <p:nvPr/>
        </p:nvSpPr>
        <p:spPr>
          <a:xfrm xmlns:a="http://schemas.openxmlformats.org/drawingml/2006/main">
            <a:off x="11353800" y="6362700"/>
            <a:ext cx="266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231F20"/>
                </a:solidFill>
                <a:latin typeface="Meiryo"/>
                <a:ea typeface="Meiryo"/>
                <a:cs typeface="Meiryo"/>
              </a:defRPr>
            </a:defPPr>
          </a:lstStyle>
          <a:p xmlns:a="http://schemas.openxmlformats.org/drawingml/2006/main">
            <a:pPr algn="r">
              <a:defRPr sz="1350" b="0">
                <a:solidFill>
                  <a:srgbClr val="231F20"/>
                </a:solidFill>
                <a:latin typeface="Meiryo"/>
                <a:ea typeface="Meiryo"/>
                <a:cs typeface="Meiryo"/>
              </a:defRPr>
            </a:pPr>
            <a:r>
              <a:rPr sz="1350" b="0">
                <a:solidFill>
                  <a:srgbClr val="231F20"/>
                </a:solidFill>
                <a:latin typeface="Meiryo"/>
                <a:ea typeface="Meiryo"/>
                <a:cs typeface="Meiryo"/>
              </a:rPr>
              <a:t>6</a:t>
            </a:r>
          </a:p>
        </p:txBody>
      </p:sp>
      <p:sp>
        <p:nvSpPr>
          <p:cNvPr id="3" name="text-129">
            <a:extLst xmlns:a="http://schemas.openxmlformats.org/drawingml/2006/main">
              <a:ext uri="{FF2B5EF4-FFF2-40B4-BE49-F238E27FC236}">
                <a16:creationId xmlns:a16="http://schemas.microsoft.com/office/drawing/2014/main" id="{76BE27FE-20A6-4557-B7AD-3C21D0DE134F}"/>
              </a:ext>
            </a:extLst>
          </p:cNvPr>
          <p:cNvSpPr>
            <a:spLocks xmlns:a="http://schemas.openxmlformats.org/drawingml/2006/main" noGrp="1"/>
          </p:cNvSpPr>
          <p:nvPr/>
        </p:nvSpPr>
        <p:spPr>
          <a:xfrm xmlns:a="http://schemas.openxmlformats.org/drawingml/2006/main">
            <a:off x="1171575" y="1543050"/>
            <a:ext cx="352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400" b="1">
                <a:solidFill>
                  <a:srgbClr val="231F20"/>
                </a:solidFill>
                <a:latin typeface="Meiryo"/>
                <a:ea typeface="Meiryo"/>
                <a:cs typeface="Meiryo"/>
              </a:defRPr>
            </a:defPPr>
          </a:lstStyle>
          <a:p xmlns:a="http://schemas.openxmlformats.org/drawingml/2006/main">
            <a:pPr algn="ctr">
              <a:defRPr sz="2400" b="1">
                <a:solidFill>
                  <a:srgbClr val="231F20"/>
                </a:solidFill>
                <a:latin typeface="Meiryo"/>
                <a:ea typeface="Meiryo"/>
                <a:cs typeface="Meiryo"/>
              </a:defRPr>
            </a:pPr>
            <a:r>
              <a:rPr sz="2400" b="1">
                <a:solidFill>
                  <a:srgbClr val="231F20"/>
                </a:solidFill>
                <a:latin typeface="Meiryo"/>
                <a:ea typeface="Meiryo"/>
                <a:cs typeface="Meiryo"/>
              </a:rPr>
              <a:t>切り替え前</a:t>
            </a:r>
          </a:p>
        </p:txBody>
      </p:sp>
      <p:sp>
        <p:nvSpPr>
          <p:cNvPr id="4" name="text-130">
            <a:extLst xmlns:a="http://schemas.openxmlformats.org/drawingml/2006/main">
              <a:ext uri="{FF2B5EF4-FFF2-40B4-BE49-F238E27FC236}">
                <a16:creationId xmlns:a16="http://schemas.microsoft.com/office/drawing/2014/main" id="{16660255-B47D-4368-B6B8-AE6617363E99}"/>
              </a:ext>
            </a:extLst>
          </p:cNvPr>
          <p:cNvSpPr>
            <a:spLocks xmlns:a="http://schemas.openxmlformats.org/drawingml/2006/main" noGrp="1"/>
          </p:cNvSpPr>
          <p:nvPr/>
        </p:nvSpPr>
        <p:spPr>
          <a:xfrm xmlns:a="http://schemas.openxmlformats.org/drawingml/2006/main">
            <a:off x="7620000" y="1543050"/>
            <a:ext cx="352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400" b="1">
                <a:solidFill>
                  <a:srgbClr val="231F20"/>
                </a:solidFill>
                <a:latin typeface="Meiryo"/>
                <a:ea typeface="Meiryo"/>
                <a:cs typeface="Meiryo"/>
              </a:defRPr>
            </a:defPPr>
          </a:lstStyle>
          <a:p xmlns:a="http://schemas.openxmlformats.org/drawingml/2006/main">
            <a:pPr algn="ctr">
              <a:defRPr sz="2400" b="1">
                <a:solidFill>
                  <a:srgbClr val="231F20"/>
                </a:solidFill>
                <a:latin typeface="Meiryo"/>
                <a:ea typeface="Meiryo"/>
                <a:cs typeface="Meiryo"/>
              </a:defRPr>
            </a:pPr>
            <a:r>
              <a:rPr sz="2400" b="1">
                <a:solidFill>
                  <a:srgbClr val="231F20"/>
                </a:solidFill>
                <a:latin typeface="Meiryo"/>
                <a:ea typeface="Meiryo"/>
                <a:cs typeface="Meiryo"/>
              </a:rPr>
              <a:t>切り替え後</a:t>
            </a:r>
          </a:p>
        </p:txBody>
      </p:sp>
      <p:sp>
        <p:nvSpPr>
          <p:cNvPr id="5" name="circuit-131">
            <a:extLst xmlns:a="http://schemas.openxmlformats.org/drawingml/2006/main">
              <a:ext uri="{FF2B5EF4-FFF2-40B4-BE49-F238E27FC236}">
                <a16:creationId xmlns:a16="http://schemas.microsoft.com/office/drawing/2014/main" id="{3AC916AB-7FA8-4271-9583-F8AC428393D4}"/>
              </a:ext>
            </a:extLst>
          </p:cNvPr>
          <p:cNvSpPr>
            <a:spLocks xmlns:a="http://schemas.openxmlformats.org/drawingml/2006/main" noGrp="1"/>
          </p:cNvSpPr>
          <p:nvPr/>
        </p:nvSpPr>
        <p:spPr>
          <a:xfrm xmlns:a="http://schemas.openxmlformats.org/drawingml/2006/main">
            <a:off x="1171575" y="2352675"/>
            <a:ext cx="3524250" cy="857250"/>
          </a:xfrm>
          <a:prstGeom xmlns:a="http://schemas.openxmlformats.org/drawingml/2006/main" prst="rect">
            <a:avLst/>
          </a:prstGeom>
          <a:solidFill xmlns:a="http://schemas.openxmlformats.org/drawingml/2006/main">
            <a:srgbClr val="E5EBF8"/>
          </a:solidFill>
          <a:ln xmlns:a="http://schemas.openxmlformats.org/drawingml/2006/main" w="19050">
            <a:solidFill>
              <a:srgbClr val="231F20"/>
            </a:solidFill>
          </a:ln>
        </p:spPr>
      </p:sp>
      <p:sp>
        <p:nvSpPr>
          <p:cNvPr id="6" name="text-132">
            <a:extLst xmlns:a="http://schemas.openxmlformats.org/drawingml/2006/main">
              <a:ext uri="{FF2B5EF4-FFF2-40B4-BE49-F238E27FC236}">
                <a16:creationId xmlns:a16="http://schemas.microsoft.com/office/drawing/2014/main" id="{60E3379C-0A8B-4E96-95DE-335D66E4CEC2}"/>
              </a:ext>
            </a:extLst>
          </p:cNvPr>
          <p:cNvSpPr>
            <a:spLocks xmlns:a="http://schemas.openxmlformats.org/drawingml/2006/main" noGrp="1"/>
          </p:cNvSpPr>
          <p:nvPr/>
        </p:nvSpPr>
        <p:spPr>
          <a:xfrm xmlns:a="http://schemas.openxmlformats.org/drawingml/2006/main">
            <a:off x="1285875" y="2409825"/>
            <a:ext cx="3295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325" b="0">
                <a:solidFill>
                  <a:srgbClr val="231F20"/>
                </a:solidFill>
                <a:latin typeface="Meiryo"/>
                <a:ea typeface="Meiryo"/>
                <a:cs typeface="Meiryo"/>
              </a:defRPr>
            </a:defPPr>
          </a:lstStyle>
          <a:p xmlns:a="http://schemas.openxmlformats.org/drawingml/2006/main">
            <a:pPr algn="ctr">
              <a:defRPr sz="2325" b="0">
                <a:solidFill>
                  <a:srgbClr val="231F20"/>
                </a:solidFill>
                <a:latin typeface="Meiryo"/>
                <a:ea typeface="Meiryo"/>
                <a:cs typeface="Meiryo"/>
              </a:defRPr>
            </a:pPr>
            <a:r>
              <a:rPr sz="2325" b="0">
                <a:solidFill>
                  <a:srgbClr val="231F20"/>
                </a:solidFill>
                <a:latin typeface="Meiryo"/>
                <a:ea typeface="Meiryo"/>
                <a:cs typeface="Meiryo"/>
              </a:rPr>
              <a:t>画像A：表示中</a:t>
            </a:r>
          </a:p>
        </p:txBody>
      </p:sp>
      <p:sp>
        <p:nvSpPr>
          <p:cNvPr id="7" name="circuit-133">
            <a:extLst xmlns:a="http://schemas.openxmlformats.org/drawingml/2006/main">
              <a:ext uri="{FF2B5EF4-FFF2-40B4-BE49-F238E27FC236}">
                <a16:creationId xmlns:a16="http://schemas.microsoft.com/office/drawing/2014/main" id="{A47BB1A0-40E3-491C-9DB9-16C7516938F5}"/>
              </a:ext>
            </a:extLst>
          </p:cNvPr>
          <p:cNvSpPr>
            <a:spLocks xmlns:a="http://schemas.openxmlformats.org/drawingml/2006/main" noGrp="1"/>
          </p:cNvSpPr>
          <p:nvPr/>
        </p:nvSpPr>
        <p:spPr>
          <a:xfrm xmlns:a="http://schemas.openxmlformats.org/drawingml/2006/main">
            <a:off x="1171575" y="3895725"/>
            <a:ext cx="3524250" cy="85725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8" name="text-134">
            <a:extLst xmlns:a="http://schemas.openxmlformats.org/drawingml/2006/main">
              <a:ext uri="{FF2B5EF4-FFF2-40B4-BE49-F238E27FC236}">
                <a16:creationId xmlns:a16="http://schemas.microsoft.com/office/drawing/2014/main" id="{F4639679-0264-4CCE-81AC-2342CE9A93B0}"/>
              </a:ext>
            </a:extLst>
          </p:cNvPr>
          <p:cNvSpPr>
            <a:spLocks xmlns:a="http://schemas.openxmlformats.org/drawingml/2006/main" noGrp="1"/>
          </p:cNvSpPr>
          <p:nvPr/>
        </p:nvSpPr>
        <p:spPr>
          <a:xfrm xmlns:a="http://schemas.openxmlformats.org/drawingml/2006/main">
            <a:off x="1285875" y="3952875"/>
            <a:ext cx="3295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325" b="0">
                <a:solidFill>
                  <a:srgbClr val="231F20"/>
                </a:solidFill>
                <a:latin typeface="Meiryo"/>
                <a:ea typeface="Meiryo"/>
                <a:cs typeface="Meiryo"/>
              </a:defRPr>
            </a:defPPr>
          </a:lstStyle>
          <a:p xmlns:a="http://schemas.openxmlformats.org/drawingml/2006/main">
            <a:pPr algn="ctr">
              <a:defRPr sz="2325" b="0">
                <a:solidFill>
                  <a:srgbClr val="231F20"/>
                </a:solidFill>
                <a:latin typeface="Meiryo"/>
                <a:ea typeface="Meiryo"/>
                <a:cs typeface="Meiryo"/>
              </a:defRPr>
            </a:pPr>
            <a:r>
              <a:rPr sz="2325" b="0">
                <a:solidFill>
                  <a:srgbClr val="231F20"/>
                </a:solidFill>
                <a:latin typeface="Meiryo"/>
                <a:ea typeface="Meiryo"/>
                <a:cs typeface="Meiryo"/>
              </a:rPr>
              <a:t>画像B：描画中</a:t>
            </a:r>
          </a:p>
        </p:txBody>
      </p:sp>
      <p:sp>
        <p:nvSpPr>
          <p:cNvPr id="9" name="circuit-135">
            <a:extLst xmlns:a="http://schemas.openxmlformats.org/drawingml/2006/main">
              <a:ext uri="{FF2B5EF4-FFF2-40B4-BE49-F238E27FC236}">
                <a16:creationId xmlns:a16="http://schemas.microsoft.com/office/drawing/2014/main" id="{30ED2AF8-EE98-4EEF-BDFA-891C05E7CFBB}"/>
              </a:ext>
            </a:extLst>
          </p:cNvPr>
          <p:cNvSpPr>
            <a:spLocks xmlns:a="http://schemas.openxmlformats.org/drawingml/2006/main" noGrp="1"/>
          </p:cNvSpPr>
          <p:nvPr/>
        </p:nvSpPr>
        <p:spPr>
          <a:xfrm xmlns:a="http://schemas.openxmlformats.org/drawingml/2006/main">
            <a:off x="7620000" y="2352675"/>
            <a:ext cx="3524250" cy="85725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10" name="text-136">
            <a:extLst xmlns:a="http://schemas.openxmlformats.org/drawingml/2006/main">
              <a:ext uri="{FF2B5EF4-FFF2-40B4-BE49-F238E27FC236}">
                <a16:creationId xmlns:a16="http://schemas.microsoft.com/office/drawing/2014/main" id="{7C8E7E10-7E16-4AB6-9486-E099EF3C4557}"/>
              </a:ext>
            </a:extLst>
          </p:cNvPr>
          <p:cNvSpPr>
            <a:spLocks xmlns:a="http://schemas.openxmlformats.org/drawingml/2006/main" noGrp="1"/>
          </p:cNvSpPr>
          <p:nvPr/>
        </p:nvSpPr>
        <p:spPr>
          <a:xfrm xmlns:a="http://schemas.openxmlformats.org/drawingml/2006/main">
            <a:off x="7734300" y="2409825"/>
            <a:ext cx="3295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250" b="0">
                <a:solidFill>
                  <a:srgbClr val="231F20"/>
                </a:solidFill>
                <a:latin typeface="Meiryo"/>
                <a:ea typeface="Meiryo"/>
                <a:cs typeface="Meiryo"/>
              </a:defRPr>
            </a:defPPr>
          </a:lstStyle>
          <a:p xmlns:a="http://schemas.openxmlformats.org/drawingml/2006/main">
            <a:pPr algn="ctr">
              <a:defRPr sz="2250" b="0">
                <a:solidFill>
                  <a:srgbClr val="231F20"/>
                </a:solidFill>
                <a:latin typeface="Meiryo"/>
                <a:ea typeface="Meiryo"/>
                <a:cs typeface="Meiryo"/>
              </a:defRPr>
            </a:pPr>
            <a:r>
              <a:rPr sz="2250" b="0">
                <a:solidFill>
                  <a:srgbClr val="231F20"/>
                </a:solidFill>
                <a:latin typeface="Meiryo"/>
                <a:ea typeface="Meiryo"/>
                <a:cs typeface="Meiryo"/>
              </a:rPr>
              <a:t>画像A：次の描画先</a:t>
            </a:r>
          </a:p>
        </p:txBody>
      </p:sp>
      <p:sp>
        <p:nvSpPr>
          <p:cNvPr id="11" name="circuit-137">
            <a:extLst xmlns:a="http://schemas.openxmlformats.org/drawingml/2006/main">
              <a:ext uri="{FF2B5EF4-FFF2-40B4-BE49-F238E27FC236}">
                <a16:creationId xmlns:a16="http://schemas.microsoft.com/office/drawing/2014/main" id="{465B40A1-E320-4F9E-818D-9886D02749CA}"/>
              </a:ext>
            </a:extLst>
          </p:cNvPr>
          <p:cNvSpPr>
            <a:spLocks xmlns:a="http://schemas.openxmlformats.org/drawingml/2006/main" noGrp="1"/>
          </p:cNvSpPr>
          <p:nvPr/>
        </p:nvSpPr>
        <p:spPr>
          <a:xfrm xmlns:a="http://schemas.openxmlformats.org/drawingml/2006/main">
            <a:off x="7620000" y="3895725"/>
            <a:ext cx="3524250" cy="857250"/>
          </a:xfrm>
          <a:prstGeom xmlns:a="http://schemas.openxmlformats.org/drawingml/2006/main" prst="rect">
            <a:avLst/>
          </a:prstGeom>
          <a:solidFill xmlns:a="http://schemas.openxmlformats.org/drawingml/2006/main">
            <a:srgbClr val="E5EBF8"/>
          </a:solidFill>
          <a:ln xmlns:a="http://schemas.openxmlformats.org/drawingml/2006/main" w="19050">
            <a:solidFill>
              <a:srgbClr val="231F20"/>
            </a:solidFill>
          </a:ln>
        </p:spPr>
      </p:sp>
      <p:sp>
        <p:nvSpPr>
          <p:cNvPr id="12" name="text-138">
            <a:extLst xmlns:a="http://schemas.openxmlformats.org/drawingml/2006/main">
              <a:ext uri="{FF2B5EF4-FFF2-40B4-BE49-F238E27FC236}">
                <a16:creationId xmlns:a16="http://schemas.microsoft.com/office/drawing/2014/main" id="{7167AC86-EB22-4051-9458-89B9D3E83472}"/>
              </a:ext>
            </a:extLst>
          </p:cNvPr>
          <p:cNvSpPr>
            <a:spLocks xmlns:a="http://schemas.openxmlformats.org/drawingml/2006/main" noGrp="1"/>
          </p:cNvSpPr>
          <p:nvPr/>
        </p:nvSpPr>
        <p:spPr>
          <a:xfrm xmlns:a="http://schemas.openxmlformats.org/drawingml/2006/main">
            <a:off x="7734300" y="3952875"/>
            <a:ext cx="3295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325" b="0">
                <a:solidFill>
                  <a:srgbClr val="231F20"/>
                </a:solidFill>
                <a:latin typeface="Meiryo"/>
                <a:ea typeface="Meiryo"/>
                <a:cs typeface="Meiryo"/>
              </a:defRPr>
            </a:defPPr>
          </a:lstStyle>
          <a:p xmlns:a="http://schemas.openxmlformats.org/drawingml/2006/main">
            <a:pPr algn="ctr">
              <a:defRPr sz="2325" b="0">
                <a:solidFill>
                  <a:srgbClr val="231F20"/>
                </a:solidFill>
                <a:latin typeface="Meiryo"/>
                <a:ea typeface="Meiryo"/>
                <a:cs typeface="Meiryo"/>
              </a:defRPr>
            </a:pPr>
            <a:r>
              <a:rPr sz="2325" b="0">
                <a:solidFill>
                  <a:srgbClr val="231F20"/>
                </a:solidFill>
                <a:latin typeface="Meiryo"/>
                <a:ea typeface="Meiryo"/>
                <a:cs typeface="Meiryo"/>
              </a:rPr>
              <a:t>画像B：表示中</a:t>
            </a:r>
          </a:p>
        </p:txBody>
      </p:sp>
      <p:sp>
        <p:nvSpPr>
          <p:cNvPr id="13" name="wire-139">
            <a:extLst xmlns:a="http://schemas.openxmlformats.org/drawingml/2006/main">
              <a:ext uri="{FF2B5EF4-FFF2-40B4-BE49-F238E27FC236}">
                <a16:creationId xmlns:a16="http://schemas.microsoft.com/office/drawing/2014/main" id="{27B1D47B-1BD3-4ECE-A903-BE913C11F4D6}"/>
              </a:ext>
            </a:extLst>
          </p:cNvPr>
          <p:cNvSpPr>
            <a:spLocks xmlns:a="http://schemas.openxmlformats.org/drawingml/2006/main" noGrp="1"/>
          </p:cNvSpPr>
          <p:nvPr/>
        </p:nvSpPr>
        <p:spPr>
          <a:xfrm xmlns:a="http://schemas.openxmlformats.org/drawingml/2006/main">
            <a:off x="4991100" y="3562350"/>
            <a:ext cx="2343150" cy="9525"/>
          </a:xfrm>
          <a:custGeom xmlns:a="http://schemas.openxmlformats.org/drawingml/2006/main">
            <a:pathLst>
              <a:path w="2343150" h="9525">
                <a:moveTo>
                  <a:pt x="0" y="0"/>
                </a:moveTo>
                <a:lnTo>
                  <a:pt x="2343150" y="0"/>
                </a:lnTo>
              </a:path>
            </a:pathLst>
          </a:custGeom>
          <a:noFill xmlns:a="http://schemas.openxmlformats.org/drawingml/2006/main"/>
          <a:ln xmlns:a="http://schemas.openxmlformats.org/drawingml/2006/main" w="20955">
            <a:solidFill>
              <a:srgbClr val="1673C3"/>
            </a:solidFill>
          </a:ln>
        </p:spPr>
      </p:sp>
      <p:sp>
        <p:nvSpPr>
          <p:cNvPr id="14" name="logic-140">
            <a:extLst xmlns:a="http://schemas.openxmlformats.org/drawingml/2006/main">
              <a:ext uri="{FF2B5EF4-FFF2-40B4-BE49-F238E27FC236}">
                <a16:creationId xmlns:a16="http://schemas.microsoft.com/office/drawing/2014/main" id="{C2DF47B6-49E3-458E-9203-0EE57056A358}"/>
              </a:ext>
            </a:extLst>
          </p:cNvPr>
          <p:cNvSpPr>
            <a:spLocks xmlns:a="http://schemas.openxmlformats.org/drawingml/2006/main" noGrp="1"/>
          </p:cNvSpPr>
          <p:nvPr/>
        </p:nvSpPr>
        <p:spPr>
          <a:xfrm xmlns:a="http://schemas.openxmlformats.org/drawingml/2006/main">
            <a:off x="7219950" y="3514725"/>
            <a:ext cx="114300" cy="95250"/>
          </a:xfrm>
          <a:custGeom xmlns:a="http://schemas.openxmlformats.org/drawingml/2006/main">
            <a:pathLst>
              <a:path w="114300" h="95250">
                <a:moveTo>
                  <a:pt x="114300" y="47625"/>
                </a:moveTo>
                <a:lnTo>
                  <a:pt x="0" y="0"/>
                </a:lnTo>
                <a:lnTo>
                  <a:pt x="0" y="95250"/>
                </a:lnTo>
                <a:close/>
              </a:path>
            </a:pathLst>
          </a:custGeom>
          <a:solidFill xmlns:a="http://schemas.openxmlformats.org/drawingml/2006/main">
            <a:srgbClr val="1673C3"/>
          </a:solidFill>
          <a:ln xmlns:a="http://schemas.openxmlformats.org/drawingml/2006/main" w="19050">
            <a:solidFill>
              <a:srgbClr val="1673C3"/>
            </a:solidFill>
          </a:ln>
        </p:spPr>
      </p:sp>
      <p:sp>
        <p:nvSpPr>
          <p:cNvPr id="15" name="text-141">
            <a:extLst xmlns:a="http://schemas.openxmlformats.org/drawingml/2006/main">
              <a:ext uri="{FF2B5EF4-FFF2-40B4-BE49-F238E27FC236}">
                <a16:creationId xmlns:a16="http://schemas.microsoft.com/office/drawing/2014/main" id="{1C9B722F-9825-4BFA-8DE4-6E67306DD4E8}"/>
              </a:ext>
            </a:extLst>
          </p:cNvPr>
          <p:cNvSpPr>
            <a:spLocks xmlns:a="http://schemas.openxmlformats.org/drawingml/2006/main" noGrp="1"/>
          </p:cNvSpPr>
          <p:nvPr/>
        </p:nvSpPr>
        <p:spPr>
          <a:xfrm xmlns:a="http://schemas.openxmlformats.org/drawingml/2006/main">
            <a:off x="4905375" y="2390775"/>
            <a:ext cx="2533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950" b="0">
                <a:solidFill>
                  <a:srgbClr val="231F20"/>
                </a:solidFill>
                <a:latin typeface="Meiryo"/>
                <a:ea typeface="Meiryo"/>
                <a:cs typeface="Meiryo"/>
              </a:defRPr>
            </a:defPPr>
          </a:lstStyle>
          <a:p xmlns:a="http://schemas.openxmlformats.org/drawingml/2006/main">
            <a:pPr algn="ctr">
              <a:defRPr sz="1950" b="0">
                <a:solidFill>
                  <a:srgbClr val="231F20"/>
                </a:solidFill>
                <a:latin typeface="Meiryo"/>
                <a:ea typeface="Meiryo"/>
                <a:cs typeface="Meiryo"/>
              </a:defRPr>
            </a:pPr>
            <a:r>
              <a:rPr sz="1950" b="0">
                <a:solidFill>
                  <a:srgbClr val="231F20"/>
                </a:solidFill>
                <a:latin typeface="Meiryo"/>
                <a:ea typeface="Meiryo"/>
                <a:cs typeface="Meiryo"/>
              </a:rPr>
              <a:t>画像Bの完成後</a:t>
            </a:r>
          </a:p>
          <a:p xmlns:a="http://schemas.openxmlformats.org/drawingml/2006/main">
            <a:pPr algn="ctr">
              <a:defRPr sz="1950" b="0">
                <a:solidFill>
                  <a:srgbClr val="231F20"/>
                </a:solidFill>
                <a:latin typeface="Meiryo"/>
                <a:ea typeface="Meiryo"/>
                <a:cs typeface="Meiryo"/>
              </a:defRPr>
            </a:pPr>
            <a:r>
              <a:rPr sz="1950" b="0">
                <a:solidFill>
                  <a:srgbClr val="231F20"/>
                </a:solidFill>
                <a:latin typeface="Meiryo"/>
                <a:ea typeface="Meiryo"/>
                <a:cs typeface="Meiryo"/>
              </a:rPr>
              <a:t>表示の区切りで</a:t>
            </a:r>
          </a:p>
        </p:txBody>
      </p:sp>
      <p:sp>
        <p:nvSpPr>
          <p:cNvPr id="16" name="text-142">
            <a:extLst xmlns:a="http://schemas.openxmlformats.org/drawingml/2006/main">
              <a:ext uri="{FF2B5EF4-FFF2-40B4-BE49-F238E27FC236}">
                <a16:creationId xmlns:a16="http://schemas.microsoft.com/office/drawing/2014/main" id="{8E91415B-EB85-44E0-9A38-339522005093}"/>
              </a:ext>
            </a:extLst>
          </p:cNvPr>
          <p:cNvSpPr>
            <a:spLocks xmlns:a="http://schemas.openxmlformats.org/drawingml/2006/main" noGrp="1"/>
          </p:cNvSpPr>
          <p:nvPr/>
        </p:nvSpPr>
        <p:spPr>
          <a:xfrm xmlns:a="http://schemas.openxmlformats.org/drawingml/2006/main">
            <a:off x="4905375" y="3905250"/>
            <a:ext cx="25336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950" b="0">
                <a:solidFill>
                  <a:srgbClr val="231F20"/>
                </a:solidFill>
                <a:latin typeface="Meiryo"/>
                <a:ea typeface="Meiryo"/>
                <a:cs typeface="Meiryo"/>
              </a:defRPr>
            </a:defPPr>
          </a:lstStyle>
          <a:p xmlns:a="http://schemas.openxmlformats.org/drawingml/2006/main">
            <a:pPr algn="ctr">
              <a:defRPr sz="1950" b="0">
                <a:solidFill>
                  <a:srgbClr val="231F20"/>
                </a:solidFill>
                <a:latin typeface="Meiryo"/>
                <a:ea typeface="Meiryo"/>
                <a:cs typeface="Meiryo"/>
              </a:defRPr>
            </a:pPr>
            <a:r>
              <a:rPr sz="1950" b="0">
                <a:solidFill>
                  <a:srgbClr val="231F20"/>
                </a:solidFill>
                <a:latin typeface="Meiryo"/>
                <a:ea typeface="Meiryo"/>
                <a:cs typeface="Meiryo"/>
              </a:rPr>
              <a:t>読む先と描く先を</a:t>
            </a:r>
          </a:p>
          <a:p xmlns:a="http://schemas.openxmlformats.org/drawingml/2006/main">
            <a:pPr algn="ctr">
              <a:defRPr sz="1950" b="0">
                <a:solidFill>
                  <a:srgbClr val="231F20"/>
                </a:solidFill>
                <a:latin typeface="Meiryo"/>
                <a:ea typeface="Meiryo"/>
                <a:cs typeface="Meiryo"/>
              </a:defRPr>
            </a:pPr>
            <a:r>
              <a:rPr sz="1950" b="0">
                <a:solidFill>
                  <a:srgbClr val="231F20"/>
                </a:solidFill>
                <a:latin typeface="Meiryo"/>
                <a:ea typeface="Meiryo"/>
                <a:cs typeface="Meiryo"/>
              </a:rPr>
              <a:t>入れ替える</a:t>
            </a:r>
          </a:p>
        </p:txBody>
      </p:sp>
      <p:sp>
        <p:nvSpPr>
          <p:cNvPr id="17" name="text-143">
            <a:extLst xmlns:a="http://schemas.openxmlformats.org/drawingml/2006/main">
              <a:ext uri="{FF2B5EF4-FFF2-40B4-BE49-F238E27FC236}">
                <a16:creationId xmlns:a16="http://schemas.microsoft.com/office/drawing/2014/main" id="{D55B682B-2F5D-4B15-A5F4-2C906BB5FDBD}"/>
              </a:ext>
            </a:extLst>
          </p:cNvPr>
          <p:cNvSpPr>
            <a:spLocks xmlns:a="http://schemas.openxmlformats.org/drawingml/2006/main" noGrp="1"/>
          </p:cNvSpPr>
          <p:nvPr/>
        </p:nvSpPr>
        <p:spPr>
          <a:xfrm xmlns:a="http://schemas.openxmlformats.org/drawingml/2006/main">
            <a:off x="685800" y="5610225"/>
            <a:ext cx="1085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250" b="1">
                <a:solidFill>
                  <a:srgbClr val="231F20"/>
                </a:solidFill>
                <a:latin typeface="Meiryo"/>
                <a:ea typeface="Meiryo"/>
                <a:cs typeface="Meiryo"/>
              </a:defRPr>
            </a:defPPr>
          </a:lstStyle>
          <a:p xmlns:a="http://schemas.openxmlformats.org/drawingml/2006/main">
            <a:pPr algn="ctr">
              <a:defRPr sz="2250" b="1">
                <a:solidFill>
                  <a:srgbClr val="231F20"/>
                </a:solidFill>
                <a:latin typeface="Meiryo"/>
                <a:ea typeface="Meiryo"/>
                <a:cs typeface="Meiryo"/>
              </a:defRPr>
            </a:pPr>
            <a:r>
              <a:rPr sz="2250" b="1">
                <a:solidFill>
                  <a:srgbClr val="231F20"/>
                </a:solidFill>
                <a:latin typeface="Meiryo"/>
                <a:ea typeface="Meiryo"/>
                <a:cs typeface="Meiryo"/>
              </a:rPr>
              <a:t>切り替え完了後に、古い表示画像Aを描き直せる</a:t>
            </a:r>
          </a:p>
        </p:txBody>
      </p:sp>
    </p:spTree>
    <p:extLst>
      <p:ext uri="{BB962C8B-B14F-4D97-AF65-F5344CB8AC3E}">
        <p14:creationId xmlns:p14="http://schemas.microsoft.com/office/powerpoint/2010/main" val="98379023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144">
            <a:extLst xmlns:a="http://schemas.openxmlformats.org/drawingml/2006/main">
              <a:ext uri="{FF2B5EF4-FFF2-40B4-BE49-F238E27FC236}">
                <a16:creationId xmlns:a16="http://schemas.microsoft.com/office/drawing/2014/main" id="{512D92DA-54A7-489D-BBEF-EAC77FBD3B26}"/>
              </a:ext>
            </a:extLst>
          </p:cNvPr>
          <p:cNvSpPr>
            <a:spLocks xmlns:a="http://schemas.openxmlformats.org/drawingml/2006/main" noGrp="1"/>
          </p:cNvSpPr>
          <p:nvPr/>
        </p:nvSpPr>
        <p:spPr>
          <a:xfrm xmlns:a="http://schemas.openxmlformats.org/drawingml/2006/main">
            <a:off x="609600" y="381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3000" b="1">
                <a:solidFill>
                  <a:srgbClr val="231F20"/>
                </a:solidFill>
                <a:latin typeface="Meiryo"/>
                <a:ea typeface="Meiryo"/>
                <a:cs typeface="Meiryo"/>
              </a:defRPr>
            </a:defPPr>
          </a:lstStyle>
          <a:p xmlns:a="http://schemas.openxmlformats.org/drawingml/2006/main">
            <a:pPr algn="l">
              <a:defRPr sz="3000" b="1">
                <a:solidFill>
                  <a:srgbClr val="231F20"/>
                </a:solidFill>
                <a:latin typeface="Meiryo"/>
                <a:ea typeface="Meiryo"/>
                <a:cs typeface="Meiryo"/>
              </a:defRPr>
            </a:pPr>
            <a:r>
              <a:rPr sz="3000" b="1">
                <a:solidFill>
                  <a:srgbClr val="231F20"/>
                </a:solidFill>
                <a:latin typeface="Meiryo"/>
                <a:ea typeface="Meiryo"/>
                <a:cs typeface="Meiryo"/>
              </a:rPr>
              <a:t>実機でブロック崩しの動作を確認した</a:t>
            </a:r>
          </a:p>
        </p:txBody>
      </p:sp>
      <p:sp>
        <p:nvSpPr>
          <p:cNvPr id="2" name="text-145">
            <a:extLst xmlns:a="http://schemas.openxmlformats.org/drawingml/2006/main">
              <a:ext uri="{FF2B5EF4-FFF2-40B4-BE49-F238E27FC236}">
                <a16:creationId xmlns:a16="http://schemas.microsoft.com/office/drawing/2014/main" id="{73596BF5-B0D2-45B3-B89E-E3B05F53EE2E}"/>
              </a:ext>
            </a:extLst>
          </p:cNvPr>
          <p:cNvSpPr>
            <a:spLocks xmlns:a="http://schemas.openxmlformats.org/drawingml/2006/main" noGrp="1"/>
          </p:cNvSpPr>
          <p:nvPr/>
        </p:nvSpPr>
        <p:spPr>
          <a:xfrm xmlns:a="http://schemas.openxmlformats.org/drawingml/2006/main">
            <a:off x="11353800" y="6362700"/>
            <a:ext cx="266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231F20"/>
                </a:solidFill>
                <a:latin typeface="Meiryo"/>
                <a:ea typeface="Meiryo"/>
                <a:cs typeface="Meiryo"/>
              </a:defRPr>
            </a:defPPr>
          </a:lstStyle>
          <a:p xmlns:a="http://schemas.openxmlformats.org/drawingml/2006/main">
            <a:pPr algn="r">
              <a:defRPr sz="1350" b="0">
                <a:solidFill>
                  <a:srgbClr val="231F20"/>
                </a:solidFill>
                <a:latin typeface="Meiryo"/>
                <a:ea typeface="Meiryo"/>
                <a:cs typeface="Meiryo"/>
              </a:defRPr>
            </a:pPr>
            <a:r>
              <a:rPr sz="1350" b="0">
                <a:solidFill>
                  <a:srgbClr val="231F20"/>
                </a:solidFill>
                <a:latin typeface="Meiryo"/>
                <a:ea typeface="Meiryo"/>
                <a:cs typeface="Meiryo"/>
              </a:rPr>
              <a:t>7</a:t>
            </a:r>
          </a:p>
        </p:txBody>
      </p:sp>
      <p:pic>
        <p:nvPicPr>
          <p:cNvPr id="3" name="">
            <a:extLst xmlns:a="http://schemas.openxmlformats.org/drawingml/2006/main">
              <a:ext uri="{FF2B5EF4-FFF2-40B4-BE49-F238E27FC236}">
                <a16:creationId xmlns:a16="http://schemas.microsoft.com/office/drawing/2014/main" id="{B2647DC9-79BF-45C2-A4A4-DFF6CC196031}"/>
              </a:ext>
            </a:extLst>
          </p:cNvPr>
          <p:cNvPicPr>
            <a:picLocks xmlns:a="http://schemas.openxmlformats.org/drawingml/2006/main" noChangeAspect="1"/>
          </p:cNvPicPr>
          <p:nvPr/>
        </p:nvPicPr>
        <p:blipFill>
          <a:blip xmlns:r="http://schemas.openxmlformats.org/officeDocument/2006/relationships" xmlns:a="http://schemas.openxmlformats.org/drawingml/2006/main" r:embed="R53ff83d16a15471f"/>
          <a:stretch xmlns:a="http://schemas.openxmlformats.org/drawingml/2006/main"/>
        </p:blipFill>
        <p:spPr>
          <a:xfrm xmlns:a="http://schemas.openxmlformats.org/drawingml/2006/main">
            <a:off x="609600" y="1840111"/>
            <a:ext cx="6191250" cy="3482578"/>
          </a:xfrm>
          <a:prstGeom xmlns:a="http://schemas.openxmlformats.org/drawingml/2006/main" prst="rect">
            <a:avLst/>
          </a:prstGeom>
        </p:spPr>
      </p:pic>
      <p:sp>
        <p:nvSpPr>
          <p:cNvPr id="4" name="text-146">
            <a:extLst xmlns:a="http://schemas.openxmlformats.org/drawingml/2006/main">
              <a:ext uri="{FF2B5EF4-FFF2-40B4-BE49-F238E27FC236}">
                <a16:creationId xmlns:a16="http://schemas.microsoft.com/office/drawing/2014/main" id="{3D1A6C4F-0129-427A-A8BD-0C7B897778F8}"/>
              </a:ext>
            </a:extLst>
          </p:cNvPr>
          <p:cNvSpPr>
            <a:spLocks xmlns:a="http://schemas.openxmlformats.org/drawingml/2006/main" noGrp="1"/>
          </p:cNvSpPr>
          <p:nvPr/>
        </p:nvSpPr>
        <p:spPr>
          <a:xfrm xmlns:a="http://schemas.openxmlformats.org/drawingml/2006/main">
            <a:off x="7277100" y="2038350"/>
            <a:ext cx="4238625"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475" b="1">
                <a:solidFill>
                  <a:srgbClr val="231F20"/>
                </a:solidFill>
                <a:latin typeface="Meiryo"/>
                <a:ea typeface="Meiryo"/>
                <a:cs typeface="Meiryo"/>
              </a:defRPr>
            </a:defPPr>
          </a:lstStyle>
          <a:p xmlns:a="http://schemas.openxmlformats.org/drawingml/2006/main">
            <a:pPr algn="l">
              <a:defRPr sz="2475" b="1">
                <a:solidFill>
                  <a:srgbClr val="231F20"/>
                </a:solidFill>
                <a:latin typeface="Meiryo"/>
                <a:ea typeface="Meiryo"/>
                <a:cs typeface="Meiryo"/>
              </a:defRPr>
            </a:pPr>
            <a:r>
              <a:rPr sz="2475" b="1">
                <a:solidFill>
                  <a:srgbClr val="231F20"/>
                </a:solidFill>
                <a:latin typeface="Meiryo"/>
                <a:ea typeface="Meiryo"/>
                <a:cs typeface="Meiryo"/>
              </a:rPr>
              <a:t>640 × 480 画素</a:t>
            </a:r>
          </a:p>
          <a:p xmlns:a="http://schemas.openxmlformats.org/drawingml/2006/main">
            <a:pPr algn="l">
              <a:defRPr sz="2475" b="1">
                <a:solidFill>
                  <a:srgbClr val="231F20"/>
                </a:solidFill>
                <a:latin typeface="Meiryo"/>
                <a:ea typeface="Meiryo"/>
                <a:cs typeface="Meiryo"/>
              </a:defRPr>
            </a:pPr>
            <a:r>
              <a:rPr sz="2475" b="1">
                <a:solidFill>
                  <a:srgbClr val="231F20"/>
                </a:solidFill>
                <a:latin typeface="Meiryo"/>
                <a:ea typeface="Meiryo"/>
                <a:cs typeface="Meiryo"/>
              </a:rPr>
              <a:t>5分間の自動プレイ</a:t>
            </a:r>
          </a:p>
        </p:txBody>
      </p:sp>
      <p:sp>
        <p:nvSpPr>
          <p:cNvPr id="5" name="text-147">
            <a:extLst xmlns:a="http://schemas.openxmlformats.org/drawingml/2006/main">
              <a:ext uri="{FF2B5EF4-FFF2-40B4-BE49-F238E27FC236}">
                <a16:creationId xmlns:a16="http://schemas.microsoft.com/office/drawing/2014/main" id="{8544C9F9-886D-410A-BCD1-ECA565F254D5}"/>
              </a:ext>
            </a:extLst>
          </p:cNvPr>
          <p:cNvSpPr>
            <a:spLocks xmlns:a="http://schemas.openxmlformats.org/drawingml/2006/main" noGrp="1"/>
          </p:cNvSpPr>
          <p:nvPr/>
        </p:nvSpPr>
        <p:spPr>
          <a:xfrm xmlns:a="http://schemas.openxmlformats.org/drawingml/2006/main">
            <a:off x="7277100" y="3476625"/>
            <a:ext cx="42386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0">
                <a:solidFill>
                  <a:srgbClr val="231F20"/>
                </a:solidFill>
                <a:latin typeface="Meiryo"/>
                <a:ea typeface="Meiryo"/>
                <a:cs typeface="Meiryo"/>
              </a:defRPr>
            </a:defPPr>
          </a:lstStyle>
          <a:p xmlns:a="http://schemas.openxmlformats.org/drawingml/2006/main">
            <a:pPr algn="l">
              <a:defRPr sz="2175" b="0">
                <a:solidFill>
                  <a:srgbClr val="231F20"/>
                </a:solidFill>
                <a:latin typeface="Meiryo"/>
                <a:ea typeface="Meiryo"/>
                <a:cs typeface="Meiryo"/>
              </a:defRPr>
            </a:pPr>
            <a:r>
              <a:rPr sz="2175" b="0">
                <a:solidFill>
                  <a:srgbClr val="231F20"/>
                </a:solidFill>
                <a:latin typeface="Meiryo"/>
                <a:ea typeface="Meiryo"/>
                <a:cs typeface="Meiryo"/>
              </a:rPr>
              <a:t>接続比較では27画面で</a:t>
            </a:r>
          </a:p>
          <a:p xmlns:a="http://schemas.openxmlformats.org/drawingml/2006/main">
            <a:pPr algn="l">
              <a:defRPr sz="2175" b="0">
                <a:solidFill>
                  <a:srgbClr val="231F20"/>
                </a:solidFill>
                <a:latin typeface="Meiryo"/>
                <a:ea typeface="Meiryo"/>
                <a:cs typeface="Meiryo"/>
              </a:defRPr>
            </a:pPr>
            <a:r>
              <a:rPr sz="2175" b="0">
                <a:solidFill>
                  <a:srgbClr val="231F20"/>
                </a:solidFill>
                <a:latin typeface="Meiryo"/>
                <a:ea typeface="Meiryo"/>
                <a:cs typeface="Meiryo"/>
              </a:rPr>
              <a:t>全画素が正解画像と一致</a:t>
            </a:r>
          </a:p>
        </p:txBody>
      </p:sp>
      <p:sp>
        <p:nvSpPr>
          <p:cNvPr id="6" name="text-148">
            <a:extLst xmlns:a="http://schemas.openxmlformats.org/drawingml/2006/main">
              <a:ext uri="{FF2B5EF4-FFF2-40B4-BE49-F238E27FC236}">
                <a16:creationId xmlns:a16="http://schemas.microsoft.com/office/drawing/2014/main" id="{EAABCC15-D665-49A1-9337-68BFA8755B5C}"/>
              </a:ext>
            </a:extLst>
          </p:cNvPr>
          <p:cNvSpPr>
            <a:spLocks xmlns:a="http://schemas.openxmlformats.org/drawingml/2006/main" noGrp="1"/>
          </p:cNvSpPr>
          <p:nvPr/>
        </p:nvSpPr>
        <p:spPr>
          <a:xfrm xmlns:a="http://schemas.openxmlformats.org/drawingml/2006/main">
            <a:off x="7277100" y="4991100"/>
            <a:ext cx="4238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75" b="0">
                <a:solidFill>
                  <a:srgbClr val="231F20"/>
                </a:solidFill>
                <a:latin typeface="Meiryo"/>
                <a:ea typeface="Meiryo"/>
                <a:cs typeface="Meiryo"/>
              </a:defRPr>
            </a:defPPr>
          </a:lstStyle>
          <a:p xmlns:a="http://schemas.openxmlformats.org/drawingml/2006/main">
            <a:pPr algn="l">
              <a:defRPr sz="1875" b="0">
                <a:solidFill>
                  <a:srgbClr val="231F20"/>
                </a:solidFill>
                <a:latin typeface="Meiryo"/>
                <a:ea typeface="Meiryo"/>
                <a:cs typeface="Meiryo"/>
              </a:defRPr>
            </a:pPr>
            <a:r>
              <a:rPr sz="1875" b="0">
                <a:solidFill>
                  <a:srgbClr val="231F20"/>
                </a:solidFill>
                <a:latin typeface="Meiryo"/>
                <a:ea typeface="Meiryo"/>
                <a:cs typeface="Meiryo"/>
              </a:rPr>
              <a:t>専用コントローラーは未検証</a:t>
            </a:r>
          </a:p>
        </p:txBody>
      </p:sp>
      <p:sp>
        <p:nvSpPr>
          <p:cNvPr id="7" name="text-149">
            <a:extLst xmlns:a="http://schemas.openxmlformats.org/drawingml/2006/main">
              <a:ext uri="{FF2B5EF4-FFF2-40B4-BE49-F238E27FC236}">
                <a16:creationId xmlns:a16="http://schemas.microsoft.com/office/drawing/2014/main" id="{47DE5E71-094F-4103-B4AB-7CF104259CB9}"/>
              </a:ext>
            </a:extLst>
          </p:cNvPr>
          <p:cNvSpPr>
            <a:spLocks xmlns:a="http://schemas.openxmlformats.org/drawingml/2006/main" noGrp="1"/>
          </p:cNvSpPr>
          <p:nvPr/>
        </p:nvSpPr>
        <p:spPr>
          <a:xfrm xmlns:a="http://schemas.openxmlformats.org/drawingml/2006/main">
            <a:off x="685800" y="5962650"/>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75" b="0">
                <a:solidFill>
                  <a:srgbClr val="231F20"/>
                </a:solidFill>
                <a:latin typeface="Meiryo"/>
                <a:ea typeface="Meiryo"/>
                <a:cs typeface="Meiryo"/>
              </a:defRPr>
            </a:defPPr>
          </a:lstStyle>
          <a:p xmlns:a="http://schemas.openxmlformats.org/drawingml/2006/main">
            <a:pPr algn="l">
              <a:defRPr sz="1875" b="0">
                <a:solidFill>
                  <a:srgbClr val="231F20"/>
                </a:solidFill>
                <a:latin typeface="Meiryo"/>
                <a:ea typeface="Meiryo"/>
                <a:cs typeface="Meiryo"/>
              </a:defRPr>
            </a:pPr>
            <a:r>
              <a:rPr sz="1875" b="0">
                <a:solidFill>
                  <a:srgbClr val="231F20"/>
                </a:solidFill>
                <a:latin typeface="Meiryo"/>
                <a:ea typeface="Meiryo"/>
                <a:cs typeface="Meiryo"/>
              </a:rPr>
              <a:t>大きいテクスチャと、映像認識には未解決の条件がある</a:t>
            </a:r>
          </a:p>
        </p:txBody>
      </p:sp>
    </p:spTree>
    <p:extLst>
      <p:ext uri="{BB962C8B-B14F-4D97-AF65-F5344CB8AC3E}">
        <p14:creationId xmlns:p14="http://schemas.microsoft.com/office/powerpoint/2010/main" val="67141303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ext-150">
            <a:extLst xmlns:a="http://schemas.openxmlformats.org/drawingml/2006/main">
              <a:ext uri="{FF2B5EF4-FFF2-40B4-BE49-F238E27FC236}">
                <a16:creationId xmlns:a16="http://schemas.microsoft.com/office/drawing/2014/main" id="{E841561C-DF42-44B6-8C5D-AA5637FC847B}"/>
              </a:ext>
            </a:extLst>
          </p:cNvPr>
          <p:cNvSpPr>
            <a:spLocks xmlns:a="http://schemas.openxmlformats.org/drawingml/2006/main" noGrp="1"/>
          </p:cNvSpPr>
          <p:nvPr/>
        </p:nvSpPr>
        <p:spPr>
          <a:xfrm xmlns:a="http://schemas.openxmlformats.org/drawingml/2006/main">
            <a:off x="609600" y="381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3000" b="1">
                <a:solidFill>
                  <a:srgbClr val="231F20"/>
                </a:solidFill>
                <a:latin typeface="Meiryo"/>
                <a:ea typeface="Meiryo"/>
                <a:cs typeface="Meiryo"/>
              </a:defRPr>
            </a:defPPr>
          </a:lstStyle>
          <a:p xmlns:a="http://schemas.openxmlformats.org/drawingml/2006/main">
            <a:pPr algn="l">
              <a:defRPr sz="3000" b="1">
                <a:solidFill>
                  <a:srgbClr val="231F20"/>
                </a:solidFill>
                <a:latin typeface="Meiryo"/>
                <a:ea typeface="Meiryo"/>
                <a:cs typeface="Meiryo"/>
              </a:defRPr>
            </a:pPr>
            <a:r>
              <a:rPr sz="3000" b="1">
                <a:solidFill>
                  <a:srgbClr val="231F20"/>
                </a:solidFill>
                <a:latin typeface="Meiryo"/>
                <a:ea typeface="Meiryo"/>
                <a:cs typeface="Meiryo"/>
              </a:rPr>
              <a:t>Wallyを拡張するための設計例</a:t>
            </a:r>
          </a:p>
        </p:txBody>
      </p:sp>
      <p:sp>
        <p:nvSpPr>
          <p:cNvPr id="2" name="text-151">
            <a:extLst xmlns:a="http://schemas.openxmlformats.org/drawingml/2006/main">
              <a:ext uri="{FF2B5EF4-FFF2-40B4-BE49-F238E27FC236}">
                <a16:creationId xmlns:a16="http://schemas.microsoft.com/office/drawing/2014/main" id="{C801EC04-523D-4211-B682-9E8E52BF379F}"/>
              </a:ext>
            </a:extLst>
          </p:cNvPr>
          <p:cNvSpPr>
            <a:spLocks xmlns:a="http://schemas.openxmlformats.org/drawingml/2006/main" noGrp="1"/>
          </p:cNvSpPr>
          <p:nvPr/>
        </p:nvSpPr>
        <p:spPr>
          <a:xfrm xmlns:a="http://schemas.openxmlformats.org/drawingml/2006/main">
            <a:off x="11353800" y="6362700"/>
            <a:ext cx="266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231F20"/>
                </a:solidFill>
                <a:latin typeface="Meiryo"/>
                <a:ea typeface="Meiryo"/>
                <a:cs typeface="Meiryo"/>
              </a:defRPr>
            </a:defPPr>
          </a:lstStyle>
          <a:p xmlns:a="http://schemas.openxmlformats.org/drawingml/2006/main">
            <a:pPr algn="r">
              <a:defRPr sz="1350" b="0">
                <a:solidFill>
                  <a:srgbClr val="231F20"/>
                </a:solidFill>
                <a:latin typeface="Meiryo"/>
                <a:ea typeface="Meiryo"/>
                <a:cs typeface="Meiryo"/>
              </a:defRPr>
            </a:pPr>
            <a:r>
              <a:rPr sz="1350" b="0">
                <a:solidFill>
                  <a:srgbClr val="231F20"/>
                </a:solidFill>
                <a:latin typeface="Meiryo"/>
                <a:ea typeface="Meiryo"/>
                <a:cs typeface="Meiryo"/>
              </a:rPr>
              <a:t>8</a:t>
            </a:r>
          </a:p>
        </p:txBody>
      </p:sp>
      <p:sp>
        <p:nvSpPr>
          <p:cNvPr id="3" name="text-152">
            <a:extLst xmlns:a="http://schemas.openxmlformats.org/drawingml/2006/main">
              <a:ext uri="{FF2B5EF4-FFF2-40B4-BE49-F238E27FC236}">
                <a16:creationId xmlns:a16="http://schemas.microsoft.com/office/drawing/2014/main" id="{BBE17EA1-CADC-48EC-B327-ACE98461881F}"/>
              </a:ext>
            </a:extLst>
          </p:cNvPr>
          <p:cNvSpPr>
            <a:spLocks xmlns:a="http://schemas.openxmlformats.org/drawingml/2006/main" noGrp="1"/>
          </p:cNvSpPr>
          <p:nvPr/>
        </p:nvSpPr>
        <p:spPr>
          <a:xfrm xmlns:a="http://schemas.openxmlformats.org/drawingml/2006/main">
            <a:off x="857250" y="1819275"/>
            <a:ext cx="1028700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3225" b="1">
                <a:solidFill>
                  <a:srgbClr val="231F20"/>
                </a:solidFill>
                <a:latin typeface="Meiryo"/>
                <a:ea typeface="Meiryo"/>
                <a:cs typeface="Meiryo"/>
              </a:defRPr>
            </a:defPPr>
          </a:lstStyle>
          <a:p xmlns:a="http://schemas.openxmlformats.org/drawingml/2006/main">
            <a:pPr algn="l">
              <a:defRPr sz="3225" b="1">
                <a:solidFill>
                  <a:srgbClr val="231F20"/>
                </a:solidFill>
                <a:latin typeface="Meiryo"/>
                <a:ea typeface="Meiryo"/>
                <a:cs typeface="Meiryo"/>
              </a:defRPr>
            </a:pPr>
            <a:r>
              <a:rPr sz="3225" b="1">
                <a:solidFill>
                  <a:srgbClr val="231F20"/>
                </a:solidFill>
                <a:latin typeface="Meiryo"/>
                <a:ea typeface="Meiryo"/>
                <a:cs typeface="Meiryo"/>
              </a:rPr>
              <a:t>CPUに描画・表示機能を追加し、</a:t>
            </a:r>
          </a:p>
          <a:p xmlns:a="http://schemas.openxmlformats.org/drawingml/2006/main">
            <a:pPr algn="l">
              <a:defRPr sz="3225" b="1">
                <a:solidFill>
                  <a:srgbClr val="231F20"/>
                </a:solidFill>
                <a:latin typeface="Meiryo"/>
                <a:ea typeface="Meiryo"/>
                <a:cs typeface="Meiryo"/>
              </a:defRPr>
            </a:pPr>
            <a:r>
              <a:rPr sz="3225" b="1">
                <a:solidFill>
                  <a:srgbClr val="231F20"/>
                </a:solidFill>
                <a:latin typeface="Meiryo"/>
                <a:ea typeface="Meiryo"/>
                <a:cs typeface="Meiryo"/>
              </a:rPr>
              <a:t>二次元ゲームを実行できた</a:t>
            </a:r>
          </a:p>
        </p:txBody>
      </p:sp>
      <p:sp>
        <p:nvSpPr>
          <p:cNvPr id="4" name="text-153">
            <a:extLst xmlns:a="http://schemas.openxmlformats.org/drawingml/2006/main">
              <a:ext uri="{FF2B5EF4-FFF2-40B4-BE49-F238E27FC236}">
                <a16:creationId xmlns:a16="http://schemas.microsoft.com/office/drawing/2014/main" id="{1DB65841-4CA2-43F6-8B37-DB5768EA47A4}"/>
              </a:ext>
            </a:extLst>
          </p:cNvPr>
          <p:cNvSpPr>
            <a:spLocks xmlns:a="http://schemas.openxmlformats.org/drawingml/2006/main" noGrp="1"/>
          </p:cNvSpPr>
          <p:nvPr/>
        </p:nvSpPr>
        <p:spPr>
          <a:xfrm xmlns:a="http://schemas.openxmlformats.org/drawingml/2006/main">
            <a:off x="857250" y="3581400"/>
            <a:ext cx="1028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400" b="0">
                <a:solidFill>
                  <a:srgbClr val="231F20"/>
                </a:solidFill>
                <a:latin typeface="Meiryo"/>
                <a:ea typeface="Meiryo"/>
                <a:cs typeface="Meiryo"/>
              </a:defRPr>
            </a:defPPr>
          </a:lstStyle>
          <a:p xmlns:a="http://schemas.openxmlformats.org/drawingml/2006/main">
            <a:pPr algn="l">
              <a:defRPr sz="2400" b="0">
                <a:solidFill>
                  <a:srgbClr val="231F20"/>
                </a:solidFill>
                <a:latin typeface="Meiryo"/>
                <a:ea typeface="Meiryo"/>
                <a:cs typeface="Meiryo"/>
              </a:defRPr>
            </a:pPr>
            <a:r>
              <a:rPr sz="2400" b="0">
                <a:solidFill>
                  <a:srgbClr val="231F20"/>
                </a:solidFill>
                <a:latin typeface="Meiryo"/>
                <a:ea typeface="Meiryo"/>
                <a:cs typeface="Meiryo"/>
              </a:rPr>
              <a:t>接続の選び方を、実機での比較から説明した</a:t>
            </a:r>
          </a:p>
        </p:txBody>
      </p:sp>
      <p:sp>
        <p:nvSpPr>
          <p:cNvPr id="5" name="text-154">
            <a:extLst xmlns:a="http://schemas.openxmlformats.org/drawingml/2006/main">
              <a:ext uri="{FF2B5EF4-FFF2-40B4-BE49-F238E27FC236}">
                <a16:creationId xmlns:a16="http://schemas.microsoft.com/office/drawing/2014/main" id="{8EB100C6-269F-4515-AC8F-9FE22AB24BAA}"/>
              </a:ext>
            </a:extLst>
          </p:cNvPr>
          <p:cNvSpPr>
            <a:spLocks xmlns:a="http://schemas.openxmlformats.org/drawingml/2006/main" noGrp="1"/>
          </p:cNvSpPr>
          <p:nvPr/>
        </p:nvSpPr>
        <p:spPr>
          <a:xfrm xmlns:a="http://schemas.openxmlformats.org/drawingml/2006/main">
            <a:off x="857250" y="4724400"/>
            <a:ext cx="10287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250" b="0">
                <a:solidFill>
                  <a:srgbClr val="231F20"/>
                </a:solidFill>
                <a:latin typeface="Meiryo"/>
                <a:ea typeface="Meiryo"/>
                <a:cs typeface="Meiryo"/>
              </a:defRPr>
            </a:defPPr>
          </a:lstStyle>
          <a:p xmlns:a="http://schemas.openxmlformats.org/drawingml/2006/main">
            <a:pPr algn="l">
              <a:defRPr sz="2250" b="0">
                <a:solidFill>
                  <a:srgbClr val="231F20"/>
                </a:solidFill>
                <a:latin typeface="Meiryo"/>
                <a:ea typeface="Meiryo"/>
                <a:cs typeface="Meiryo"/>
              </a:defRPr>
            </a:pPr>
            <a:r>
              <a:rPr sz="2250" b="0">
                <a:solidFill>
                  <a:srgbClr val="231F20"/>
                </a:solidFill>
                <a:latin typeface="Meiryo"/>
                <a:ea typeface="Meiryo"/>
                <a:cs typeface="Meiryo"/>
              </a:rPr>
              <a:t>公開するもの</a:t>
            </a:r>
          </a:p>
          <a:p xmlns:a="http://schemas.openxmlformats.org/drawingml/2006/main">
            <a:pPr algn="l">
              <a:defRPr sz="2250" b="0">
                <a:solidFill>
                  <a:srgbClr val="231F20"/>
                </a:solidFill>
                <a:latin typeface="Meiryo"/>
                <a:ea typeface="Meiryo"/>
                <a:cs typeface="Meiryo"/>
              </a:defRPr>
            </a:pPr>
            <a:r>
              <a:rPr sz="2250" b="0">
                <a:solidFill>
                  <a:srgbClr val="231F20"/>
                </a:solidFill>
                <a:latin typeface="Meiryo"/>
                <a:ea typeface="Meiryo"/>
                <a:cs typeface="Meiryo"/>
              </a:rPr>
              <a:t>接続設計・ソースコード・試験条件</a:t>
            </a:r>
          </a:p>
        </p:txBody>
      </p:sp>
    </p:spTree>
    <p:extLst>
      <p:ext uri="{BB962C8B-B14F-4D97-AF65-F5344CB8AC3E}">
        <p14:creationId xmlns:p14="http://schemas.microsoft.com/office/powerpoint/2010/main" val="122895711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title>Presentation</dc:title>
  <dcterms:created xsi:type="dcterms:W3CDTF">2026-10-09T01:30:45.3890000Z</dcterms:created>
  <dcterms:modified xsi:type="dcterms:W3CDTF">2026-10-09T01:30:45.3890000Z</dcterms:modified>
</coreProperties>
</file>